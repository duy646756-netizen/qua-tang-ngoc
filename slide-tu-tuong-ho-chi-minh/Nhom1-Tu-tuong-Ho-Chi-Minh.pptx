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Chào thầy/cô và các bạn. Nhóm 1 xin trình bày câu hỏi thảo luận: qua nhận thức nội hàm khái niệm tư tưởng Hồ Chí Minh, đưa ra nhận xét về quá trình nhận thức của Đảng Cộng sản Việt Nam về tư tưởng Hồ Chí Minh. Bài gồm 13 slide, thời lượng khoảng 12-15 phút, cuối bài nhóm có 2 câu hỏi thảo luận.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Bài trình bày đi theo bốn phần. Phần I và II trả lời vế thứ nhất của câu hỏi là nội hàm khái niệm; phần III và IV trả lời vế thứ hai là quá trình nhận thức của Đảng và nhận xét. Logic xuyên suốt: hiểu đúng nội hàm khái niệm thì mới có căn cứ để nhận xét quá trình nhận thức.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Trước khi nhận xét quá trình nhận thức của Đảng, cần thống nhất cách hiểu thuật ngữ. Điểm mấu chốt: tư tưởng Hồ Chí Minh là một hệ thống lý luận có nền tảng triết học nhất quán, chứ không phải tập hợp những lời nói hay, những mẩu chuyện đạo đức. Chính vì chưa nhận thức được điều này mà trong một thời gian dài Đảng mới chỉ nói tới đạo đức, tác phong Hồ Chủ tịch.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định nghĩa chính thức đang dùng trong giáo trình hiện hành. Ba mốc phía dưới cho thấy ngay bản thân định nghĩa cũng là sản phẩm của một quá trình: 1991 mới nêu khái niệm, 2001 mới có định nghĩa, 2011 mới hoàn chỉnh. Đọc kỹ định nghĩa sẽ thấy nó chứa ba lớp nội hàm mà nhóm phân tích ở ba slide tiếp theo.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Lớp nội hàm thứ nhất trả lời câu hỏi tư tưởng Hồ Chí Minh LÀ GÌ. Bốn ý ở cột trái chính là bốn từ khoá trong định nghĩa: hệ thống quan điểm - toàn diện - sâu sắc - những vấn đề cơ bản của cách mạng Việt Nam. Sơ đồ bên phải liệt kê các bộ phận cấu thành hệ thống đó. Nhấn mạnh: chính vì là hệ thống nên mới có thể trở thành nền tảng tư tưởng của một Đảng.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Lớp nội hàm thứ hai trả lời câu hỏi tư tưởng Hồ Chí Minh TỪ ĐÂU MÀ CÓ. Cần nhấn mạnh hai chữ vận dụng và phát triển sáng tạo: đây là điểm phân biệt tư tưởng Hồ Chí Minh với việc sao chép mô hình nước ngoài, và cũng là cơ sở để bác bỏ luận điệu cho rằng tư tưởng Hồ Chí Minh chỉ là bản sao của chủ nghĩa Mác - Lênin.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Lớp nội hàm thứ ba trả lời câu hỏi tư tưởng Hồ Chí Minh CÓ GIÁ TRỊ GÌ. Hai cụm từ cần thuộc: tài sản tinh thần vô cùng to lớn và quý giá, và mãi mãi soi đường. Chữ mãi mãi khẳng định sức sống lâu bền, đây là điểm mới so với định nghĩa năm 2001. Hết phần II, chuyển sang phần III: chính vì nội hàm phong phú như vậy nên Đảng phải trải qua một quá trình dài mới nhận thức được đầy đủ.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Giai đoạn này cho thấy một nghịch lý thú vị: tư tưởng Hồ Chí Minh đã chỉ đạo thực tiễn và đem lại thắng lợi trước khi được nhận thức về mặt lý luận. Cần nhấn mạnh hai chi tiết: giai đoạn 1930-1941 có lúc quan điểm của Người chưa được đánh giá đúng, và chính thực tiễn Cách mạng Tháng Tám đã chứng minh Người đúng. Đại hội II năm 1951 là lần đầu Đảng chính thức kêu gọi học tập Hồ Chủ tịch, nhưng mới dừng ở đường lối, tác phong, đạo đức.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Giai đoạn 1969-1986 là giai đoạn cả nước học tập Bác, nhiều công trình nghiên cứu ra đời, nhưng khái niệm tư tưởng Hồ Chí Minh vẫn chưa xuất hiện trong văn kiện với tư cách một phạm trù lý luận. Nguyên nhân: mô hình tư duy giáo điều, chủ quan duy ý chí thời kỳ trước đổi mới, cộng với quan niệm cho rằng chỉ có chủ nghĩa Mác - Lênin mới là lý luận. Đây chính là hạn chế mà công cuộc đổi mới sẽ khắc phục.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slide trọng tâm của phần III. Cần trả lời được: vì sao phải đến 1991 mới khẳng định? Thứ nhất, phải có đổi mới tư duy từ Đại hội VI mới thoát khỏi bệnh giáo điều. Thứ hai, thực tiễn 5 năm đầu đổi mới chứng minh đường lối đúng là đường lối trở về với tư tưởng Hồ Chí Minh. Thứ ba, bối cảnh chủ nghĩa xã hội ở Liên Xô, Đông Âu khủng hoảng đặt ra yêu cầu khẳng định nền tảng tư tưởng riêng, phù hợp Việt Nam. UNESCO vinh danh năm 1987 cũng góp phần khẳng định tầm vóc quốc tế.</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Giai đoạn này có ba hướng vận động: hoàn thiện định nghĩa (2001, 2011); chuyển nhận thức thành hành động qua các chỉ thị học tập và làm theo, đặc biệt Chỉ thị 05 năm 2016 mở rộng thêm nội dung phong cách Hồ Chí Minh; và đấu tranh phản bác các quan điểm sai trái, xuyên tạc theo Nghị quyết 35 của Bộ Chính trị. Môn Tư tưởng Hồ Chí Minh trở thành môn học bắt buộc trong các trường đại học cũng là kết quả của quá trình này.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phần trả lời trực tiếp yêu cầu đưa ra nhận xét của đề bài. Bốn nhận xét nên trình bày gọn, nhấn mạnh nhận xét số 3: quá trình nhận thức không thẳng tắp, có quanh co, và chính việc Đảng dám nhận thức lại mới là biểu hiện của bản lĩnh khoa học. Kết thúc bằng liên hệ sinh viên rồi chuyển sang hai câu hỏi thảo luận.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Hai câu hỏi thảo luận: câu 1 hướng vào phần lý luận, kiểm tra người nghe có nắm được tính quy luật của quá trình nhận thức không. Câu 2 hướng vào liên hệ thực tiễn với sinh viên. Nhóm xin lắng nghe ý kiến của thầy/cô và các bạn.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Slide-13-image-1.pn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77240" y="566928"/>
            <a:ext cx="7863840" cy="310896"/>
          </a:xfrm>
          <a:prstGeom prst="rect">
            <a:avLst/>
          </a:prstGeom>
          <a:noFill/>
          <a:ln/>
        </p:spPr>
        <p:txBody>
          <a:bodyPr wrap="square" lIns="0" tIns="0" rIns="0" bIns="0" rtlCol="0" anchor="ctr"/>
          <a:lstStyle/>
          <a:p>
            <a:pPr indent="0" marL="0">
              <a:buNone/>
            </a:pPr>
            <a:r>
              <a:rPr lang="en-US" sz="1300" b="1" spc="300" kern="0" dirty="0">
                <a:solidFill>
                  <a:srgbClr val="E8B02B"/>
                </a:solidFill>
                <a:latin typeface="Arial" pitchFamily="34" charset="0"/>
                <a:ea typeface="Arial" pitchFamily="34" charset="-122"/>
                <a:cs typeface="Arial" pitchFamily="34" charset="-120"/>
              </a:rPr>
              <a:t>MÔN HỌC: TƯ TƯỞNG HỒ CHÍ MINH</a:t>
            </a:r>
            <a:endParaRPr lang="en-US" sz="1300" dirty="0"/>
          </a:p>
        </p:txBody>
      </p:sp>
      <p:sp>
        <p:nvSpPr>
          <p:cNvPr id="3" name="Text 1"/>
          <p:cNvSpPr txBox="1"/>
          <p:nvPr/>
        </p:nvSpPr>
        <p:spPr>
          <a:xfrm>
            <a:off x="777240" y="932688"/>
            <a:ext cx="7863840" cy="365760"/>
          </a:xfrm>
          <a:prstGeom prst="rect">
            <a:avLst/>
          </a:prstGeom>
          <a:noFill/>
          <a:ln/>
        </p:spPr>
        <p:txBody>
          <a:bodyPr wrap="square" lIns="0" tIns="0" rIns="0" bIns="0" rtlCol="0" anchor="ctr"/>
          <a:lstStyle/>
          <a:p>
            <a:pPr indent="0" marL="0">
              <a:buNone/>
            </a:pPr>
            <a:r>
              <a:rPr lang="en-US" sz="1600" dirty="0">
                <a:solidFill>
                  <a:srgbClr val="F2D9A8"/>
                </a:solidFill>
                <a:latin typeface="Arial" pitchFamily="34" charset="0"/>
                <a:ea typeface="Arial" pitchFamily="34" charset="-122"/>
                <a:cs typeface="Arial" pitchFamily="34" charset="-120"/>
              </a:rPr>
              <a:t>BÀI THẢO LUẬN NHÓM 1</a:t>
            </a:r>
            <a:endParaRPr lang="en-US" sz="1600" dirty="0"/>
          </a:p>
        </p:txBody>
      </p:sp>
      <p:sp>
        <p:nvSpPr>
          <p:cNvPr id="4" name="Text 2"/>
          <p:cNvSpPr txBox="1"/>
          <p:nvPr/>
        </p:nvSpPr>
        <p:spPr>
          <a:xfrm>
            <a:off x="777240" y="1481328"/>
            <a:ext cx="8503920" cy="2148840"/>
          </a:xfrm>
          <a:prstGeom prst="rect">
            <a:avLst/>
          </a:prstGeom>
          <a:noFill/>
          <a:ln/>
        </p:spPr>
        <p:txBody>
          <a:bodyPr wrap="square" lIns="0" tIns="0" rIns="0" bIns="0" rtlCol="0" anchor="ctr"/>
          <a:lstStyle/>
          <a:p>
            <a:pPr indent="0" marL="0">
              <a:lnSpc>
                <a:spcPts val="4600"/>
              </a:lnSpc>
              <a:buNone/>
            </a:pPr>
            <a:r>
              <a:rPr lang="en-US" sz="3800" b="1" dirty="0">
                <a:solidFill>
                  <a:srgbClr val="FFFFFF"/>
                </a:solidFill>
                <a:latin typeface="Times New Roman" pitchFamily="34" charset="0"/>
                <a:ea typeface="Times New Roman" pitchFamily="34" charset="-122"/>
                <a:cs typeface="Times New Roman" pitchFamily="34" charset="-120"/>
              </a:rPr>
              <a:t>QUÁ TRÌNH NHẬN THỨC</a:t>
            </a:r>
            <a:endParaRPr lang="en-US" sz="3800" dirty="0"/>
          </a:p>
          <a:p>
            <a:pPr indent="0" marL="0">
              <a:lnSpc>
                <a:spcPts val="4600"/>
              </a:lnSpc>
              <a:buNone/>
            </a:pPr>
            <a:r>
              <a:rPr lang="en-US" sz="3800" b="1" dirty="0">
                <a:solidFill>
                  <a:srgbClr val="FFFFFF"/>
                </a:solidFill>
                <a:latin typeface="Times New Roman" pitchFamily="34" charset="0"/>
                <a:ea typeface="Times New Roman" pitchFamily="34" charset="-122"/>
                <a:cs typeface="Times New Roman" pitchFamily="34" charset="-120"/>
              </a:rPr>
              <a:t>CỦA ĐẢNG CỘNG SẢN VIỆT NAM</a:t>
            </a:r>
            <a:endParaRPr lang="en-US" sz="3800" dirty="0"/>
          </a:p>
          <a:p>
            <a:pPr indent="0" marL="0">
              <a:lnSpc>
                <a:spcPts val="4600"/>
              </a:lnSpc>
              <a:buNone/>
            </a:pPr>
            <a:r>
              <a:rPr lang="en-US" sz="3800" b="1" dirty="0">
                <a:solidFill>
                  <a:srgbClr val="FFFFFF"/>
                </a:solidFill>
                <a:latin typeface="Times New Roman" pitchFamily="34" charset="0"/>
                <a:ea typeface="Times New Roman" pitchFamily="34" charset="-122"/>
                <a:cs typeface="Times New Roman" pitchFamily="34" charset="-120"/>
              </a:rPr>
              <a:t>VỀ TƯ TƯỞNG HỒ CHÍ MINH</a:t>
            </a:r>
            <a:endParaRPr lang="en-US" sz="3800" dirty="0"/>
          </a:p>
        </p:txBody>
      </p:sp>
      <p:sp>
        <p:nvSpPr>
          <p:cNvPr id="5" name="Text 3"/>
          <p:cNvSpPr txBox="1"/>
          <p:nvPr/>
        </p:nvSpPr>
        <p:spPr>
          <a:xfrm>
            <a:off x="777240" y="3730752"/>
            <a:ext cx="8138160" cy="731520"/>
          </a:xfrm>
          <a:prstGeom prst="rect">
            <a:avLst/>
          </a:prstGeom>
          <a:noFill/>
          <a:ln/>
        </p:spPr>
        <p:txBody>
          <a:bodyPr wrap="square" lIns="0" tIns="0" rIns="0" bIns="0" rtlCol="0" anchor="ctr"/>
          <a:lstStyle/>
          <a:p>
            <a:pPr indent="0" marL="0">
              <a:lnSpc>
                <a:spcPts val="2100"/>
              </a:lnSpc>
              <a:buNone/>
            </a:pPr>
            <a:r>
              <a:rPr lang="en-US" sz="1450" i="1" dirty="0">
                <a:solidFill>
                  <a:srgbClr val="F0CFCF"/>
                </a:solidFill>
                <a:latin typeface="Times New Roman" pitchFamily="34" charset="0"/>
                <a:ea typeface="Times New Roman" pitchFamily="34" charset="-122"/>
                <a:cs typeface="Times New Roman" pitchFamily="34" charset="-120"/>
              </a:rPr>
              <a:t>Qua nhận thức nội hàm khái niệm tư tưởng Hồ Chí Minh, hãy đưa ra nhận xét về quá trình nhận thức của Đảng Cộng sản Việt Nam về tư tưởng Hồ Chí Minh.</a:t>
            </a:r>
            <a:endParaRPr lang="en-US" sz="1450" dirty="0"/>
          </a:p>
        </p:txBody>
      </p:sp>
      <p:sp>
        <p:nvSpPr>
          <p:cNvPr id="6" name="Shape 4"/>
          <p:cNvSpPr/>
          <p:nvPr/>
        </p:nvSpPr>
        <p:spPr>
          <a:xfrm>
            <a:off x="777240" y="4663440"/>
            <a:ext cx="10058400" cy="1481328"/>
          </a:xfrm>
          <a:prstGeom prst="roundRect">
            <a:avLst>
              <a:gd name="adj" fmla="val 6173"/>
            </a:avLst>
          </a:prstGeom>
          <a:solidFill>
            <a:srgbClr val="6E080F"/>
          </a:solidFill>
          <a:ln w="15875">
            <a:solidFill>
              <a:srgbClr val="A8571C"/>
            </a:solidFill>
            <a:prstDash val="solid"/>
          </a:ln>
        </p:spPr>
      </p:sp>
      <p:sp>
        <p:nvSpPr>
          <p:cNvPr id="7" name="Text 5"/>
          <p:cNvSpPr txBox="1"/>
          <p:nvPr/>
        </p:nvSpPr>
        <p:spPr>
          <a:xfrm>
            <a:off x="1005840" y="4791456"/>
            <a:ext cx="4572000" cy="292608"/>
          </a:xfrm>
          <a:prstGeom prst="rect">
            <a:avLst/>
          </a:prstGeom>
          <a:noFill/>
          <a:ln/>
        </p:spPr>
        <p:txBody>
          <a:bodyPr wrap="square" lIns="0" tIns="0" rIns="0" bIns="0" rtlCol="0" anchor="ctr"/>
          <a:lstStyle/>
          <a:p>
            <a:pPr indent="0" marL="0">
              <a:buNone/>
            </a:pPr>
            <a:r>
              <a:rPr lang="en-US" sz="1200" b="1" spc="150" kern="0" dirty="0">
                <a:solidFill>
                  <a:srgbClr val="E8B02B"/>
                </a:solidFill>
                <a:latin typeface="Arial" pitchFamily="34" charset="0"/>
                <a:ea typeface="Arial" pitchFamily="34" charset="-122"/>
                <a:cs typeface="Arial" pitchFamily="34" charset="-120"/>
              </a:rPr>
              <a:t>NHÓM 1 — 9 THÀNH VIÊN</a:t>
            </a:r>
            <a:endParaRPr lang="en-US" sz="1200" dirty="0"/>
          </a:p>
        </p:txBody>
      </p:sp>
      <p:sp>
        <p:nvSpPr>
          <p:cNvPr id="8" name="Text 6"/>
          <p:cNvSpPr txBox="1"/>
          <p:nvPr/>
        </p:nvSpPr>
        <p:spPr>
          <a:xfrm>
            <a:off x="1005840" y="5138928"/>
            <a:ext cx="3154680" cy="914400"/>
          </a:xfrm>
          <a:prstGeom prst="rect">
            <a:avLst/>
          </a:prstGeom>
          <a:noFill/>
          <a:ln/>
        </p:spPr>
        <p:txBody>
          <a:bodyPr wrap="square" lIns="0" tIns="0" rIns="0" bIns="0" rtlCol="0" anchor="ctr"/>
          <a:lstStyle/>
          <a:p>
            <a:pPr indent="0" marL="0">
              <a:lnSpc>
                <a:spcPts val="1700"/>
              </a:lnSpc>
              <a:buNone/>
            </a:pPr>
            <a:r>
              <a:rPr lang="en-US" sz="1150" dirty="0">
                <a:solidFill>
                  <a:srgbClr val="FBE9E4"/>
                </a:solidFill>
                <a:latin typeface="Arial" pitchFamily="34" charset="0"/>
                <a:ea typeface="Arial" pitchFamily="34" charset="-122"/>
                <a:cs typeface="Arial" pitchFamily="34" charset="-120"/>
              </a:rPr>
              <a:t>1. Đào Vũ Hoàng Anh</a:t>
            </a:r>
            <a:endParaRPr lang="en-US" sz="1150" dirty="0"/>
          </a:p>
          <a:p>
            <a:pPr indent="0" marL="0">
              <a:lnSpc>
                <a:spcPts val="1700"/>
              </a:lnSpc>
              <a:buNone/>
            </a:pPr>
            <a:r>
              <a:rPr lang="en-US" sz="1150" dirty="0">
                <a:solidFill>
                  <a:srgbClr val="FBE9E4"/>
                </a:solidFill>
                <a:latin typeface="Arial" pitchFamily="34" charset="0"/>
                <a:ea typeface="Arial" pitchFamily="34" charset="-122"/>
                <a:cs typeface="Arial" pitchFamily="34" charset="-120"/>
              </a:rPr>
              <a:t>4. Vũ Hoàng Anh</a:t>
            </a:r>
            <a:endParaRPr lang="en-US" sz="1150" dirty="0"/>
          </a:p>
          <a:p>
            <a:pPr indent="0" marL="0">
              <a:lnSpc>
                <a:spcPts val="1700"/>
              </a:lnSpc>
              <a:buNone/>
            </a:pPr>
            <a:r>
              <a:rPr lang="en-US" sz="1150" dirty="0">
                <a:solidFill>
                  <a:srgbClr val="FBE9E4"/>
                </a:solidFill>
                <a:latin typeface="Arial" pitchFamily="34" charset="0"/>
                <a:ea typeface="Arial" pitchFamily="34" charset="-122"/>
                <a:cs typeface="Arial" pitchFamily="34" charset="-120"/>
              </a:rPr>
              <a:t>7. Nguyễn Mai Dương</a:t>
            </a:r>
            <a:endParaRPr lang="en-US" sz="1150" dirty="0"/>
          </a:p>
        </p:txBody>
      </p:sp>
      <p:sp>
        <p:nvSpPr>
          <p:cNvPr id="9" name="Text 7"/>
          <p:cNvSpPr txBox="1"/>
          <p:nvPr/>
        </p:nvSpPr>
        <p:spPr>
          <a:xfrm>
            <a:off x="4251960" y="5138928"/>
            <a:ext cx="3154680" cy="914400"/>
          </a:xfrm>
          <a:prstGeom prst="rect">
            <a:avLst/>
          </a:prstGeom>
          <a:noFill/>
          <a:ln/>
        </p:spPr>
        <p:txBody>
          <a:bodyPr wrap="square" lIns="0" tIns="0" rIns="0" bIns="0" rtlCol="0" anchor="ctr"/>
          <a:lstStyle/>
          <a:p>
            <a:pPr indent="0" marL="0">
              <a:lnSpc>
                <a:spcPts val="1700"/>
              </a:lnSpc>
              <a:buNone/>
            </a:pPr>
            <a:r>
              <a:rPr lang="en-US" sz="1150" dirty="0">
                <a:solidFill>
                  <a:srgbClr val="FBE9E4"/>
                </a:solidFill>
                <a:latin typeface="Arial" pitchFamily="34" charset="0"/>
                <a:ea typeface="Arial" pitchFamily="34" charset="-122"/>
                <a:cs typeface="Arial" pitchFamily="34" charset="-120"/>
              </a:rPr>
              <a:t>2. Hoàng Đức Anh</a:t>
            </a:r>
            <a:endParaRPr lang="en-US" sz="1150" dirty="0"/>
          </a:p>
          <a:p>
            <a:pPr indent="0" marL="0">
              <a:lnSpc>
                <a:spcPts val="1700"/>
              </a:lnSpc>
              <a:buNone/>
            </a:pPr>
            <a:r>
              <a:rPr lang="en-US" sz="1150" dirty="0">
                <a:solidFill>
                  <a:srgbClr val="FBE9E4"/>
                </a:solidFill>
                <a:latin typeface="Arial" pitchFamily="34" charset="0"/>
                <a:ea typeface="Arial" pitchFamily="34" charset="-122"/>
                <a:cs typeface="Arial" pitchFamily="34" charset="-120"/>
              </a:rPr>
              <a:t>5. Nguyễn Hoàng Công</a:t>
            </a:r>
            <a:endParaRPr lang="en-US" sz="1150" dirty="0"/>
          </a:p>
          <a:p>
            <a:pPr indent="0" marL="0">
              <a:lnSpc>
                <a:spcPts val="1700"/>
              </a:lnSpc>
              <a:buNone/>
            </a:pPr>
            <a:r>
              <a:rPr lang="en-US" sz="1150" dirty="0">
                <a:solidFill>
                  <a:srgbClr val="FBE9E4"/>
                </a:solidFill>
                <a:latin typeface="Arial" pitchFamily="34" charset="0"/>
                <a:ea typeface="Arial" pitchFamily="34" charset="-122"/>
                <a:cs typeface="Arial" pitchFamily="34" charset="-120"/>
              </a:rPr>
              <a:t>8. Đặng Tiến Duy</a:t>
            </a:r>
            <a:endParaRPr lang="en-US" sz="1150" dirty="0"/>
          </a:p>
        </p:txBody>
      </p:sp>
      <p:sp>
        <p:nvSpPr>
          <p:cNvPr id="10" name="Text 8"/>
          <p:cNvSpPr txBox="1"/>
          <p:nvPr/>
        </p:nvSpPr>
        <p:spPr>
          <a:xfrm>
            <a:off x="7498080" y="5138928"/>
            <a:ext cx="3154680" cy="914400"/>
          </a:xfrm>
          <a:prstGeom prst="rect">
            <a:avLst/>
          </a:prstGeom>
          <a:noFill/>
          <a:ln/>
        </p:spPr>
        <p:txBody>
          <a:bodyPr wrap="square" lIns="0" tIns="0" rIns="0" bIns="0" rtlCol="0" anchor="ctr"/>
          <a:lstStyle/>
          <a:p>
            <a:pPr indent="0" marL="0">
              <a:lnSpc>
                <a:spcPts val="1700"/>
              </a:lnSpc>
              <a:buNone/>
            </a:pPr>
            <a:r>
              <a:rPr lang="en-US" sz="1150" dirty="0">
                <a:solidFill>
                  <a:srgbClr val="FBE9E4"/>
                </a:solidFill>
                <a:latin typeface="Arial" pitchFamily="34" charset="0"/>
                <a:ea typeface="Arial" pitchFamily="34" charset="-122"/>
                <a:cs typeface="Arial" pitchFamily="34" charset="-120"/>
              </a:rPr>
              <a:t>3. Nguyễn Sỹ Duy Anh</a:t>
            </a:r>
            <a:endParaRPr lang="en-US" sz="1150" dirty="0"/>
          </a:p>
          <a:p>
            <a:pPr indent="0" marL="0">
              <a:lnSpc>
                <a:spcPts val="1700"/>
              </a:lnSpc>
              <a:buNone/>
            </a:pPr>
            <a:r>
              <a:rPr lang="en-US" sz="1150" dirty="0">
                <a:solidFill>
                  <a:srgbClr val="FBE9E4"/>
                </a:solidFill>
                <a:latin typeface="Arial" pitchFamily="34" charset="0"/>
                <a:ea typeface="Arial" pitchFamily="34" charset="-122"/>
                <a:cs typeface="Arial" pitchFamily="34" charset="-120"/>
              </a:rPr>
              <a:t>6. Nguyễn Thành Đạt  (Trưởng nhóm)</a:t>
            </a:r>
            <a:endParaRPr lang="en-US" sz="1150" dirty="0"/>
          </a:p>
          <a:p>
            <a:pPr indent="0" marL="0">
              <a:lnSpc>
                <a:spcPts val="1700"/>
              </a:lnSpc>
              <a:buNone/>
            </a:pPr>
            <a:r>
              <a:rPr lang="en-US" sz="1150" dirty="0">
                <a:solidFill>
                  <a:srgbClr val="FBE9E4"/>
                </a:solidFill>
                <a:latin typeface="Arial" pitchFamily="34" charset="0"/>
                <a:ea typeface="Arial" pitchFamily="34" charset="-122"/>
                <a:cs typeface="Arial" pitchFamily="34" charset="-120"/>
              </a:rPr>
              <a:t>9. Nguyễn Đức Duy</a:t>
            </a:r>
            <a:endParaRPr lang="en-US" sz="1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66928" y="310896"/>
            <a:ext cx="8686800" cy="274320"/>
          </a:xfrm>
          <a:prstGeom prst="rect">
            <a:avLst/>
          </a:prstGeom>
          <a:noFill/>
          <a:ln/>
        </p:spPr>
        <p:txBody>
          <a:bodyPr wrap="square" lIns="0" tIns="0" rIns="0" bIns="0" rtlCol="0" anchor="ctr"/>
          <a:lstStyle/>
          <a:p>
            <a:pPr indent="0" marL="0">
              <a:buNone/>
            </a:pPr>
            <a:r>
              <a:rPr lang="en-US" sz="1100" b="1" spc="200" kern="0" dirty="0">
                <a:solidFill>
                  <a:srgbClr val="E8B02B"/>
                </a:solidFill>
                <a:latin typeface="Arial" pitchFamily="34" charset="0"/>
                <a:ea typeface="Arial" pitchFamily="34" charset="-122"/>
                <a:cs typeface="Arial" pitchFamily="34" charset="-120"/>
              </a:rPr>
              <a:t>CẤU TRÚC BÀI TRÌNH BÀY</a:t>
            </a:r>
            <a:endParaRPr lang="en-US" sz="1100" dirty="0"/>
          </a:p>
        </p:txBody>
      </p:sp>
      <p:sp>
        <p:nvSpPr>
          <p:cNvPr id="3" name="Text 1"/>
          <p:cNvSpPr txBox="1"/>
          <p:nvPr/>
        </p:nvSpPr>
        <p:spPr>
          <a:xfrm>
            <a:off x="566928" y="6355080"/>
            <a:ext cx="5486400" cy="274320"/>
          </a:xfrm>
          <a:prstGeom prst="rect">
            <a:avLst/>
          </a:prstGeom>
          <a:noFill/>
          <a:ln/>
        </p:spPr>
        <p:txBody>
          <a:bodyPr wrap="square" lIns="0" tIns="0" rIns="0" bIns="0" rtlCol="0" anchor="ctr"/>
          <a:lstStyle/>
          <a:p>
            <a:pPr indent="0" marL="0">
              <a:buNone/>
            </a:pPr>
            <a:r>
              <a:rPr lang="en-US" sz="950" dirty="0">
                <a:solidFill>
                  <a:srgbClr val="A99C90"/>
                </a:solidFill>
                <a:latin typeface="Arial" pitchFamily="34" charset="0"/>
                <a:ea typeface="Arial" pitchFamily="34" charset="-122"/>
                <a:cs typeface="Arial" pitchFamily="34" charset="-120"/>
              </a:rPr>
              <a:t>NHÓM 1  ·  TƯ TƯỞNG HỒ CHÍ MINH</a:t>
            </a:r>
            <a:endParaRPr lang="en-US" sz="950" dirty="0"/>
          </a:p>
        </p:txBody>
      </p:sp>
      <p:sp>
        <p:nvSpPr>
          <p:cNvPr id="4" name="Text 2"/>
          <p:cNvSpPr txBox="1"/>
          <p:nvPr/>
        </p:nvSpPr>
        <p:spPr>
          <a:xfrm>
            <a:off x="11064240" y="6355080"/>
            <a:ext cx="566928" cy="274320"/>
          </a:xfrm>
          <a:prstGeom prst="rect">
            <a:avLst/>
          </a:prstGeom>
          <a:noFill/>
          <a:ln/>
        </p:spPr>
        <p:txBody>
          <a:bodyPr wrap="square" lIns="0" tIns="0" rIns="0" bIns="0" rtlCol="0" anchor="ctr"/>
          <a:lstStyle/>
          <a:p>
            <a:pPr algn="r" indent="0" marL="0">
              <a:buNone/>
            </a:pPr>
            <a:r>
              <a:rPr lang="en-US" sz="1100" b="1" dirty="0">
                <a:solidFill>
                  <a:srgbClr val="8C0D14"/>
                </a:solidFill>
                <a:latin typeface="Arial" pitchFamily="34" charset="0"/>
                <a:ea typeface="Arial" pitchFamily="34" charset="-122"/>
                <a:cs typeface="Arial" pitchFamily="34" charset="-120"/>
              </a:rPr>
              <a:t>2</a:t>
            </a:r>
            <a:endParaRPr lang="en-US" sz="1100" dirty="0"/>
          </a:p>
        </p:txBody>
      </p:sp>
      <p:pic>
        <p:nvPicPr>
          <p:cNvPr id="5" name="Image 0" descr="img/star_gold.png">    </p:cNvPr>
          <p:cNvPicPr>
            <a:picLocks noChangeAspect="1"/>
          </p:cNvPicPr>
          <p:nvPr/>
        </p:nvPicPr>
        <p:blipFill>
          <a:blip r:embed="rId1"/>
          <a:stretch>
            <a:fillRect/>
          </a:stretch>
        </p:blipFill>
        <p:spPr>
          <a:xfrm>
            <a:off x="566928" y="749808"/>
            <a:ext cx="310896" cy="310896"/>
          </a:xfrm>
          <a:prstGeom prst="rect">
            <a:avLst/>
          </a:prstGeom>
        </p:spPr>
      </p:pic>
      <p:sp>
        <p:nvSpPr>
          <p:cNvPr id="6" name="Text 3"/>
          <p:cNvSpPr txBox="1"/>
          <p:nvPr/>
        </p:nvSpPr>
        <p:spPr>
          <a:xfrm>
            <a:off x="1005840" y="658368"/>
            <a:ext cx="10607040" cy="512064"/>
          </a:xfrm>
          <a:prstGeom prst="rect">
            <a:avLst/>
          </a:prstGeom>
          <a:noFill/>
          <a:ln/>
        </p:spPr>
        <p:txBody>
          <a:bodyPr wrap="square" lIns="0" tIns="0" rIns="0" bIns="0" rtlCol="0" anchor="ctr"/>
          <a:lstStyle/>
          <a:p>
            <a:pPr indent="0" marL="0">
              <a:buNone/>
            </a:pPr>
            <a:r>
              <a:rPr lang="en-US" sz="2650" b="1" dirty="0">
                <a:solidFill>
                  <a:srgbClr val="8C0D14"/>
                </a:solidFill>
                <a:latin typeface="Times New Roman" pitchFamily="34" charset="0"/>
                <a:ea typeface="Times New Roman" pitchFamily="34" charset="-122"/>
                <a:cs typeface="Times New Roman" pitchFamily="34" charset="-120"/>
              </a:rPr>
              <a:t>NỘI DUNG TRÌNH BÀY</a:t>
            </a:r>
            <a:endParaRPr lang="en-US" sz="2650" dirty="0"/>
          </a:p>
        </p:txBody>
      </p:sp>
      <p:pic>
        <p:nvPicPr>
          <p:cNvPr id="7" name="Image 1" descr="img/fig_roadmap.png">    </p:cNvPr>
          <p:cNvPicPr>
            <a:picLocks noChangeAspect="1"/>
          </p:cNvPicPr>
          <p:nvPr/>
        </p:nvPicPr>
        <p:blipFill>
          <a:blip r:embed="rId2"/>
          <a:stretch>
            <a:fillRect/>
          </a:stretch>
        </p:blipFill>
        <p:spPr>
          <a:xfrm>
            <a:off x="502920" y="1645920"/>
            <a:ext cx="11183112" cy="2057400"/>
          </a:xfrm>
          <a:prstGeom prst="rect">
            <a:avLst/>
          </a:prstGeom>
        </p:spPr>
      </p:pic>
      <p:sp>
        <p:nvSpPr>
          <p:cNvPr id="8" name="Text 4"/>
          <p:cNvSpPr txBox="1"/>
          <p:nvPr/>
        </p:nvSpPr>
        <p:spPr>
          <a:xfrm>
            <a:off x="658368" y="3767328"/>
            <a:ext cx="2514600" cy="566928"/>
          </a:xfrm>
          <a:prstGeom prst="rect">
            <a:avLst/>
          </a:prstGeom>
          <a:noFill/>
          <a:ln/>
        </p:spPr>
        <p:txBody>
          <a:bodyPr wrap="square" lIns="0" tIns="0" rIns="0" bIns="0" rtlCol="0" anchor="t"/>
          <a:lstStyle/>
          <a:p>
            <a:pPr algn="ctr" indent="0" marL="0">
              <a:lnSpc>
                <a:spcPts val="1700"/>
              </a:lnSpc>
              <a:buNone/>
            </a:pPr>
            <a:r>
              <a:rPr lang="en-US" sz="1300" b="1" dirty="0">
                <a:solidFill>
                  <a:srgbClr val="8C0D14"/>
                </a:solidFill>
                <a:latin typeface="Arial" pitchFamily="34" charset="0"/>
                <a:ea typeface="Arial" pitchFamily="34" charset="-122"/>
                <a:cs typeface="Arial" pitchFamily="34" charset="-120"/>
              </a:rPr>
              <a:t>KHÁI NIỆM &amp; ĐỊNH NGHĨA</a:t>
            </a:r>
            <a:endParaRPr lang="en-US" sz="1300" dirty="0"/>
          </a:p>
        </p:txBody>
      </p:sp>
      <p:sp>
        <p:nvSpPr>
          <p:cNvPr id="9" name="Text 5"/>
          <p:cNvSpPr txBox="1"/>
          <p:nvPr/>
        </p:nvSpPr>
        <p:spPr>
          <a:xfrm>
            <a:off x="658368" y="4389120"/>
            <a:ext cx="2514600" cy="1417320"/>
          </a:xfrm>
          <a:prstGeom prst="rect">
            <a:avLst/>
          </a:prstGeom>
          <a:noFill/>
          <a:ln/>
        </p:spPr>
        <p:txBody>
          <a:bodyPr wrap="square" lIns="0" tIns="0" rIns="0" bIns="0" rtlCol="0" anchor="ctr"/>
          <a:lstStyle/>
          <a:p>
            <a:pPr algn="ctr" indent="0" marL="0">
              <a:lnSpc>
                <a:spcPts val="1600"/>
              </a:lnSpc>
              <a:buNone/>
            </a:pPr>
            <a:r>
              <a:rPr lang="en-US" sz="1150" dirty="0">
                <a:solidFill>
                  <a:srgbClr val="6E6257"/>
                </a:solidFill>
                <a:latin typeface="Arial" pitchFamily="34" charset="0"/>
                <a:ea typeface="Arial" pitchFamily="34" charset="-122"/>
                <a:cs typeface="Arial" pitchFamily="34" charset="-120"/>
              </a:rPr>
              <a:t>Làm rõ thuật ngữ “tư tưởng”, “nhà tư tưởng” và định nghĩa tư tưởng Hồ Chí Minh trong Cương lĩnh 2011.</a:t>
            </a:r>
            <a:endParaRPr lang="en-US" sz="1150" dirty="0"/>
          </a:p>
        </p:txBody>
      </p:sp>
      <p:sp>
        <p:nvSpPr>
          <p:cNvPr id="10" name="Text 6"/>
          <p:cNvSpPr txBox="1"/>
          <p:nvPr/>
        </p:nvSpPr>
        <p:spPr>
          <a:xfrm>
            <a:off x="3456432" y="3767328"/>
            <a:ext cx="2514600" cy="566928"/>
          </a:xfrm>
          <a:prstGeom prst="rect">
            <a:avLst/>
          </a:prstGeom>
          <a:noFill/>
          <a:ln/>
        </p:spPr>
        <p:txBody>
          <a:bodyPr wrap="square" lIns="0" tIns="0" rIns="0" bIns="0" rtlCol="0" anchor="t"/>
          <a:lstStyle/>
          <a:p>
            <a:pPr algn="ctr" indent="0" marL="0">
              <a:lnSpc>
                <a:spcPts val="1700"/>
              </a:lnSpc>
              <a:buNone/>
            </a:pPr>
            <a:r>
              <a:rPr lang="en-US" sz="1300" b="1" dirty="0">
                <a:solidFill>
                  <a:srgbClr val="8C0D14"/>
                </a:solidFill>
                <a:latin typeface="Arial" pitchFamily="34" charset="0"/>
                <a:ea typeface="Arial" pitchFamily="34" charset="-122"/>
                <a:cs typeface="Arial" pitchFamily="34" charset="-120"/>
              </a:rPr>
              <a:t>NỘI HÀM KHÁI NIỆM</a:t>
            </a:r>
            <a:endParaRPr lang="en-US" sz="1300" dirty="0"/>
          </a:p>
        </p:txBody>
      </p:sp>
      <p:sp>
        <p:nvSpPr>
          <p:cNvPr id="11" name="Text 7"/>
          <p:cNvSpPr txBox="1"/>
          <p:nvPr/>
        </p:nvSpPr>
        <p:spPr>
          <a:xfrm>
            <a:off x="3456432" y="4389120"/>
            <a:ext cx="2514600" cy="1417320"/>
          </a:xfrm>
          <a:prstGeom prst="rect">
            <a:avLst/>
          </a:prstGeom>
          <a:noFill/>
          <a:ln/>
        </p:spPr>
        <p:txBody>
          <a:bodyPr wrap="square" lIns="0" tIns="0" rIns="0" bIns="0" rtlCol="0" anchor="ctr"/>
          <a:lstStyle/>
          <a:p>
            <a:pPr algn="ctr" indent="0" marL="0">
              <a:lnSpc>
                <a:spcPts val="1600"/>
              </a:lnSpc>
              <a:buNone/>
            </a:pPr>
            <a:r>
              <a:rPr lang="en-US" sz="1150" dirty="0">
                <a:solidFill>
                  <a:srgbClr val="6E6257"/>
                </a:solidFill>
                <a:latin typeface="Arial" pitchFamily="34" charset="0"/>
                <a:ea typeface="Arial" pitchFamily="34" charset="-122"/>
                <a:cs typeface="Arial" pitchFamily="34" charset="-120"/>
              </a:rPr>
              <a:t>Ba lớp nội dung: bản chất khoa học – cách mạng, nguồn gốc hình thành, giá trị – ý nghĩa.</a:t>
            </a:r>
            <a:endParaRPr lang="en-US" sz="1150" dirty="0"/>
          </a:p>
        </p:txBody>
      </p:sp>
      <p:sp>
        <p:nvSpPr>
          <p:cNvPr id="12" name="Text 8"/>
          <p:cNvSpPr txBox="1"/>
          <p:nvPr/>
        </p:nvSpPr>
        <p:spPr>
          <a:xfrm>
            <a:off x="6245352" y="3767328"/>
            <a:ext cx="2514600" cy="566928"/>
          </a:xfrm>
          <a:prstGeom prst="rect">
            <a:avLst/>
          </a:prstGeom>
          <a:noFill/>
          <a:ln/>
        </p:spPr>
        <p:txBody>
          <a:bodyPr wrap="square" lIns="0" tIns="0" rIns="0" bIns="0" rtlCol="0" anchor="t"/>
          <a:lstStyle/>
          <a:p>
            <a:pPr algn="ctr" indent="0" marL="0">
              <a:lnSpc>
                <a:spcPts val="1700"/>
              </a:lnSpc>
              <a:buNone/>
            </a:pPr>
            <a:r>
              <a:rPr lang="en-US" sz="1300" b="1" dirty="0">
                <a:solidFill>
                  <a:srgbClr val="8C0D14"/>
                </a:solidFill>
                <a:latin typeface="Arial" pitchFamily="34" charset="0"/>
                <a:ea typeface="Arial" pitchFamily="34" charset="-122"/>
                <a:cs typeface="Arial" pitchFamily="34" charset="-120"/>
              </a:rPr>
              <a:t>QUÁ TRÌNH NHẬN THỨC CỦA ĐẢNG</a:t>
            </a:r>
            <a:endParaRPr lang="en-US" sz="1300" dirty="0"/>
          </a:p>
        </p:txBody>
      </p:sp>
      <p:sp>
        <p:nvSpPr>
          <p:cNvPr id="13" name="Text 9"/>
          <p:cNvSpPr txBox="1"/>
          <p:nvPr/>
        </p:nvSpPr>
        <p:spPr>
          <a:xfrm>
            <a:off x="6245352" y="4389120"/>
            <a:ext cx="2514600" cy="1417320"/>
          </a:xfrm>
          <a:prstGeom prst="rect">
            <a:avLst/>
          </a:prstGeom>
          <a:noFill/>
          <a:ln/>
        </p:spPr>
        <p:txBody>
          <a:bodyPr wrap="square" lIns="0" tIns="0" rIns="0" bIns="0" rtlCol="0" anchor="ctr"/>
          <a:lstStyle/>
          <a:p>
            <a:pPr algn="ctr" indent="0" marL="0">
              <a:lnSpc>
                <a:spcPts val="1600"/>
              </a:lnSpc>
              <a:buNone/>
            </a:pPr>
            <a:r>
              <a:rPr lang="en-US" sz="1150" dirty="0">
                <a:solidFill>
                  <a:srgbClr val="6E6257"/>
                </a:solidFill>
                <a:latin typeface="Arial" pitchFamily="34" charset="0"/>
                <a:ea typeface="Arial" pitchFamily="34" charset="-122"/>
                <a:cs typeface="Arial" pitchFamily="34" charset="-120"/>
              </a:rPr>
              <a:t>Bốn giai đoạn từ năm 1930 đến nay, với mốc bước ngoặt là Đại hội VII (6-1991).</a:t>
            </a:r>
            <a:endParaRPr lang="en-US" sz="1150" dirty="0"/>
          </a:p>
        </p:txBody>
      </p:sp>
      <p:sp>
        <p:nvSpPr>
          <p:cNvPr id="14" name="Text 10"/>
          <p:cNvSpPr txBox="1"/>
          <p:nvPr/>
        </p:nvSpPr>
        <p:spPr>
          <a:xfrm>
            <a:off x="9043416" y="3767328"/>
            <a:ext cx="2514600" cy="566928"/>
          </a:xfrm>
          <a:prstGeom prst="rect">
            <a:avLst/>
          </a:prstGeom>
          <a:noFill/>
          <a:ln/>
        </p:spPr>
        <p:txBody>
          <a:bodyPr wrap="square" lIns="0" tIns="0" rIns="0" bIns="0" rtlCol="0" anchor="t"/>
          <a:lstStyle/>
          <a:p>
            <a:pPr algn="ctr" indent="0" marL="0">
              <a:lnSpc>
                <a:spcPts val="1700"/>
              </a:lnSpc>
              <a:buNone/>
            </a:pPr>
            <a:r>
              <a:rPr lang="en-US" sz="1300" b="1" dirty="0">
                <a:solidFill>
                  <a:srgbClr val="8C0D14"/>
                </a:solidFill>
                <a:latin typeface="Arial" pitchFamily="34" charset="0"/>
                <a:ea typeface="Arial" pitchFamily="34" charset="-122"/>
                <a:cs typeface="Arial" pitchFamily="34" charset="-120"/>
              </a:rPr>
              <a:t>NHẬN XÉT &amp; THẢO LUẬN</a:t>
            </a:r>
            <a:endParaRPr lang="en-US" sz="1300" dirty="0"/>
          </a:p>
        </p:txBody>
      </p:sp>
      <p:sp>
        <p:nvSpPr>
          <p:cNvPr id="15" name="Text 11"/>
          <p:cNvSpPr txBox="1"/>
          <p:nvPr/>
        </p:nvSpPr>
        <p:spPr>
          <a:xfrm>
            <a:off x="9043416" y="4389120"/>
            <a:ext cx="2514600" cy="1417320"/>
          </a:xfrm>
          <a:prstGeom prst="rect">
            <a:avLst/>
          </a:prstGeom>
          <a:noFill/>
          <a:ln/>
        </p:spPr>
        <p:txBody>
          <a:bodyPr wrap="square" lIns="0" tIns="0" rIns="0" bIns="0" rtlCol="0" anchor="ctr"/>
          <a:lstStyle/>
          <a:p>
            <a:pPr algn="ctr" indent="0" marL="0">
              <a:lnSpc>
                <a:spcPts val="1600"/>
              </a:lnSpc>
              <a:buNone/>
            </a:pPr>
            <a:r>
              <a:rPr lang="en-US" sz="1150" dirty="0">
                <a:solidFill>
                  <a:srgbClr val="6E6257"/>
                </a:solidFill>
                <a:latin typeface="Arial" pitchFamily="34" charset="0"/>
                <a:ea typeface="Arial" pitchFamily="34" charset="-122"/>
                <a:cs typeface="Arial" pitchFamily="34" charset="-120"/>
              </a:rPr>
              <a:t>Đánh giá tính quy luật của quá trình nhận thức, liên hệ sinh viên và 2 câu hỏi thảo luận.</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66928" y="310896"/>
            <a:ext cx="8686800" cy="274320"/>
          </a:xfrm>
          <a:prstGeom prst="rect">
            <a:avLst/>
          </a:prstGeom>
          <a:noFill/>
          <a:ln/>
        </p:spPr>
        <p:txBody>
          <a:bodyPr wrap="square" lIns="0" tIns="0" rIns="0" bIns="0" rtlCol="0" anchor="ctr"/>
          <a:lstStyle/>
          <a:p>
            <a:pPr indent="0" marL="0">
              <a:buNone/>
            </a:pPr>
            <a:r>
              <a:rPr lang="en-US" sz="1100" b="1" spc="200" kern="0" dirty="0">
                <a:solidFill>
                  <a:srgbClr val="E8B02B"/>
                </a:solidFill>
                <a:latin typeface="Arial" pitchFamily="34" charset="0"/>
                <a:ea typeface="Arial" pitchFamily="34" charset="-122"/>
                <a:cs typeface="Arial" pitchFamily="34" charset="-120"/>
              </a:rPr>
              <a:t>PHẦN I · KHÁI NIỆM &amp; ĐỊNH NGHĨA</a:t>
            </a:r>
            <a:endParaRPr lang="en-US" sz="1100" dirty="0"/>
          </a:p>
        </p:txBody>
      </p:sp>
      <p:sp>
        <p:nvSpPr>
          <p:cNvPr id="3" name="Text 1"/>
          <p:cNvSpPr txBox="1"/>
          <p:nvPr/>
        </p:nvSpPr>
        <p:spPr>
          <a:xfrm>
            <a:off x="566928" y="6355080"/>
            <a:ext cx="5486400" cy="274320"/>
          </a:xfrm>
          <a:prstGeom prst="rect">
            <a:avLst/>
          </a:prstGeom>
          <a:noFill/>
          <a:ln/>
        </p:spPr>
        <p:txBody>
          <a:bodyPr wrap="square" lIns="0" tIns="0" rIns="0" bIns="0" rtlCol="0" anchor="ctr"/>
          <a:lstStyle/>
          <a:p>
            <a:pPr indent="0" marL="0">
              <a:buNone/>
            </a:pPr>
            <a:r>
              <a:rPr lang="en-US" sz="950" dirty="0">
                <a:solidFill>
                  <a:srgbClr val="A99C90"/>
                </a:solidFill>
                <a:latin typeface="Arial" pitchFamily="34" charset="0"/>
                <a:ea typeface="Arial" pitchFamily="34" charset="-122"/>
                <a:cs typeface="Arial" pitchFamily="34" charset="-120"/>
              </a:rPr>
              <a:t>NHÓM 1  ·  TƯ TƯỞNG HỒ CHÍ MINH</a:t>
            </a:r>
            <a:endParaRPr lang="en-US" sz="950" dirty="0"/>
          </a:p>
        </p:txBody>
      </p:sp>
      <p:sp>
        <p:nvSpPr>
          <p:cNvPr id="4" name="Text 2"/>
          <p:cNvSpPr txBox="1"/>
          <p:nvPr/>
        </p:nvSpPr>
        <p:spPr>
          <a:xfrm>
            <a:off x="11064240" y="6355080"/>
            <a:ext cx="566928" cy="274320"/>
          </a:xfrm>
          <a:prstGeom prst="rect">
            <a:avLst/>
          </a:prstGeom>
          <a:noFill/>
          <a:ln/>
        </p:spPr>
        <p:txBody>
          <a:bodyPr wrap="square" lIns="0" tIns="0" rIns="0" bIns="0" rtlCol="0" anchor="ctr"/>
          <a:lstStyle/>
          <a:p>
            <a:pPr algn="r" indent="0" marL="0">
              <a:buNone/>
            </a:pPr>
            <a:r>
              <a:rPr lang="en-US" sz="1100" b="1" dirty="0">
                <a:solidFill>
                  <a:srgbClr val="8C0D14"/>
                </a:solidFill>
                <a:latin typeface="Arial" pitchFamily="34" charset="0"/>
                <a:ea typeface="Arial" pitchFamily="34" charset="-122"/>
                <a:cs typeface="Arial" pitchFamily="34" charset="-120"/>
              </a:rPr>
              <a:t>3</a:t>
            </a:r>
            <a:endParaRPr lang="en-US" sz="1100" dirty="0"/>
          </a:p>
        </p:txBody>
      </p:sp>
      <p:pic>
        <p:nvPicPr>
          <p:cNvPr id="5" name="Image 0" descr="img/star_gold.png">    </p:cNvPr>
          <p:cNvPicPr>
            <a:picLocks noChangeAspect="1"/>
          </p:cNvPicPr>
          <p:nvPr/>
        </p:nvPicPr>
        <p:blipFill>
          <a:blip r:embed="rId1"/>
          <a:stretch>
            <a:fillRect/>
          </a:stretch>
        </p:blipFill>
        <p:spPr>
          <a:xfrm>
            <a:off x="566928" y="749808"/>
            <a:ext cx="310896" cy="310896"/>
          </a:xfrm>
          <a:prstGeom prst="rect">
            <a:avLst/>
          </a:prstGeom>
        </p:spPr>
      </p:pic>
      <p:sp>
        <p:nvSpPr>
          <p:cNvPr id="6" name="Text 3"/>
          <p:cNvSpPr txBox="1"/>
          <p:nvPr/>
        </p:nvSpPr>
        <p:spPr>
          <a:xfrm>
            <a:off x="1005840" y="658368"/>
            <a:ext cx="10607040" cy="512064"/>
          </a:xfrm>
          <a:prstGeom prst="rect">
            <a:avLst/>
          </a:prstGeom>
          <a:noFill/>
          <a:ln/>
        </p:spPr>
        <p:txBody>
          <a:bodyPr wrap="square" lIns="0" tIns="0" rIns="0" bIns="0" rtlCol="0" anchor="ctr"/>
          <a:lstStyle/>
          <a:p>
            <a:pPr indent="0" marL="0">
              <a:buNone/>
            </a:pPr>
            <a:r>
              <a:rPr lang="en-US" sz="2650" b="1" dirty="0">
                <a:solidFill>
                  <a:srgbClr val="8C0D14"/>
                </a:solidFill>
                <a:latin typeface="Times New Roman" pitchFamily="34" charset="0"/>
                <a:ea typeface="Times New Roman" pitchFamily="34" charset="-122"/>
                <a:cs typeface="Times New Roman" pitchFamily="34" charset="-120"/>
              </a:rPr>
              <a:t>“TƯ TƯỞNG” VÀ “NHÀ TƯ TƯỞNG”</a:t>
            </a:r>
            <a:endParaRPr lang="en-US" sz="2650" dirty="0"/>
          </a:p>
        </p:txBody>
      </p:sp>
      <p:sp>
        <p:nvSpPr>
          <p:cNvPr id="7" name="Shape 4"/>
          <p:cNvSpPr/>
          <p:nvPr/>
        </p:nvSpPr>
        <p:spPr>
          <a:xfrm>
            <a:off x="566928" y="1389888"/>
            <a:ext cx="6446520" cy="1572768"/>
          </a:xfrm>
          <a:prstGeom prst="roundRect">
            <a:avLst>
              <a:gd name="adj" fmla="val 5814"/>
            </a:avLst>
          </a:prstGeom>
          <a:solidFill>
            <a:srgbClr val="FBEDEC"/>
          </a:solidFill>
          <a:ln w="15875">
            <a:solidFill>
              <a:srgbClr val="EBD3D1"/>
            </a:solidFill>
            <a:prstDash val="solid"/>
          </a:ln>
          <a:effectLst>
            <a:outerShdw sx="100000" sy="100000" kx="0" ky="0" algn="bl" rotWithShape="0" blurRad="101600" dist="25400" dir="5400000">
              <a:srgbClr val="9A8C80">
                <a:alpha val="18000"/>
              </a:srgbClr>
            </a:outerShdw>
          </a:effectLst>
        </p:spPr>
      </p:sp>
      <p:sp>
        <p:nvSpPr>
          <p:cNvPr id="8" name="Shape 5"/>
          <p:cNvSpPr/>
          <p:nvPr/>
        </p:nvSpPr>
        <p:spPr>
          <a:xfrm>
            <a:off x="841248" y="1609344"/>
            <a:ext cx="420624" cy="420624"/>
          </a:xfrm>
          <a:prstGeom prst="ellipse">
            <a:avLst/>
          </a:prstGeom>
          <a:solidFill>
            <a:srgbClr val="8C0D14"/>
          </a:solidFill>
          <a:ln w="12700">
            <a:solidFill>
              <a:srgbClr val="8C0D14"/>
            </a:solidFill>
            <a:prstDash val="solid"/>
          </a:ln>
        </p:spPr>
      </p:sp>
      <p:sp>
        <p:nvSpPr>
          <p:cNvPr id="9" name="Text 6"/>
          <p:cNvSpPr txBox="1"/>
          <p:nvPr/>
        </p:nvSpPr>
        <p:spPr>
          <a:xfrm>
            <a:off x="841248" y="1609344"/>
            <a:ext cx="420624" cy="420624"/>
          </a:xfrm>
          <a:prstGeom prst="rect">
            <a:avLst/>
          </a:prstGeom>
          <a:noFill/>
          <a:ln/>
        </p:spPr>
        <p:txBody>
          <a:bodyPr wrap="square" lIns="0" tIns="0" rIns="0" bIns="0" rtlCol="0" anchor="ctr"/>
          <a:lstStyle/>
          <a:p>
            <a:pPr algn="ctr" indent="0" marL="0">
              <a:buNone/>
            </a:pPr>
            <a:r>
              <a:rPr lang="en-US" sz="1400" b="1" dirty="0">
                <a:solidFill>
                  <a:srgbClr val="E8B02B"/>
                </a:solidFill>
                <a:latin typeface="Arial" pitchFamily="34" charset="0"/>
                <a:ea typeface="Arial" pitchFamily="34" charset="-122"/>
                <a:cs typeface="Arial" pitchFamily="34" charset="-120"/>
              </a:rPr>
              <a:t>1</a:t>
            </a:r>
            <a:endParaRPr lang="en-US" sz="1400" dirty="0"/>
          </a:p>
        </p:txBody>
      </p:sp>
      <p:sp>
        <p:nvSpPr>
          <p:cNvPr id="10" name="Text 7"/>
          <p:cNvSpPr txBox="1"/>
          <p:nvPr/>
        </p:nvSpPr>
        <p:spPr>
          <a:xfrm>
            <a:off x="1389888" y="1609344"/>
            <a:ext cx="5394960" cy="310896"/>
          </a:xfrm>
          <a:prstGeom prst="rect">
            <a:avLst/>
          </a:prstGeom>
          <a:noFill/>
          <a:ln/>
        </p:spPr>
        <p:txBody>
          <a:bodyPr wrap="square" lIns="0" tIns="0" rIns="0" bIns="0" rtlCol="0" anchor="ctr"/>
          <a:lstStyle/>
          <a:p>
            <a:pPr indent="0" marL="0">
              <a:buNone/>
            </a:pPr>
            <a:r>
              <a:rPr lang="en-US" sz="1400" b="1" dirty="0">
                <a:solidFill>
                  <a:srgbClr val="8C0D14"/>
                </a:solidFill>
                <a:latin typeface="Arial" pitchFamily="34" charset="0"/>
                <a:ea typeface="Arial" pitchFamily="34" charset="-122"/>
                <a:cs typeface="Arial" pitchFamily="34" charset="-120"/>
              </a:rPr>
              <a:t>Khái niệm “tư tưởng”</a:t>
            </a:r>
            <a:endParaRPr lang="en-US" sz="1400" dirty="0"/>
          </a:p>
        </p:txBody>
      </p:sp>
      <p:sp>
        <p:nvSpPr>
          <p:cNvPr id="11" name="Text 8"/>
          <p:cNvSpPr txBox="1"/>
          <p:nvPr/>
        </p:nvSpPr>
        <p:spPr>
          <a:xfrm>
            <a:off x="1389888" y="1975104"/>
            <a:ext cx="5440680" cy="896112"/>
          </a:xfrm>
          <a:prstGeom prst="rect">
            <a:avLst/>
          </a:prstGeom>
          <a:noFill/>
          <a:ln/>
        </p:spPr>
        <p:txBody>
          <a:bodyPr wrap="square" lIns="0" tIns="0" rIns="0" bIns="0" rtlCol="0" anchor="ctr"/>
          <a:lstStyle/>
          <a:p>
            <a:pPr indent="0" marL="0">
              <a:lnSpc>
                <a:spcPts val="1700"/>
              </a:lnSpc>
              <a:buNone/>
            </a:pPr>
            <a:r>
              <a:rPr lang="en-US" sz="1250" dirty="0">
                <a:solidFill>
                  <a:srgbClr val="241A16"/>
                </a:solidFill>
                <a:latin typeface="Arial" pitchFamily="34" charset="0"/>
                <a:ea typeface="Arial" pitchFamily="34" charset="-122"/>
                <a:cs typeface="Arial" pitchFamily="34" charset="-120"/>
              </a:rPr>
              <a:t>Trong cụm từ “tư tưởng Hồ Chí Minh”, “tư tưởng” không hiểu theo nghĩa ý nghĩ của một cá nhân, mà là một hệ thống những quan điểm, quan niệm, luận điểm được xây dựng trên một nền tảng triết học nhất quán, đại biểu cho ý chí, nguyện vọng của một giai cấp, một dân tộc.</a:t>
            </a:r>
            <a:endParaRPr lang="en-US" sz="1250" dirty="0"/>
          </a:p>
        </p:txBody>
      </p:sp>
      <p:sp>
        <p:nvSpPr>
          <p:cNvPr id="12" name="Shape 9"/>
          <p:cNvSpPr/>
          <p:nvPr/>
        </p:nvSpPr>
        <p:spPr>
          <a:xfrm>
            <a:off x="566928" y="3108960"/>
            <a:ext cx="6446520" cy="1389888"/>
          </a:xfrm>
          <a:prstGeom prst="roundRect">
            <a:avLst>
              <a:gd name="adj" fmla="val 6579"/>
            </a:avLst>
          </a:prstGeom>
          <a:solidFill>
            <a:srgbClr val="FBF1D8"/>
          </a:solidFill>
          <a:ln w="15875">
            <a:solidFill>
              <a:srgbClr val="EEDCB0"/>
            </a:solidFill>
            <a:prstDash val="solid"/>
          </a:ln>
          <a:effectLst>
            <a:outerShdw sx="100000" sy="100000" kx="0" ky="0" algn="bl" rotWithShape="0" blurRad="101600" dist="25400" dir="5400000">
              <a:srgbClr val="9A8C80">
                <a:alpha val="18000"/>
              </a:srgbClr>
            </a:outerShdw>
          </a:effectLst>
        </p:spPr>
      </p:sp>
      <p:sp>
        <p:nvSpPr>
          <p:cNvPr id="13" name="Shape 10"/>
          <p:cNvSpPr/>
          <p:nvPr/>
        </p:nvSpPr>
        <p:spPr>
          <a:xfrm>
            <a:off x="841248" y="3328416"/>
            <a:ext cx="420624" cy="420624"/>
          </a:xfrm>
          <a:prstGeom prst="ellipse">
            <a:avLst/>
          </a:prstGeom>
          <a:solidFill>
            <a:srgbClr val="A8761A"/>
          </a:solidFill>
          <a:ln w="12700">
            <a:solidFill>
              <a:srgbClr val="A8761A"/>
            </a:solidFill>
            <a:prstDash val="solid"/>
          </a:ln>
        </p:spPr>
      </p:sp>
      <p:sp>
        <p:nvSpPr>
          <p:cNvPr id="14" name="Text 11"/>
          <p:cNvSpPr txBox="1"/>
          <p:nvPr/>
        </p:nvSpPr>
        <p:spPr>
          <a:xfrm>
            <a:off x="841248" y="3328416"/>
            <a:ext cx="420624" cy="420624"/>
          </a:xfrm>
          <a:prstGeom prst="rect">
            <a:avLst/>
          </a:prstGeom>
          <a:noFill/>
          <a:ln/>
        </p:spPr>
        <p:txBody>
          <a:bodyPr wrap="square" lIns="0" tIns="0" rIns="0" bIns="0" rtlCol="0" anchor="ctr"/>
          <a:lstStyle/>
          <a:p>
            <a:pPr algn="ctr" indent="0" marL="0">
              <a:buNone/>
            </a:pPr>
            <a:r>
              <a:rPr lang="en-US" sz="1400" b="1" dirty="0">
                <a:solidFill>
                  <a:srgbClr val="E8B02B"/>
                </a:solidFill>
                <a:latin typeface="Arial" pitchFamily="34" charset="0"/>
                <a:ea typeface="Arial" pitchFamily="34" charset="-122"/>
                <a:cs typeface="Arial" pitchFamily="34" charset="-120"/>
              </a:rPr>
              <a:t>2</a:t>
            </a:r>
            <a:endParaRPr lang="en-US" sz="1400" dirty="0"/>
          </a:p>
        </p:txBody>
      </p:sp>
      <p:sp>
        <p:nvSpPr>
          <p:cNvPr id="15" name="Text 12"/>
          <p:cNvSpPr txBox="1"/>
          <p:nvPr/>
        </p:nvSpPr>
        <p:spPr>
          <a:xfrm>
            <a:off x="1389888" y="3328416"/>
            <a:ext cx="5394960" cy="310896"/>
          </a:xfrm>
          <a:prstGeom prst="rect">
            <a:avLst/>
          </a:prstGeom>
          <a:noFill/>
          <a:ln/>
        </p:spPr>
        <p:txBody>
          <a:bodyPr wrap="square" lIns="0" tIns="0" rIns="0" bIns="0" rtlCol="0" anchor="ctr"/>
          <a:lstStyle/>
          <a:p>
            <a:pPr indent="0" marL="0">
              <a:buNone/>
            </a:pPr>
            <a:r>
              <a:rPr lang="en-US" sz="1400" b="1" dirty="0">
                <a:solidFill>
                  <a:srgbClr val="8A6A12"/>
                </a:solidFill>
                <a:latin typeface="Arial" pitchFamily="34" charset="0"/>
                <a:ea typeface="Arial" pitchFamily="34" charset="-122"/>
                <a:cs typeface="Arial" pitchFamily="34" charset="-120"/>
              </a:rPr>
              <a:t>Khái niệm “nhà tư tưởng”</a:t>
            </a:r>
            <a:endParaRPr lang="en-US" sz="1400" dirty="0"/>
          </a:p>
        </p:txBody>
      </p:sp>
      <p:sp>
        <p:nvSpPr>
          <p:cNvPr id="16" name="Text 13"/>
          <p:cNvSpPr txBox="1"/>
          <p:nvPr/>
        </p:nvSpPr>
        <p:spPr>
          <a:xfrm>
            <a:off x="1389888" y="3694176"/>
            <a:ext cx="5440680" cy="713232"/>
          </a:xfrm>
          <a:prstGeom prst="rect">
            <a:avLst/>
          </a:prstGeom>
          <a:noFill/>
          <a:ln/>
        </p:spPr>
        <p:txBody>
          <a:bodyPr wrap="square" lIns="0" tIns="0" rIns="0" bIns="0" rtlCol="0" anchor="ctr"/>
          <a:lstStyle/>
          <a:p>
            <a:pPr indent="0" marL="0">
              <a:lnSpc>
                <a:spcPts val="1700"/>
              </a:lnSpc>
              <a:buNone/>
            </a:pPr>
            <a:r>
              <a:rPr lang="en-US" sz="1250" dirty="0">
                <a:solidFill>
                  <a:srgbClr val="241A16"/>
                </a:solidFill>
                <a:latin typeface="Arial" pitchFamily="34" charset="0"/>
                <a:ea typeface="Arial" pitchFamily="34" charset="-122"/>
                <a:cs typeface="Arial" pitchFamily="34" charset="-120"/>
              </a:rPr>
              <a:t>V.I. Lênin: một người xứng đáng là nhà tư tưởng khi biết giải quyết trước người khác tất cả những vấn đề chính trị – sách lược, các vấn đề về tổ chức, về những yếu tố vật chất của phong trào một cách tự giác.</a:t>
            </a:r>
            <a:endParaRPr lang="en-US" sz="1250" dirty="0"/>
          </a:p>
        </p:txBody>
      </p:sp>
      <p:sp>
        <p:nvSpPr>
          <p:cNvPr id="17" name="Shape 14"/>
          <p:cNvSpPr/>
          <p:nvPr/>
        </p:nvSpPr>
        <p:spPr>
          <a:xfrm>
            <a:off x="566928" y="4645152"/>
            <a:ext cx="6446520" cy="1243584"/>
          </a:xfrm>
          <a:prstGeom prst="roundRect">
            <a:avLst>
              <a:gd name="adj" fmla="val 7353"/>
            </a:avLst>
          </a:prstGeom>
          <a:solidFill>
            <a:srgbClr val="8C0D14"/>
          </a:solidFill>
          <a:ln w="15875">
            <a:solidFill>
              <a:srgbClr val="8C0D14"/>
            </a:solidFill>
            <a:prstDash val="solid"/>
          </a:ln>
          <a:effectLst>
            <a:outerShdw sx="100000" sy="100000" kx="0" ky="0" algn="bl" rotWithShape="0" blurRad="101600" dist="25400" dir="5400000">
              <a:srgbClr val="9A8C80">
                <a:alpha val="18000"/>
              </a:srgbClr>
            </a:outerShdw>
          </a:effectLst>
        </p:spPr>
      </p:sp>
      <p:sp>
        <p:nvSpPr>
          <p:cNvPr id="18" name="Text 15"/>
          <p:cNvSpPr txBox="1"/>
          <p:nvPr/>
        </p:nvSpPr>
        <p:spPr>
          <a:xfrm>
            <a:off x="841248" y="4809744"/>
            <a:ext cx="5897880" cy="914400"/>
          </a:xfrm>
          <a:prstGeom prst="rect">
            <a:avLst/>
          </a:prstGeom>
          <a:noFill/>
          <a:ln/>
        </p:spPr>
        <p:txBody>
          <a:bodyPr wrap="square" lIns="0" tIns="0" rIns="0" bIns="0" rtlCol="0" anchor="ctr"/>
          <a:lstStyle/>
          <a:p>
            <a:pPr indent="0" marL="0">
              <a:lnSpc>
                <a:spcPts val="1700"/>
              </a:lnSpc>
              <a:buNone/>
            </a:pPr>
            <a:r>
              <a:rPr lang="en-US" sz="1250" dirty="0">
                <a:solidFill>
                  <a:srgbClr val="FFF2E8"/>
                </a:solidFill>
                <a:latin typeface="Arial" pitchFamily="34" charset="0"/>
                <a:ea typeface="Arial" pitchFamily="34" charset="-122"/>
                <a:cs typeface="Arial" pitchFamily="34" charset="-120"/>
              </a:rPr>
              <a:t>Hồ Chí Minh hội đủ những tiêu chí đó: Người đã giải quyết thành công những vấn đề cơ bản nhất của cách mạng Việt Nam trong thế kỷ XX — vì vậy tư tưởng của Người là một HỆ THỐNG LÝ LUẬN, không phải những ý kiến rời rạc.</a:t>
            </a:r>
            <a:endParaRPr lang="en-US" sz="1250" dirty="0"/>
          </a:p>
        </p:txBody>
      </p:sp>
      <p:pic>
        <p:nvPicPr>
          <p:cNvPr id="19" name="Image 1" descr="img/fig_tutuong.png">    </p:cNvPr>
          <p:cNvPicPr>
            <a:picLocks noChangeAspect="1"/>
          </p:cNvPicPr>
          <p:nvPr/>
        </p:nvPicPr>
        <p:blipFill>
          <a:blip r:embed="rId2"/>
          <a:stretch>
            <a:fillRect/>
          </a:stretch>
        </p:blipFill>
        <p:spPr>
          <a:xfrm>
            <a:off x="7269480" y="1572768"/>
            <a:ext cx="4617720" cy="3657600"/>
          </a:xfrm>
          <a:prstGeom prst="rect">
            <a:avLst/>
          </a:prstGeom>
        </p:spPr>
      </p:pic>
      <p:sp>
        <p:nvSpPr>
          <p:cNvPr id="20" name="Text 16"/>
          <p:cNvSpPr txBox="1"/>
          <p:nvPr/>
        </p:nvSpPr>
        <p:spPr>
          <a:xfrm>
            <a:off x="7269480" y="5303520"/>
            <a:ext cx="4617720" cy="310896"/>
          </a:xfrm>
          <a:prstGeom prst="rect">
            <a:avLst/>
          </a:prstGeom>
          <a:noFill/>
          <a:ln/>
        </p:spPr>
        <p:txBody>
          <a:bodyPr wrap="square" lIns="0" tIns="0" rIns="0" bIns="0" rtlCol="0" anchor="ctr"/>
          <a:lstStyle/>
          <a:p>
            <a:pPr algn="ctr" indent="0" marL="0">
              <a:buNone/>
            </a:pPr>
            <a:r>
              <a:rPr lang="en-US" sz="1050" i="1" dirty="0">
                <a:solidFill>
                  <a:srgbClr val="6E6257"/>
                </a:solidFill>
                <a:latin typeface="Arial" pitchFamily="34" charset="0"/>
                <a:ea typeface="Arial" pitchFamily="34" charset="-122"/>
                <a:cs typeface="Arial" pitchFamily="34" charset="-120"/>
              </a:rPr>
              <a:t>Quan hệ: tư tưởng → hệ tư tưởng → nhà tư tưởng</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66928" y="310896"/>
            <a:ext cx="8686800" cy="274320"/>
          </a:xfrm>
          <a:prstGeom prst="rect">
            <a:avLst/>
          </a:prstGeom>
          <a:noFill/>
          <a:ln/>
        </p:spPr>
        <p:txBody>
          <a:bodyPr wrap="square" lIns="0" tIns="0" rIns="0" bIns="0" rtlCol="0" anchor="ctr"/>
          <a:lstStyle/>
          <a:p>
            <a:pPr indent="0" marL="0">
              <a:buNone/>
            </a:pPr>
            <a:r>
              <a:rPr lang="en-US" sz="1100" b="1" spc="200" kern="0" dirty="0">
                <a:solidFill>
                  <a:srgbClr val="E8B02B"/>
                </a:solidFill>
                <a:latin typeface="Arial" pitchFamily="34" charset="0"/>
                <a:ea typeface="Arial" pitchFamily="34" charset="-122"/>
                <a:cs typeface="Arial" pitchFamily="34" charset="-120"/>
              </a:rPr>
              <a:t>PHẦN I · KHÁI NIỆM &amp; ĐỊNH NGHĨA</a:t>
            </a:r>
            <a:endParaRPr lang="en-US" sz="1100" dirty="0"/>
          </a:p>
        </p:txBody>
      </p:sp>
      <p:sp>
        <p:nvSpPr>
          <p:cNvPr id="3" name="Text 1"/>
          <p:cNvSpPr txBox="1"/>
          <p:nvPr/>
        </p:nvSpPr>
        <p:spPr>
          <a:xfrm>
            <a:off x="566928" y="6355080"/>
            <a:ext cx="5486400" cy="274320"/>
          </a:xfrm>
          <a:prstGeom prst="rect">
            <a:avLst/>
          </a:prstGeom>
          <a:noFill/>
          <a:ln/>
        </p:spPr>
        <p:txBody>
          <a:bodyPr wrap="square" lIns="0" tIns="0" rIns="0" bIns="0" rtlCol="0" anchor="ctr"/>
          <a:lstStyle/>
          <a:p>
            <a:pPr indent="0" marL="0">
              <a:buNone/>
            </a:pPr>
            <a:r>
              <a:rPr lang="en-US" sz="950" dirty="0">
                <a:solidFill>
                  <a:srgbClr val="A99C90"/>
                </a:solidFill>
                <a:latin typeface="Arial" pitchFamily="34" charset="0"/>
                <a:ea typeface="Arial" pitchFamily="34" charset="-122"/>
                <a:cs typeface="Arial" pitchFamily="34" charset="-120"/>
              </a:rPr>
              <a:t>NHÓM 1  ·  TƯ TƯỞNG HỒ CHÍ MINH</a:t>
            </a:r>
            <a:endParaRPr lang="en-US" sz="950" dirty="0"/>
          </a:p>
        </p:txBody>
      </p:sp>
      <p:sp>
        <p:nvSpPr>
          <p:cNvPr id="4" name="Text 2"/>
          <p:cNvSpPr txBox="1"/>
          <p:nvPr/>
        </p:nvSpPr>
        <p:spPr>
          <a:xfrm>
            <a:off x="11064240" y="6355080"/>
            <a:ext cx="566928" cy="274320"/>
          </a:xfrm>
          <a:prstGeom prst="rect">
            <a:avLst/>
          </a:prstGeom>
          <a:noFill/>
          <a:ln/>
        </p:spPr>
        <p:txBody>
          <a:bodyPr wrap="square" lIns="0" tIns="0" rIns="0" bIns="0" rtlCol="0" anchor="ctr"/>
          <a:lstStyle/>
          <a:p>
            <a:pPr algn="r" indent="0" marL="0">
              <a:buNone/>
            </a:pPr>
            <a:r>
              <a:rPr lang="en-US" sz="1100" b="1" dirty="0">
                <a:solidFill>
                  <a:srgbClr val="8C0D14"/>
                </a:solidFill>
                <a:latin typeface="Arial" pitchFamily="34" charset="0"/>
                <a:ea typeface="Arial" pitchFamily="34" charset="-122"/>
                <a:cs typeface="Arial" pitchFamily="34" charset="-120"/>
              </a:rPr>
              <a:t>4</a:t>
            </a:r>
            <a:endParaRPr lang="en-US" sz="1100" dirty="0"/>
          </a:p>
        </p:txBody>
      </p:sp>
      <p:pic>
        <p:nvPicPr>
          <p:cNvPr id="5" name="Image 0" descr="img/star_gold.png">    </p:cNvPr>
          <p:cNvPicPr>
            <a:picLocks noChangeAspect="1"/>
          </p:cNvPicPr>
          <p:nvPr/>
        </p:nvPicPr>
        <p:blipFill>
          <a:blip r:embed="rId1"/>
          <a:stretch>
            <a:fillRect/>
          </a:stretch>
        </p:blipFill>
        <p:spPr>
          <a:xfrm>
            <a:off x="566928" y="749808"/>
            <a:ext cx="310896" cy="310896"/>
          </a:xfrm>
          <a:prstGeom prst="rect">
            <a:avLst/>
          </a:prstGeom>
        </p:spPr>
      </p:pic>
      <p:sp>
        <p:nvSpPr>
          <p:cNvPr id="6" name="Text 3"/>
          <p:cNvSpPr txBox="1"/>
          <p:nvPr/>
        </p:nvSpPr>
        <p:spPr>
          <a:xfrm>
            <a:off x="1005840" y="658368"/>
            <a:ext cx="10607040" cy="512064"/>
          </a:xfrm>
          <a:prstGeom prst="rect">
            <a:avLst/>
          </a:prstGeom>
          <a:noFill/>
          <a:ln/>
        </p:spPr>
        <p:txBody>
          <a:bodyPr wrap="square" lIns="0" tIns="0" rIns="0" bIns="0" rtlCol="0" anchor="ctr"/>
          <a:lstStyle/>
          <a:p>
            <a:pPr indent="0" marL="0">
              <a:buNone/>
            </a:pPr>
            <a:r>
              <a:rPr lang="en-US" sz="2650" b="1" dirty="0">
                <a:solidFill>
                  <a:srgbClr val="8C0D14"/>
                </a:solidFill>
                <a:latin typeface="Times New Roman" pitchFamily="34" charset="0"/>
                <a:ea typeface="Times New Roman" pitchFamily="34" charset="-122"/>
                <a:cs typeface="Times New Roman" pitchFamily="34" charset="-120"/>
              </a:rPr>
              <a:t>ĐỊNH NGHĨA TƯ TƯỞNG HỒ CHÍ MINH</a:t>
            </a:r>
            <a:endParaRPr lang="en-US" sz="2650" dirty="0"/>
          </a:p>
        </p:txBody>
      </p:sp>
      <p:pic>
        <p:nvPicPr>
          <p:cNvPr id="7" name="Image 1" descr="img/fig_quote.png">    </p:cNvPr>
          <p:cNvPicPr>
            <a:picLocks noChangeAspect="1"/>
          </p:cNvPicPr>
          <p:nvPr/>
        </p:nvPicPr>
        <p:blipFill>
          <a:blip r:embed="rId2"/>
          <a:stretch>
            <a:fillRect/>
          </a:stretch>
        </p:blipFill>
        <p:spPr>
          <a:xfrm>
            <a:off x="640080" y="1737360"/>
            <a:ext cx="2103120" cy="2103120"/>
          </a:xfrm>
          <a:prstGeom prst="rect">
            <a:avLst/>
          </a:prstGeom>
        </p:spPr>
      </p:pic>
      <p:sp>
        <p:nvSpPr>
          <p:cNvPr id="8" name="Text 4"/>
          <p:cNvSpPr txBox="1"/>
          <p:nvPr/>
        </p:nvSpPr>
        <p:spPr>
          <a:xfrm>
            <a:off x="566928" y="4023360"/>
            <a:ext cx="2249424" cy="1371600"/>
          </a:xfrm>
          <a:prstGeom prst="rect">
            <a:avLst/>
          </a:prstGeom>
          <a:noFill/>
          <a:ln/>
        </p:spPr>
        <p:txBody>
          <a:bodyPr wrap="square" lIns="0" tIns="0" rIns="0" bIns="0" rtlCol="0" anchor="ctr"/>
          <a:lstStyle/>
          <a:p>
            <a:pPr algn="ctr" indent="0" marL="0">
              <a:lnSpc>
                <a:spcPts val="1600"/>
              </a:lnSpc>
              <a:buNone/>
            </a:pPr>
            <a:r>
              <a:rPr lang="en-US" sz="1150" dirty="0">
                <a:solidFill>
                  <a:srgbClr val="6E6257"/>
                </a:solidFill>
                <a:latin typeface="Arial" pitchFamily="34" charset="0"/>
                <a:ea typeface="Arial" pitchFamily="34" charset="-122"/>
                <a:cs typeface="Arial" pitchFamily="34" charset="-120"/>
              </a:rPr>
              <a:t>Đại hội XI (2011)</a:t>
            </a:r>
            <a:endParaRPr lang="en-US" sz="1150" dirty="0"/>
          </a:p>
          <a:p>
            <a:pPr algn="ctr" indent="0" marL="0">
              <a:lnSpc>
                <a:spcPts val="1600"/>
              </a:lnSpc>
              <a:buNone/>
            </a:pPr>
            <a:r>
              <a:rPr lang="en-US" sz="1150" dirty="0">
                <a:solidFill>
                  <a:srgbClr val="6E6257"/>
                </a:solidFill>
                <a:latin typeface="Arial" pitchFamily="34" charset="0"/>
                <a:ea typeface="Arial" pitchFamily="34" charset="-122"/>
                <a:cs typeface="Arial" pitchFamily="34" charset="-120"/>
              </a:rPr>
              <a:t>Cương lĩnh xây dựng đất nước trong thời kỳ quá độ lên chủ nghĩa xã hội (bổ sung, phát triển năm 2011)</a:t>
            </a:r>
            <a:endParaRPr lang="en-US" sz="1150" dirty="0"/>
          </a:p>
        </p:txBody>
      </p:sp>
      <p:sp>
        <p:nvSpPr>
          <p:cNvPr id="9" name="Shape 5"/>
          <p:cNvSpPr/>
          <p:nvPr/>
        </p:nvSpPr>
        <p:spPr>
          <a:xfrm>
            <a:off x="3063240" y="1463040"/>
            <a:ext cx="8549640" cy="3017520"/>
          </a:xfrm>
          <a:prstGeom prst="roundRect">
            <a:avLst>
              <a:gd name="adj" fmla="val 3030"/>
            </a:avLst>
          </a:prstGeom>
          <a:solidFill>
            <a:srgbClr val="FBEDEC"/>
          </a:solidFill>
          <a:ln w="15875">
            <a:solidFill>
              <a:srgbClr val="EBD3D1"/>
            </a:solidFill>
            <a:prstDash val="solid"/>
          </a:ln>
          <a:effectLst>
            <a:outerShdw sx="100000" sy="100000" kx="0" ky="0" algn="bl" rotWithShape="0" blurRad="101600" dist="25400" dir="5400000">
              <a:srgbClr val="9A8C80">
                <a:alpha val="18000"/>
              </a:srgbClr>
            </a:outerShdw>
          </a:effectLst>
        </p:spPr>
      </p:sp>
      <p:sp>
        <p:nvSpPr>
          <p:cNvPr id="10" name="Text 6"/>
          <p:cNvSpPr txBox="1"/>
          <p:nvPr/>
        </p:nvSpPr>
        <p:spPr>
          <a:xfrm>
            <a:off x="3364992" y="1682496"/>
            <a:ext cx="7973568" cy="2331720"/>
          </a:xfrm>
          <a:prstGeom prst="rect">
            <a:avLst/>
          </a:prstGeom>
          <a:noFill/>
          <a:ln/>
        </p:spPr>
        <p:txBody>
          <a:bodyPr wrap="square" lIns="0" tIns="0" rIns="0" bIns="0" rtlCol="0" anchor="ctr"/>
          <a:lstStyle/>
          <a:p>
            <a:pPr indent="0" marL="0">
              <a:lnSpc>
                <a:spcPts val="2400"/>
              </a:lnSpc>
              <a:buNone/>
            </a:pPr>
            <a:r>
              <a:rPr lang="en-US" sz="1550" i="1" dirty="0">
                <a:solidFill>
                  <a:srgbClr val="241A16"/>
                </a:solidFill>
                <a:latin typeface="Times New Roman" pitchFamily="34" charset="0"/>
                <a:ea typeface="Times New Roman" pitchFamily="34" charset="-122"/>
                <a:cs typeface="Times New Roman" pitchFamily="34" charset="-120"/>
              </a:rPr>
              <a:t>“Tư tưởng Hồ Chí Minh là một hệ thống quan điểm toàn diện và sâu sắc về những vấn đề cơ bản của cách mạng Việt Nam, kết quả của sự vận dụng và phát triển sáng tạo chủ nghĩa Mác – Lênin vào điều kiện cụ thể của nước ta, kế thừa và phát triển các giá trị truyền thống tốt đẹp của dân tộc, tiếp thu tinh hoa văn hoá nhân loại; là tài sản tinh thần vô cùng to lớn và quý giá của Đảng và dân tộc ta, mãi mãi soi đường cho sự nghiệp cách mạng của nhân dân ta giành thắng lợi.”</a:t>
            </a:r>
            <a:endParaRPr lang="en-US" sz="1550" dirty="0"/>
          </a:p>
        </p:txBody>
      </p:sp>
      <p:sp>
        <p:nvSpPr>
          <p:cNvPr id="11" name="Text 7"/>
          <p:cNvSpPr txBox="1"/>
          <p:nvPr/>
        </p:nvSpPr>
        <p:spPr>
          <a:xfrm>
            <a:off x="3364992" y="4041648"/>
            <a:ext cx="7973568" cy="292608"/>
          </a:xfrm>
          <a:prstGeom prst="rect">
            <a:avLst/>
          </a:prstGeom>
          <a:noFill/>
          <a:ln/>
        </p:spPr>
        <p:txBody>
          <a:bodyPr wrap="square" lIns="0" tIns="0" rIns="0" bIns="0" rtlCol="0" anchor="ctr"/>
          <a:lstStyle/>
          <a:p>
            <a:pPr algn="r" indent="0" marL="0">
              <a:buNone/>
            </a:pPr>
            <a:r>
              <a:rPr lang="en-US" sz="1050" b="1" dirty="0">
                <a:solidFill>
                  <a:srgbClr val="8C0D14"/>
                </a:solidFill>
                <a:latin typeface="Arial" pitchFamily="34" charset="0"/>
                <a:ea typeface="Arial" pitchFamily="34" charset="-122"/>
                <a:cs typeface="Arial" pitchFamily="34" charset="-120"/>
              </a:rPr>
              <a:t>— Văn kiện Đại hội đại biểu toàn quốc lần thứ XI, 2011</a:t>
            </a:r>
            <a:endParaRPr lang="en-US" sz="1050" dirty="0"/>
          </a:p>
        </p:txBody>
      </p:sp>
      <p:sp>
        <p:nvSpPr>
          <p:cNvPr id="12" name="Shape 8"/>
          <p:cNvSpPr/>
          <p:nvPr/>
        </p:nvSpPr>
        <p:spPr>
          <a:xfrm>
            <a:off x="3063240" y="4681728"/>
            <a:ext cx="2852928" cy="1207008"/>
          </a:xfrm>
          <a:prstGeom prst="roundRect">
            <a:avLst>
              <a:gd name="adj" fmla="val 7576"/>
            </a:avLst>
          </a:prstGeom>
          <a:solidFill>
            <a:srgbClr val="FFFFFF"/>
          </a:solidFill>
          <a:ln w="15875">
            <a:solidFill>
              <a:srgbClr val="E4DAD0"/>
            </a:solidFill>
            <a:prstDash val="solid"/>
          </a:ln>
          <a:effectLst>
            <a:outerShdw sx="100000" sy="100000" kx="0" ky="0" algn="bl" rotWithShape="0" blurRad="101600" dist="25400" dir="5400000">
              <a:srgbClr val="9A8C80">
                <a:alpha val="18000"/>
              </a:srgbClr>
            </a:outerShdw>
          </a:effectLst>
        </p:spPr>
      </p:sp>
      <p:sp>
        <p:nvSpPr>
          <p:cNvPr id="13" name="Text 9"/>
          <p:cNvSpPr txBox="1"/>
          <p:nvPr/>
        </p:nvSpPr>
        <p:spPr>
          <a:xfrm>
            <a:off x="3264408" y="4828032"/>
            <a:ext cx="2468880" cy="274320"/>
          </a:xfrm>
          <a:prstGeom prst="rect">
            <a:avLst/>
          </a:prstGeom>
          <a:noFill/>
          <a:ln/>
        </p:spPr>
        <p:txBody>
          <a:bodyPr wrap="square" lIns="0" tIns="0" rIns="0" bIns="0" rtlCol="0" anchor="ctr"/>
          <a:lstStyle/>
          <a:p>
            <a:pPr indent="0" marL="0">
              <a:buNone/>
            </a:pPr>
            <a:r>
              <a:rPr lang="en-US" sz="1200" b="1" dirty="0">
                <a:solidFill>
                  <a:srgbClr val="8C0D14"/>
                </a:solidFill>
                <a:latin typeface="Arial" pitchFamily="34" charset="0"/>
                <a:ea typeface="Arial" pitchFamily="34" charset="-122"/>
                <a:cs typeface="Arial" pitchFamily="34" charset="-120"/>
              </a:rPr>
              <a:t>ĐẠI HỘI VII — 6/1991</a:t>
            </a:r>
            <a:endParaRPr lang="en-US" sz="1200" dirty="0"/>
          </a:p>
        </p:txBody>
      </p:sp>
      <p:sp>
        <p:nvSpPr>
          <p:cNvPr id="14" name="Text 10"/>
          <p:cNvSpPr txBox="1"/>
          <p:nvPr/>
        </p:nvSpPr>
        <p:spPr>
          <a:xfrm>
            <a:off x="3264408" y="5138928"/>
            <a:ext cx="2468880" cy="640080"/>
          </a:xfrm>
          <a:prstGeom prst="rect">
            <a:avLst/>
          </a:prstGeom>
          <a:noFill/>
          <a:ln/>
        </p:spPr>
        <p:txBody>
          <a:bodyPr wrap="square" lIns="0" tIns="0" rIns="0" bIns="0" rtlCol="0" anchor="ctr"/>
          <a:lstStyle/>
          <a:p>
            <a:pPr indent="0" marL="0">
              <a:lnSpc>
                <a:spcPts val="1500"/>
              </a:lnSpc>
              <a:buNone/>
            </a:pPr>
            <a:r>
              <a:rPr lang="en-US" sz="1100" dirty="0">
                <a:solidFill>
                  <a:srgbClr val="6E6257"/>
                </a:solidFill>
                <a:latin typeface="Arial" pitchFamily="34" charset="0"/>
                <a:ea typeface="Arial" pitchFamily="34" charset="-122"/>
                <a:cs typeface="Arial" pitchFamily="34" charset="-120"/>
              </a:rPr>
              <a:t>Lần đầu chính thức nêu khái niệm “tư tưởng Hồ Chí Minh”</a:t>
            </a:r>
            <a:endParaRPr lang="en-US" sz="1100" dirty="0"/>
          </a:p>
        </p:txBody>
      </p:sp>
      <p:sp>
        <p:nvSpPr>
          <p:cNvPr id="15" name="Shape 11"/>
          <p:cNvSpPr/>
          <p:nvPr/>
        </p:nvSpPr>
        <p:spPr>
          <a:xfrm>
            <a:off x="5916168" y="4681728"/>
            <a:ext cx="2852928" cy="1207008"/>
          </a:xfrm>
          <a:prstGeom prst="roundRect">
            <a:avLst>
              <a:gd name="adj" fmla="val 7576"/>
            </a:avLst>
          </a:prstGeom>
          <a:solidFill>
            <a:srgbClr val="FFFFFF"/>
          </a:solidFill>
          <a:ln w="15875">
            <a:solidFill>
              <a:srgbClr val="E4DAD0"/>
            </a:solidFill>
            <a:prstDash val="solid"/>
          </a:ln>
          <a:effectLst>
            <a:outerShdw sx="100000" sy="100000" kx="0" ky="0" algn="bl" rotWithShape="0" blurRad="101600" dist="25400" dir="5400000">
              <a:srgbClr val="9A8C80">
                <a:alpha val="18000"/>
              </a:srgbClr>
            </a:outerShdw>
          </a:effectLst>
        </p:spPr>
      </p:sp>
      <p:sp>
        <p:nvSpPr>
          <p:cNvPr id="16" name="Text 12"/>
          <p:cNvSpPr txBox="1"/>
          <p:nvPr/>
        </p:nvSpPr>
        <p:spPr>
          <a:xfrm>
            <a:off x="6117336" y="4828032"/>
            <a:ext cx="2468880" cy="274320"/>
          </a:xfrm>
          <a:prstGeom prst="rect">
            <a:avLst/>
          </a:prstGeom>
          <a:noFill/>
          <a:ln/>
        </p:spPr>
        <p:txBody>
          <a:bodyPr wrap="square" lIns="0" tIns="0" rIns="0" bIns="0" rtlCol="0" anchor="ctr"/>
          <a:lstStyle/>
          <a:p>
            <a:pPr indent="0" marL="0">
              <a:buNone/>
            </a:pPr>
            <a:r>
              <a:rPr lang="en-US" sz="1200" b="1" dirty="0">
                <a:solidFill>
                  <a:srgbClr val="8C0D14"/>
                </a:solidFill>
                <a:latin typeface="Arial" pitchFamily="34" charset="0"/>
                <a:ea typeface="Arial" pitchFamily="34" charset="-122"/>
                <a:cs typeface="Arial" pitchFamily="34" charset="-120"/>
              </a:rPr>
              <a:t>ĐẠI HỘI IX — 4/2001</a:t>
            </a:r>
            <a:endParaRPr lang="en-US" sz="1200" dirty="0"/>
          </a:p>
        </p:txBody>
      </p:sp>
      <p:sp>
        <p:nvSpPr>
          <p:cNvPr id="17" name="Text 13"/>
          <p:cNvSpPr txBox="1"/>
          <p:nvPr/>
        </p:nvSpPr>
        <p:spPr>
          <a:xfrm>
            <a:off x="6117336" y="5138928"/>
            <a:ext cx="2468880" cy="640080"/>
          </a:xfrm>
          <a:prstGeom prst="rect">
            <a:avLst/>
          </a:prstGeom>
          <a:noFill/>
          <a:ln/>
        </p:spPr>
        <p:txBody>
          <a:bodyPr wrap="square" lIns="0" tIns="0" rIns="0" bIns="0" rtlCol="0" anchor="ctr"/>
          <a:lstStyle/>
          <a:p>
            <a:pPr indent="0" marL="0">
              <a:lnSpc>
                <a:spcPts val="1500"/>
              </a:lnSpc>
              <a:buNone/>
            </a:pPr>
            <a:r>
              <a:rPr lang="en-US" sz="1100" dirty="0">
                <a:solidFill>
                  <a:srgbClr val="6E6257"/>
                </a:solidFill>
                <a:latin typeface="Arial" pitchFamily="34" charset="0"/>
                <a:ea typeface="Arial" pitchFamily="34" charset="-122"/>
                <a:cs typeface="Arial" pitchFamily="34" charset="-120"/>
              </a:rPr>
              <a:t>Đưa ra định nghĩa tương đối hoàn chỉnh về tư tưởng Hồ Chí Minh</a:t>
            </a:r>
            <a:endParaRPr lang="en-US" sz="1100" dirty="0"/>
          </a:p>
        </p:txBody>
      </p:sp>
      <p:sp>
        <p:nvSpPr>
          <p:cNvPr id="18" name="Shape 14"/>
          <p:cNvSpPr/>
          <p:nvPr/>
        </p:nvSpPr>
        <p:spPr>
          <a:xfrm>
            <a:off x="8759952" y="4681728"/>
            <a:ext cx="2852928" cy="1207008"/>
          </a:xfrm>
          <a:prstGeom prst="roundRect">
            <a:avLst>
              <a:gd name="adj" fmla="val 7576"/>
            </a:avLst>
          </a:prstGeom>
          <a:solidFill>
            <a:srgbClr val="FFFFFF"/>
          </a:solidFill>
          <a:ln w="15875">
            <a:solidFill>
              <a:srgbClr val="E4DAD0"/>
            </a:solidFill>
            <a:prstDash val="solid"/>
          </a:ln>
          <a:effectLst>
            <a:outerShdw sx="100000" sy="100000" kx="0" ky="0" algn="bl" rotWithShape="0" blurRad="101600" dist="25400" dir="5400000">
              <a:srgbClr val="9A8C80">
                <a:alpha val="18000"/>
              </a:srgbClr>
            </a:outerShdw>
          </a:effectLst>
        </p:spPr>
      </p:sp>
      <p:sp>
        <p:nvSpPr>
          <p:cNvPr id="19" name="Text 15"/>
          <p:cNvSpPr txBox="1"/>
          <p:nvPr/>
        </p:nvSpPr>
        <p:spPr>
          <a:xfrm>
            <a:off x="8961120" y="4828032"/>
            <a:ext cx="2468880" cy="274320"/>
          </a:xfrm>
          <a:prstGeom prst="rect">
            <a:avLst/>
          </a:prstGeom>
          <a:noFill/>
          <a:ln/>
        </p:spPr>
        <p:txBody>
          <a:bodyPr wrap="square" lIns="0" tIns="0" rIns="0" bIns="0" rtlCol="0" anchor="ctr"/>
          <a:lstStyle/>
          <a:p>
            <a:pPr indent="0" marL="0">
              <a:buNone/>
            </a:pPr>
            <a:r>
              <a:rPr lang="en-US" sz="1200" b="1" dirty="0">
                <a:solidFill>
                  <a:srgbClr val="8C0D14"/>
                </a:solidFill>
                <a:latin typeface="Arial" pitchFamily="34" charset="0"/>
                <a:ea typeface="Arial" pitchFamily="34" charset="-122"/>
                <a:cs typeface="Arial" pitchFamily="34" charset="-120"/>
              </a:rPr>
              <a:t>ĐẠI HỘI XI — 1/2011</a:t>
            </a:r>
            <a:endParaRPr lang="en-US" sz="1200" dirty="0"/>
          </a:p>
        </p:txBody>
      </p:sp>
      <p:sp>
        <p:nvSpPr>
          <p:cNvPr id="20" name="Text 16"/>
          <p:cNvSpPr txBox="1"/>
          <p:nvPr/>
        </p:nvSpPr>
        <p:spPr>
          <a:xfrm>
            <a:off x="8961120" y="5138928"/>
            <a:ext cx="2468880" cy="640080"/>
          </a:xfrm>
          <a:prstGeom prst="rect">
            <a:avLst/>
          </a:prstGeom>
          <a:noFill/>
          <a:ln/>
        </p:spPr>
        <p:txBody>
          <a:bodyPr wrap="square" lIns="0" tIns="0" rIns="0" bIns="0" rtlCol="0" anchor="ctr"/>
          <a:lstStyle/>
          <a:p>
            <a:pPr indent="0" marL="0">
              <a:lnSpc>
                <a:spcPts val="1500"/>
              </a:lnSpc>
              <a:buNone/>
            </a:pPr>
            <a:r>
              <a:rPr lang="en-US" sz="1100" dirty="0">
                <a:solidFill>
                  <a:srgbClr val="6E6257"/>
                </a:solidFill>
                <a:latin typeface="Arial" pitchFamily="34" charset="0"/>
                <a:ea typeface="Arial" pitchFamily="34" charset="-122"/>
                <a:cs typeface="Arial" pitchFamily="34" charset="-120"/>
              </a:rPr>
              <a:t>Bổ sung, phát triển thành định nghĩa đầy đủ nhất hiện nay</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66928" y="310896"/>
            <a:ext cx="8686800" cy="274320"/>
          </a:xfrm>
          <a:prstGeom prst="rect">
            <a:avLst/>
          </a:prstGeom>
          <a:noFill/>
          <a:ln/>
        </p:spPr>
        <p:txBody>
          <a:bodyPr wrap="square" lIns="0" tIns="0" rIns="0" bIns="0" rtlCol="0" anchor="ctr"/>
          <a:lstStyle/>
          <a:p>
            <a:pPr indent="0" marL="0">
              <a:buNone/>
            </a:pPr>
            <a:r>
              <a:rPr lang="en-US" sz="1100" b="1" spc="200" kern="0" dirty="0">
                <a:solidFill>
                  <a:srgbClr val="E8B02B"/>
                </a:solidFill>
                <a:latin typeface="Arial" pitchFamily="34" charset="0"/>
                <a:ea typeface="Arial" pitchFamily="34" charset="-122"/>
                <a:cs typeface="Arial" pitchFamily="34" charset="-120"/>
              </a:rPr>
              <a:t>PHẦN II · NỘI HÀM KHÁI NIỆM</a:t>
            </a:r>
            <a:endParaRPr lang="en-US" sz="1100" dirty="0"/>
          </a:p>
        </p:txBody>
      </p:sp>
      <p:sp>
        <p:nvSpPr>
          <p:cNvPr id="3" name="Text 1"/>
          <p:cNvSpPr txBox="1"/>
          <p:nvPr/>
        </p:nvSpPr>
        <p:spPr>
          <a:xfrm>
            <a:off x="566928" y="6355080"/>
            <a:ext cx="5486400" cy="274320"/>
          </a:xfrm>
          <a:prstGeom prst="rect">
            <a:avLst/>
          </a:prstGeom>
          <a:noFill/>
          <a:ln/>
        </p:spPr>
        <p:txBody>
          <a:bodyPr wrap="square" lIns="0" tIns="0" rIns="0" bIns="0" rtlCol="0" anchor="ctr"/>
          <a:lstStyle/>
          <a:p>
            <a:pPr indent="0" marL="0">
              <a:buNone/>
            </a:pPr>
            <a:r>
              <a:rPr lang="en-US" sz="950" dirty="0">
                <a:solidFill>
                  <a:srgbClr val="A99C90"/>
                </a:solidFill>
                <a:latin typeface="Arial" pitchFamily="34" charset="0"/>
                <a:ea typeface="Arial" pitchFamily="34" charset="-122"/>
                <a:cs typeface="Arial" pitchFamily="34" charset="-120"/>
              </a:rPr>
              <a:t>NHÓM 1  ·  TƯ TƯỞNG HỒ CHÍ MINH</a:t>
            </a:r>
            <a:endParaRPr lang="en-US" sz="950" dirty="0"/>
          </a:p>
        </p:txBody>
      </p:sp>
      <p:sp>
        <p:nvSpPr>
          <p:cNvPr id="4" name="Text 2"/>
          <p:cNvSpPr txBox="1"/>
          <p:nvPr/>
        </p:nvSpPr>
        <p:spPr>
          <a:xfrm>
            <a:off x="11064240" y="6355080"/>
            <a:ext cx="566928" cy="274320"/>
          </a:xfrm>
          <a:prstGeom prst="rect">
            <a:avLst/>
          </a:prstGeom>
          <a:noFill/>
          <a:ln/>
        </p:spPr>
        <p:txBody>
          <a:bodyPr wrap="square" lIns="0" tIns="0" rIns="0" bIns="0" rtlCol="0" anchor="ctr"/>
          <a:lstStyle/>
          <a:p>
            <a:pPr algn="r" indent="0" marL="0">
              <a:buNone/>
            </a:pPr>
            <a:r>
              <a:rPr lang="en-US" sz="1100" b="1" dirty="0">
                <a:solidFill>
                  <a:srgbClr val="8C0D14"/>
                </a:solidFill>
                <a:latin typeface="Arial" pitchFamily="34" charset="0"/>
                <a:ea typeface="Arial" pitchFamily="34" charset="-122"/>
                <a:cs typeface="Arial" pitchFamily="34" charset="-120"/>
              </a:rPr>
              <a:t>5</a:t>
            </a:r>
            <a:endParaRPr lang="en-US" sz="1100" dirty="0"/>
          </a:p>
        </p:txBody>
      </p:sp>
      <p:pic>
        <p:nvPicPr>
          <p:cNvPr id="5" name="Image 0" descr="img/star_gold.png">    </p:cNvPr>
          <p:cNvPicPr>
            <a:picLocks noChangeAspect="1"/>
          </p:cNvPicPr>
          <p:nvPr/>
        </p:nvPicPr>
        <p:blipFill>
          <a:blip r:embed="rId1"/>
          <a:stretch>
            <a:fillRect/>
          </a:stretch>
        </p:blipFill>
        <p:spPr>
          <a:xfrm>
            <a:off x="566928" y="749808"/>
            <a:ext cx="310896" cy="310896"/>
          </a:xfrm>
          <a:prstGeom prst="rect">
            <a:avLst/>
          </a:prstGeom>
        </p:spPr>
      </p:pic>
      <p:sp>
        <p:nvSpPr>
          <p:cNvPr id="6" name="Text 3"/>
          <p:cNvSpPr txBox="1"/>
          <p:nvPr/>
        </p:nvSpPr>
        <p:spPr>
          <a:xfrm>
            <a:off x="1005840" y="658368"/>
            <a:ext cx="10607040" cy="512064"/>
          </a:xfrm>
          <a:prstGeom prst="rect">
            <a:avLst/>
          </a:prstGeom>
          <a:noFill/>
          <a:ln/>
        </p:spPr>
        <p:txBody>
          <a:bodyPr wrap="square" lIns="0" tIns="0" rIns="0" bIns="0" rtlCol="0" anchor="ctr"/>
          <a:lstStyle/>
          <a:p>
            <a:pPr indent="0" marL="0">
              <a:buNone/>
            </a:pPr>
            <a:r>
              <a:rPr lang="en-US" sz="2650" b="1" dirty="0">
                <a:solidFill>
                  <a:srgbClr val="8C0D14"/>
                </a:solidFill>
                <a:latin typeface="Times New Roman" pitchFamily="34" charset="0"/>
                <a:ea typeface="Times New Roman" pitchFamily="34" charset="-122"/>
                <a:cs typeface="Times New Roman" pitchFamily="34" charset="-120"/>
              </a:rPr>
              <a:t>NỘI HÀM (1): BẢN CHẤT KHOA HỌC – CÁCH MẠNG</a:t>
            </a:r>
            <a:endParaRPr lang="en-US" sz="2650" dirty="0"/>
          </a:p>
        </p:txBody>
      </p:sp>
      <p:sp>
        <p:nvSpPr>
          <p:cNvPr id="7" name="Shape 4"/>
          <p:cNvSpPr/>
          <p:nvPr/>
        </p:nvSpPr>
        <p:spPr>
          <a:xfrm>
            <a:off x="566928" y="1408176"/>
            <a:ext cx="5760720" cy="1005840"/>
          </a:xfrm>
          <a:prstGeom prst="roundRect">
            <a:avLst>
              <a:gd name="adj" fmla="val 9091"/>
            </a:avLst>
          </a:prstGeom>
          <a:solidFill>
            <a:srgbClr val="FBEDEC"/>
          </a:solidFill>
          <a:ln w="15875">
            <a:solidFill>
              <a:srgbClr val="EBD3D1"/>
            </a:solidFill>
            <a:prstDash val="solid"/>
          </a:ln>
          <a:effectLst>
            <a:outerShdw sx="100000" sy="100000" kx="0" ky="0" algn="bl" rotWithShape="0" blurRad="101600" dist="25400" dir="5400000">
              <a:srgbClr val="9A8C80">
                <a:alpha val="18000"/>
              </a:srgbClr>
            </a:outerShdw>
          </a:effectLst>
        </p:spPr>
      </p:sp>
      <p:sp>
        <p:nvSpPr>
          <p:cNvPr id="8" name="Shape 5"/>
          <p:cNvSpPr/>
          <p:nvPr/>
        </p:nvSpPr>
        <p:spPr>
          <a:xfrm>
            <a:off x="786384" y="1609344"/>
            <a:ext cx="420624" cy="420624"/>
          </a:xfrm>
          <a:prstGeom prst="ellipse">
            <a:avLst/>
          </a:prstGeom>
          <a:solidFill>
            <a:srgbClr val="8C0D14"/>
          </a:solidFill>
          <a:ln w="12700">
            <a:solidFill>
              <a:srgbClr val="8C0D14"/>
            </a:solidFill>
            <a:prstDash val="solid"/>
          </a:ln>
        </p:spPr>
      </p:sp>
      <p:sp>
        <p:nvSpPr>
          <p:cNvPr id="9" name="Text 6"/>
          <p:cNvSpPr txBox="1"/>
          <p:nvPr/>
        </p:nvSpPr>
        <p:spPr>
          <a:xfrm>
            <a:off x="786384" y="1609344"/>
            <a:ext cx="420624" cy="420624"/>
          </a:xfrm>
          <a:prstGeom prst="rect">
            <a:avLst/>
          </a:prstGeom>
          <a:noFill/>
          <a:ln/>
        </p:spPr>
        <p:txBody>
          <a:bodyPr wrap="square" lIns="0" tIns="0" rIns="0" bIns="0" rtlCol="0" anchor="ctr"/>
          <a:lstStyle/>
          <a:p>
            <a:pPr algn="ctr" indent="0" marL="0">
              <a:buNone/>
            </a:pPr>
            <a:r>
              <a:rPr lang="en-US" sz="1400" b="1" dirty="0">
                <a:solidFill>
                  <a:srgbClr val="E8B02B"/>
                </a:solidFill>
                <a:latin typeface="Arial" pitchFamily="34" charset="0"/>
                <a:ea typeface="Arial" pitchFamily="34" charset="-122"/>
                <a:cs typeface="Arial" pitchFamily="34" charset="-120"/>
              </a:rPr>
              <a:t>1</a:t>
            </a:r>
            <a:endParaRPr lang="en-US" sz="1400" dirty="0"/>
          </a:p>
        </p:txBody>
      </p:sp>
      <p:sp>
        <p:nvSpPr>
          <p:cNvPr id="10" name="Text 7"/>
          <p:cNvSpPr txBox="1"/>
          <p:nvPr/>
        </p:nvSpPr>
        <p:spPr>
          <a:xfrm>
            <a:off x="1335024" y="1572768"/>
            <a:ext cx="4846320" cy="292608"/>
          </a:xfrm>
          <a:prstGeom prst="rect">
            <a:avLst/>
          </a:prstGeom>
          <a:noFill/>
          <a:ln/>
        </p:spPr>
        <p:txBody>
          <a:bodyPr wrap="square" lIns="0" tIns="0" rIns="0" bIns="0" rtlCol="0" anchor="ctr"/>
          <a:lstStyle/>
          <a:p>
            <a:pPr indent="0" marL="0">
              <a:buNone/>
            </a:pPr>
            <a:r>
              <a:rPr lang="en-US" sz="1300" b="1" dirty="0">
                <a:solidFill>
                  <a:srgbClr val="8C0D14"/>
                </a:solidFill>
                <a:latin typeface="Arial" pitchFamily="34" charset="0"/>
                <a:ea typeface="Arial" pitchFamily="34" charset="-122"/>
                <a:cs typeface="Arial" pitchFamily="34" charset="-120"/>
              </a:rPr>
              <a:t>Là một HỆ THỐNG QUAN ĐIỂM</a:t>
            </a:r>
            <a:endParaRPr lang="en-US" sz="1300" dirty="0"/>
          </a:p>
        </p:txBody>
      </p:sp>
      <p:sp>
        <p:nvSpPr>
          <p:cNvPr id="11" name="Text 8"/>
          <p:cNvSpPr txBox="1"/>
          <p:nvPr/>
        </p:nvSpPr>
        <p:spPr>
          <a:xfrm>
            <a:off x="1335024" y="1865376"/>
            <a:ext cx="4846320" cy="493776"/>
          </a:xfrm>
          <a:prstGeom prst="rect">
            <a:avLst/>
          </a:prstGeom>
          <a:noFill/>
          <a:ln/>
        </p:spPr>
        <p:txBody>
          <a:bodyPr wrap="square" lIns="0" tIns="0" rIns="0" bIns="0" rtlCol="0" anchor="ctr"/>
          <a:lstStyle/>
          <a:p>
            <a:pPr indent="0" marL="0">
              <a:lnSpc>
                <a:spcPts val="1500"/>
              </a:lnSpc>
              <a:buNone/>
            </a:pPr>
            <a:r>
              <a:rPr lang="en-US" sz="1150" dirty="0">
                <a:solidFill>
                  <a:srgbClr val="241A16"/>
                </a:solidFill>
                <a:latin typeface="Arial" pitchFamily="34" charset="0"/>
                <a:ea typeface="Arial" pitchFamily="34" charset="-122"/>
                <a:cs typeface="Arial" pitchFamily="34" charset="-120"/>
              </a:rPr>
              <a:t>có cấu trúc chặt chẽ, logic nhất quán, không phải những luận điểm rời rạc.</a:t>
            </a:r>
            <a:endParaRPr lang="en-US" sz="1150" dirty="0"/>
          </a:p>
        </p:txBody>
      </p:sp>
      <p:sp>
        <p:nvSpPr>
          <p:cNvPr id="12" name="Shape 9"/>
          <p:cNvSpPr/>
          <p:nvPr/>
        </p:nvSpPr>
        <p:spPr>
          <a:xfrm>
            <a:off x="566928" y="2514600"/>
            <a:ext cx="5760720" cy="1005840"/>
          </a:xfrm>
          <a:prstGeom prst="roundRect">
            <a:avLst>
              <a:gd name="adj" fmla="val 9091"/>
            </a:avLst>
          </a:prstGeom>
          <a:solidFill>
            <a:srgbClr val="FBF1D8"/>
          </a:solidFill>
          <a:ln w="15875">
            <a:solidFill>
              <a:srgbClr val="EEDCB0"/>
            </a:solidFill>
            <a:prstDash val="solid"/>
          </a:ln>
          <a:effectLst>
            <a:outerShdw sx="100000" sy="100000" kx="0" ky="0" algn="bl" rotWithShape="0" blurRad="101600" dist="25400" dir="5400000">
              <a:srgbClr val="9A8C80">
                <a:alpha val="18000"/>
              </a:srgbClr>
            </a:outerShdw>
          </a:effectLst>
        </p:spPr>
      </p:sp>
      <p:sp>
        <p:nvSpPr>
          <p:cNvPr id="13" name="Shape 10"/>
          <p:cNvSpPr/>
          <p:nvPr/>
        </p:nvSpPr>
        <p:spPr>
          <a:xfrm>
            <a:off x="786384" y="2715768"/>
            <a:ext cx="420624" cy="420624"/>
          </a:xfrm>
          <a:prstGeom prst="ellipse">
            <a:avLst/>
          </a:prstGeom>
          <a:solidFill>
            <a:srgbClr val="A8761A"/>
          </a:solidFill>
          <a:ln w="12700">
            <a:solidFill>
              <a:srgbClr val="A8761A"/>
            </a:solidFill>
            <a:prstDash val="solid"/>
          </a:ln>
        </p:spPr>
      </p:sp>
      <p:sp>
        <p:nvSpPr>
          <p:cNvPr id="14" name="Text 11"/>
          <p:cNvSpPr txBox="1"/>
          <p:nvPr/>
        </p:nvSpPr>
        <p:spPr>
          <a:xfrm>
            <a:off x="786384" y="2715768"/>
            <a:ext cx="420624" cy="420624"/>
          </a:xfrm>
          <a:prstGeom prst="rect">
            <a:avLst/>
          </a:prstGeom>
          <a:noFill/>
          <a:ln/>
        </p:spPr>
        <p:txBody>
          <a:bodyPr wrap="square" lIns="0" tIns="0" rIns="0" bIns="0" rtlCol="0" anchor="ctr"/>
          <a:lstStyle/>
          <a:p>
            <a:pPr algn="ctr" indent="0" marL="0">
              <a:buNone/>
            </a:pPr>
            <a:r>
              <a:rPr lang="en-US" sz="1400" b="1" dirty="0">
                <a:solidFill>
                  <a:srgbClr val="E8B02B"/>
                </a:solidFill>
                <a:latin typeface="Arial" pitchFamily="34" charset="0"/>
                <a:ea typeface="Arial" pitchFamily="34" charset="-122"/>
                <a:cs typeface="Arial" pitchFamily="34" charset="-120"/>
              </a:rPr>
              <a:t>2</a:t>
            </a:r>
            <a:endParaRPr lang="en-US" sz="1400" dirty="0"/>
          </a:p>
        </p:txBody>
      </p:sp>
      <p:sp>
        <p:nvSpPr>
          <p:cNvPr id="15" name="Text 12"/>
          <p:cNvSpPr txBox="1"/>
          <p:nvPr/>
        </p:nvSpPr>
        <p:spPr>
          <a:xfrm>
            <a:off x="1335024" y="2679192"/>
            <a:ext cx="4846320" cy="292608"/>
          </a:xfrm>
          <a:prstGeom prst="rect">
            <a:avLst/>
          </a:prstGeom>
          <a:noFill/>
          <a:ln/>
        </p:spPr>
        <p:txBody>
          <a:bodyPr wrap="square" lIns="0" tIns="0" rIns="0" bIns="0" rtlCol="0" anchor="ctr"/>
          <a:lstStyle/>
          <a:p>
            <a:pPr indent="0" marL="0">
              <a:buNone/>
            </a:pPr>
            <a:r>
              <a:rPr lang="en-US" sz="1300" b="1" dirty="0">
                <a:solidFill>
                  <a:srgbClr val="8A6A12"/>
                </a:solidFill>
                <a:latin typeface="Arial" pitchFamily="34" charset="0"/>
                <a:ea typeface="Arial" pitchFamily="34" charset="-122"/>
                <a:cs typeface="Arial" pitchFamily="34" charset="-120"/>
              </a:rPr>
              <a:t>TOÀN DIỆN</a:t>
            </a:r>
            <a:endParaRPr lang="en-US" sz="1300" dirty="0"/>
          </a:p>
        </p:txBody>
      </p:sp>
      <p:sp>
        <p:nvSpPr>
          <p:cNvPr id="16" name="Text 13"/>
          <p:cNvSpPr txBox="1"/>
          <p:nvPr/>
        </p:nvSpPr>
        <p:spPr>
          <a:xfrm>
            <a:off x="1335024" y="2971800"/>
            <a:ext cx="4846320" cy="493776"/>
          </a:xfrm>
          <a:prstGeom prst="rect">
            <a:avLst/>
          </a:prstGeom>
          <a:noFill/>
          <a:ln/>
        </p:spPr>
        <p:txBody>
          <a:bodyPr wrap="square" lIns="0" tIns="0" rIns="0" bIns="0" rtlCol="0" anchor="ctr"/>
          <a:lstStyle/>
          <a:p>
            <a:pPr indent="0" marL="0">
              <a:lnSpc>
                <a:spcPts val="1500"/>
              </a:lnSpc>
              <a:buNone/>
            </a:pPr>
            <a:r>
              <a:rPr lang="en-US" sz="1150" dirty="0">
                <a:solidFill>
                  <a:srgbClr val="241A16"/>
                </a:solidFill>
                <a:latin typeface="Arial" pitchFamily="34" charset="0"/>
                <a:ea typeface="Arial" pitchFamily="34" charset="-122"/>
                <a:cs typeface="Arial" pitchFamily="34" charset="-120"/>
              </a:rPr>
              <a:t>bao quát mọi lĩnh vực: chính trị, kinh tế, văn hoá, quân sự, ngoại giao, đạo đức, con người.</a:t>
            </a:r>
            <a:endParaRPr lang="en-US" sz="1150" dirty="0"/>
          </a:p>
        </p:txBody>
      </p:sp>
      <p:sp>
        <p:nvSpPr>
          <p:cNvPr id="17" name="Shape 14"/>
          <p:cNvSpPr/>
          <p:nvPr/>
        </p:nvSpPr>
        <p:spPr>
          <a:xfrm>
            <a:off x="566928" y="3621024"/>
            <a:ext cx="5760720" cy="1005840"/>
          </a:xfrm>
          <a:prstGeom prst="roundRect">
            <a:avLst>
              <a:gd name="adj" fmla="val 9091"/>
            </a:avLst>
          </a:prstGeom>
          <a:solidFill>
            <a:srgbClr val="FBEDEC"/>
          </a:solidFill>
          <a:ln w="15875">
            <a:solidFill>
              <a:srgbClr val="EBD3D1"/>
            </a:solidFill>
            <a:prstDash val="solid"/>
          </a:ln>
          <a:effectLst>
            <a:outerShdw sx="100000" sy="100000" kx="0" ky="0" algn="bl" rotWithShape="0" blurRad="101600" dist="25400" dir="5400000">
              <a:srgbClr val="9A8C80">
                <a:alpha val="18000"/>
              </a:srgbClr>
            </a:outerShdw>
          </a:effectLst>
        </p:spPr>
      </p:sp>
      <p:sp>
        <p:nvSpPr>
          <p:cNvPr id="18" name="Shape 15"/>
          <p:cNvSpPr/>
          <p:nvPr/>
        </p:nvSpPr>
        <p:spPr>
          <a:xfrm>
            <a:off x="786384" y="3822192"/>
            <a:ext cx="420624" cy="420624"/>
          </a:xfrm>
          <a:prstGeom prst="ellipse">
            <a:avLst/>
          </a:prstGeom>
          <a:solidFill>
            <a:srgbClr val="8C0D14"/>
          </a:solidFill>
          <a:ln w="12700">
            <a:solidFill>
              <a:srgbClr val="8C0D14"/>
            </a:solidFill>
            <a:prstDash val="solid"/>
          </a:ln>
        </p:spPr>
      </p:sp>
      <p:sp>
        <p:nvSpPr>
          <p:cNvPr id="19" name="Text 16"/>
          <p:cNvSpPr txBox="1"/>
          <p:nvPr/>
        </p:nvSpPr>
        <p:spPr>
          <a:xfrm>
            <a:off x="786384" y="3822192"/>
            <a:ext cx="420624" cy="420624"/>
          </a:xfrm>
          <a:prstGeom prst="rect">
            <a:avLst/>
          </a:prstGeom>
          <a:noFill/>
          <a:ln/>
        </p:spPr>
        <p:txBody>
          <a:bodyPr wrap="square" lIns="0" tIns="0" rIns="0" bIns="0" rtlCol="0" anchor="ctr"/>
          <a:lstStyle/>
          <a:p>
            <a:pPr algn="ctr" indent="0" marL="0">
              <a:buNone/>
            </a:pPr>
            <a:r>
              <a:rPr lang="en-US" sz="1400" b="1" dirty="0">
                <a:solidFill>
                  <a:srgbClr val="E8B02B"/>
                </a:solidFill>
                <a:latin typeface="Arial" pitchFamily="34" charset="0"/>
                <a:ea typeface="Arial" pitchFamily="34" charset="-122"/>
                <a:cs typeface="Arial" pitchFamily="34" charset="-120"/>
              </a:rPr>
              <a:t>3</a:t>
            </a:r>
            <a:endParaRPr lang="en-US" sz="1400" dirty="0"/>
          </a:p>
        </p:txBody>
      </p:sp>
      <p:sp>
        <p:nvSpPr>
          <p:cNvPr id="20" name="Text 17"/>
          <p:cNvSpPr txBox="1"/>
          <p:nvPr/>
        </p:nvSpPr>
        <p:spPr>
          <a:xfrm>
            <a:off x="1335024" y="3785616"/>
            <a:ext cx="4846320" cy="292608"/>
          </a:xfrm>
          <a:prstGeom prst="rect">
            <a:avLst/>
          </a:prstGeom>
          <a:noFill/>
          <a:ln/>
        </p:spPr>
        <p:txBody>
          <a:bodyPr wrap="square" lIns="0" tIns="0" rIns="0" bIns="0" rtlCol="0" anchor="ctr"/>
          <a:lstStyle/>
          <a:p>
            <a:pPr indent="0" marL="0">
              <a:buNone/>
            </a:pPr>
            <a:r>
              <a:rPr lang="en-US" sz="1300" b="1" dirty="0">
                <a:solidFill>
                  <a:srgbClr val="8C0D14"/>
                </a:solidFill>
                <a:latin typeface="Arial" pitchFamily="34" charset="0"/>
                <a:ea typeface="Arial" pitchFamily="34" charset="-122"/>
                <a:cs typeface="Arial" pitchFamily="34" charset="-120"/>
              </a:rPr>
              <a:t>SÂU SẮC</a:t>
            </a:r>
            <a:endParaRPr lang="en-US" sz="1300" dirty="0"/>
          </a:p>
        </p:txBody>
      </p:sp>
      <p:sp>
        <p:nvSpPr>
          <p:cNvPr id="21" name="Text 18"/>
          <p:cNvSpPr txBox="1"/>
          <p:nvPr/>
        </p:nvSpPr>
        <p:spPr>
          <a:xfrm>
            <a:off x="1335024" y="4078224"/>
            <a:ext cx="4846320" cy="493776"/>
          </a:xfrm>
          <a:prstGeom prst="rect">
            <a:avLst/>
          </a:prstGeom>
          <a:noFill/>
          <a:ln/>
        </p:spPr>
        <p:txBody>
          <a:bodyPr wrap="square" lIns="0" tIns="0" rIns="0" bIns="0" rtlCol="0" anchor="ctr"/>
          <a:lstStyle/>
          <a:p>
            <a:pPr indent="0" marL="0">
              <a:lnSpc>
                <a:spcPts val="1500"/>
              </a:lnSpc>
              <a:buNone/>
            </a:pPr>
            <a:r>
              <a:rPr lang="en-US" sz="1150" dirty="0">
                <a:solidFill>
                  <a:srgbClr val="241A16"/>
                </a:solidFill>
                <a:latin typeface="Arial" pitchFamily="34" charset="0"/>
                <a:ea typeface="Arial" pitchFamily="34" charset="-122"/>
                <a:cs typeface="Arial" pitchFamily="34" charset="-120"/>
              </a:rPr>
              <a:t>chỉ ra bản chất và quy luật vận động của cách mạng Việt Nam, không dừng ở hiện tượng.</a:t>
            </a:r>
            <a:endParaRPr lang="en-US" sz="1150" dirty="0"/>
          </a:p>
        </p:txBody>
      </p:sp>
      <p:sp>
        <p:nvSpPr>
          <p:cNvPr id="22" name="Shape 19"/>
          <p:cNvSpPr/>
          <p:nvPr/>
        </p:nvSpPr>
        <p:spPr>
          <a:xfrm>
            <a:off x="566928" y="4727448"/>
            <a:ext cx="5760720" cy="1005840"/>
          </a:xfrm>
          <a:prstGeom prst="roundRect">
            <a:avLst>
              <a:gd name="adj" fmla="val 9091"/>
            </a:avLst>
          </a:prstGeom>
          <a:solidFill>
            <a:srgbClr val="FBF1D8"/>
          </a:solidFill>
          <a:ln w="15875">
            <a:solidFill>
              <a:srgbClr val="EEDCB0"/>
            </a:solidFill>
            <a:prstDash val="solid"/>
          </a:ln>
          <a:effectLst>
            <a:outerShdw sx="100000" sy="100000" kx="0" ky="0" algn="bl" rotWithShape="0" blurRad="101600" dist="25400" dir="5400000">
              <a:srgbClr val="9A8C80">
                <a:alpha val="18000"/>
              </a:srgbClr>
            </a:outerShdw>
          </a:effectLst>
        </p:spPr>
      </p:sp>
      <p:sp>
        <p:nvSpPr>
          <p:cNvPr id="23" name="Shape 20"/>
          <p:cNvSpPr/>
          <p:nvPr/>
        </p:nvSpPr>
        <p:spPr>
          <a:xfrm>
            <a:off x="786384" y="4928616"/>
            <a:ext cx="420624" cy="420624"/>
          </a:xfrm>
          <a:prstGeom prst="ellipse">
            <a:avLst/>
          </a:prstGeom>
          <a:solidFill>
            <a:srgbClr val="A8761A"/>
          </a:solidFill>
          <a:ln w="12700">
            <a:solidFill>
              <a:srgbClr val="A8761A"/>
            </a:solidFill>
            <a:prstDash val="solid"/>
          </a:ln>
        </p:spPr>
      </p:sp>
      <p:sp>
        <p:nvSpPr>
          <p:cNvPr id="24" name="Text 21"/>
          <p:cNvSpPr txBox="1"/>
          <p:nvPr/>
        </p:nvSpPr>
        <p:spPr>
          <a:xfrm>
            <a:off x="786384" y="4928616"/>
            <a:ext cx="420624" cy="420624"/>
          </a:xfrm>
          <a:prstGeom prst="rect">
            <a:avLst/>
          </a:prstGeom>
          <a:noFill/>
          <a:ln/>
        </p:spPr>
        <p:txBody>
          <a:bodyPr wrap="square" lIns="0" tIns="0" rIns="0" bIns="0" rtlCol="0" anchor="ctr"/>
          <a:lstStyle/>
          <a:p>
            <a:pPr algn="ctr" indent="0" marL="0">
              <a:buNone/>
            </a:pPr>
            <a:r>
              <a:rPr lang="en-US" sz="1400" b="1" dirty="0">
                <a:solidFill>
                  <a:srgbClr val="E8B02B"/>
                </a:solidFill>
                <a:latin typeface="Arial" pitchFamily="34" charset="0"/>
                <a:ea typeface="Arial" pitchFamily="34" charset="-122"/>
                <a:cs typeface="Arial" pitchFamily="34" charset="-120"/>
              </a:rPr>
              <a:t>4</a:t>
            </a:r>
            <a:endParaRPr lang="en-US" sz="1400" dirty="0"/>
          </a:p>
        </p:txBody>
      </p:sp>
      <p:sp>
        <p:nvSpPr>
          <p:cNvPr id="25" name="Text 22"/>
          <p:cNvSpPr txBox="1"/>
          <p:nvPr/>
        </p:nvSpPr>
        <p:spPr>
          <a:xfrm>
            <a:off x="1335024" y="4892040"/>
            <a:ext cx="4846320" cy="292608"/>
          </a:xfrm>
          <a:prstGeom prst="rect">
            <a:avLst/>
          </a:prstGeom>
          <a:noFill/>
          <a:ln/>
        </p:spPr>
        <p:txBody>
          <a:bodyPr wrap="square" lIns="0" tIns="0" rIns="0" bIns="0" rtlCol="0" anchor="ctr"/>
          <a:lstStyle/>
          <a:p>
            <a:pPr indent="0" marL="0">
              <a:buNone/>
            </a:pPr>
            <a:r>
              <a:rPr lang="en-US" sz="1300" b="1" dirty="0">
                <a:solidFill>
                  <a:srgbClr val="8A6A12"/>
                </a:solidFill>
                <a:latin typeface="Arial" pitchFamily="34" charset="0"/>
                <a:ea typeface="Arial" pitchFamily="34" charset="-122"/>
                <a:cs typeface="Arial" pitchFamily="34" charset="-120"/>
              </a:rPr>
              <a:t>VỀ NHỮNG VẤN ĐỀ CƠ BẢN</a:t>
            </a:r>
            <a:endParaRPr lang="en-US" sz="1300" dirty="0"/>
          </a:p>
        </p:txBody>
      </p:sp>
      <p:sp>
        <p:nvSpPr>
          <p:cNvPr id="26" name="Text 23"/>
          <p:cNvSpPr txBox="1"/>
          <p:nvPr/>
        </p:nvSpPr>
        <p:spPr>
          <a:xfrm>
            <a:off x="1335024" y="5184648"/>
            <a:ext cx="4846320" cy="493776"/>
          </a:xfrm>
          <a:prstGeom prst="rect">
            <a:avLst/>
          </a:prstGeom>
          <a:noFill/>
          <a:ln/>
        </p:spPr>
        <p:txBody>
          <a:bodyPr wrap="square" lIns="0" tIns="0" rIns="0" bIns="0" rtlCol="0" anchor="ctr"/>
          <a:lstStyle/>
          <a:p>
            <a:pPr indent="0" marL="0">
              <a:lnSpc>
                <a:spcPts val="1500"/>
              </a:lnSpc>
              <a:buNone/>
            </a:pPr>
            <a:r>
              <a:rPr lang="en-US" sz="1150" dirty="0">
                <a:solidFill>
                  <a:srgbClr val="241A16"/>
                </a:solidFill>
                <a:latin typeface="Arial" pitchFamily="34" charset="0"/>
                <a:ea typeface="Arial" pitchFamily="34" charset="-122"/>
                <a:cs typeface="Arial" pitchFamily="34" charset="-120"/>
              </a:rPr>
              <a:t>mục tiêu, con đường, lực lượng, phương pháp và tổ chức lực lượng cách mạng.</a:t>
            </a:r>
            <a:endParaRPr lang="en-US" sz="1150" dirty="0"/>
          </a:p>
        </p:txBody>
      </p:sp>
      <p:sp>
        <p:nvSpPr>
          <p:cNvPr id="27" name="Text 24"/>
          <p:cNvSpPr txBox="1"/>
          <p:nvPr/>
        </p:nvSpPr>
        <p:spPr>
          <a:xfrm>
            <a:off x="566928" y="5797296"/>
            <a:ext cx="5760720" cy="329184"/>
          </a:xfrm>
          <a:prstGeom prst="rect">
            <a:avLst/>
          </a:prstGeom>
          <a:noFill/>
          <a:ln/>
        </p:spPr>
        <p:txBody>
          <a:bodyPr wrap="square" lIns="0" tIns="0" rIns="0" bIns="0" rtlCol="0" anchor="ctr"/>
          <a:lstStyle/>
          <a:p>
            <a:pPr indent="0" marL="0">
              <a:buNone/>
            </a:pPr>
            <a:r>
              <a:rPr lang="en-US" sz="1200" b="1" dirty="0">
                <a:solidFill>
                  <a:srgbClr val="8C0D14"/>
                </a:solidFill>
                <a:latin typeface="Arial" pitchFamily="34" charset="0"/>
                <a:ea typeface="Arial" pitchFamily="34" charset="-122"/>
                <a:cs typeface="Arial" pitchFamily="34" charset="-120"/>
              </a:rPr>
              <a:t>Cốt lõi xuyên suốt: ĐỘC LẬP DÂN TỘC GẮN LIỀN VỚI CHỦ NGHĨA XÃ HỘI</a:t>
            </a:r>
            <a:endParaRPr lang="en-US" sz="1200" dirty="0"/>
          </a:p>
        </p:txBody>
      </p:sp>
      <p:pic>
        <p:nvPicPr>
          <p:cNvPr id="28" name="Image 1" descr="img/fig_hethong.png">    </p:cNvPr>
          <p:cNvPicPr>
            <a:picLocks noChangeAspect="1"/>
          </p:cNvPicPr>
          <p:nvPr/>
        </p:nvPicPr>
        <p:blipFill>
          <a:blip r:embed="rId2"/>
          <a:stretch>
            <a:fillRect/>
          </a:stretch>
        </p:blipFill>
        <p:spPr>
          <a:xfrm>
            <a:off x="6656832" y="1316736"/>
            <a:ext cx="4892040" cy="489204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66928" y="310896"/>
            <a:ext cx="8686800" cy="274320"/>
          </a:xfrm>
          <a:prstGeom prst="rect">
            <a:avLst/>
          </a:prstGeom>
          <a:noFill/>
          <a:ln/>
        </p:spPr>
        <p:txBody>
          <a:bodyPr wrap="square" lIns="0" tIns="0" rIns="0" bIns="0" rtlCol="0" anchor="ctr"/>
          <a:lstStyle/>
          <a:p>
            <a:pPr indent="0" marL="0">
              <a:buNone/>
            </a:pPr>
            <a:r>
              <a:rPr lang="en-US" sz="1100" b="1" spc="200" kern="0" dirty="0">
                <a:solidFill>
                  <a:srgbClr val="E8B02B"/>
                </a:solidFill>
                <a:latin typeface="Arial" pitchFamily="34" charset="0"/>
                <a:ea typeface="Arial" pitchFamily="34" charset="-122"/>
                <a:cs typeface="Arial" pitchFamily="34" charset="-120"/>
              </a:rPr>
              <a:t>PHẦN II · NỘI HÀM KHÁI NIỆM</a:t>
            </a:r>
            <a:endParaRPr lang="en-US" sz="1100" dirty="0"/>
          </a:p>
        </p:txBody>
      </p:sp>
      <p:sp>
        <p:nvSpPr>
          <p:cNvPr id="3" name="Text 1"/>
          <p:cNvSpPr txBox="1"/>
          <p:nvPr/>
        </p:nvSpPr>
        <p:spPr>
          <a:xfrm>
            <a:off x="566928" y="6355080"/>
            <a:ext cx="5486400" cy="274320"/>
          </a:xfrm>
          <a:prstGeom prst="rect">
            <a:avLst/>
          </a:prstGeom>
          <a:noFill/>
          <a:ln/>
        </p:spPr>
        <p:txBody>
          <a:bodyPr wrap="square" lIns="0" tIns="0" rIns="0" bIns="0" rtlCol="0" anchor="ctr"/>
          <a:lstStyle/>
          <a:p>
            <a:pPr indent="0" marL="0">
              <a:buNone/>
            </a:pPr>
            <a:r>
              <a:rPr lang="en-US" sz="950" dirty="0">
                <a:solidFill>
                  <a:srgbClr val="A99C90"/>
                </a:solidFill>
                <a:latin typeface="Arial" pitchFamily="34" charset="0"/>
                <a:ea typeface="Arial" pitchFamily="34" charset="-122"/>
                <a:cs typeface="Arial" pitchFamily="34" charset="-120"/>
              </a:rPr>
              <a:t>NHÓM 1  ·  TƯ TƯỞNG HỒ CHÍ MINH</a:t>
            </a:r>
            <a:endParaRPr lang="en-US" sz="950" dirty="0"/>
          </a:p>
        </p:txBody>
      </p:sp>
      <p:sp>
        <p:nvSpPr>
          <p:cNvPr id="4" name="Text 2"/>
          <p:cNvSpPr txBox="1"/>
          <p:nvPr/>
        </p:nvSpPr>
        <p:spPr>
          <a:xfrm>
            <a:off x="11064240" y="6355080"/>
            <a:ext cx="566928" cy="274320"/>
          </a:xfrm>
          <a:prstGeom prst="rect">
            <a:avLst/>
          </a:prstGeom>
          <a:noFill/>
          <a:ln/>
        </p:spPr>
        <p:txBody>
          <a:bodyPr wrap="square" lIns="0" tIns="0" rIns="0" bIns="0" rtlCol="0" anchor="ctr"/>
          <a:lstStyle/>
          <a:p>
            <a:pPr algn="r" indent="0" marL="0">
              <a:buNone/>
            </a:pPr>
            <a:r>
              <a:rPr lang="en-US" sz="1100" b="1" dirty="0">
                <a:solidFill>
                  <a:srgbClr val="8C0D14"/>
                </a:solidFill>
                <a:latin typeface="Arial" pitchFamily="34" charset="0"/>
                <a:ea typeface="Arial" pitchFamily="34" charset="-122"/>
                <a:cs typeface="Arial" pitchFamily="34" charset="-120"/>
              </a:rPr>
              <a:t>6</a:t>
            </a:r>
            <a:endParaRPr lang="en-US" sz="1100" dirty="0"/>
          </a:p>
        </p:txBody>
      </p:sp>
      <p:pic>
        <p:nvPicPr>
          <p:cNvPr id="5" name="Image 0" descr="img/star_gold.png">    </p:cNvPr>
          <p:cNvPicPr>
            <a:picLocks noChangeAspect="1"/>
          </p:cNvPicPr>
          <p:nvPr/>
        </p:nvPicPr>
        <p:blipFill>
          <a:blip r:embed="rId1"/>
          <a:stretch>
            <a:fillRect/>
          </a:stretch>
        </p:blipFill>
        <p:spPr>
          <a:xfrm>
            <a:off x="566928" y="749808"/>
            <a:ext cx="310896" cy="310896"/>
          </a:xfrm>
          <a:prstGeom prst="rect">
            <a:avLst/>
          </a:prstGeom>
        </p:spPr>
      </p:pic>
      <p:sp>
        <p:nvSpPr>
          <p:cNvPr id="6" name="Text 3"/>
          <p:cNvSpPr txBox="1"/>
          <p:nvPr/>
        </p:nvSpPr>
        <p:spPr>
          <a:xfrm>
            <a:off x="1005840" y="658368"/>
            <a:ext cx="10607040" cy="512064"/>
          </a:xfrm>
          <a:prstGeom prst="rect">
            <a:avLst/>
          </a:prstGeom>
          <a:noFill/>
          <a:ln/>
        </p:spPr>
        <p:txBody>
          <a:bodyPr wrap="square" lIns="0" tIns="0" rIns="0" bIns="0" rtlCol="0" anchor="ctr"/>
          <a:lstStyle/>
          <a:p>
            <a:pPr indent="0" marL="0">
              <a:buNone/>
            </a:pPr>
            <a:r>
              <a:rPr lang="en-US" sz="2650" b="1" dirty="0">
                <a:solidFill>
                  <a:srgbClr val="8C0D14"/>
                </a:solidFill>
                <a:latin typeface="Times New Roman" pitchFamily="34" charset="0"/>
                <a:ea typeface="Times New Roman" pitchFamily="34" charset="-122"/>
                <a:cs typeface="Times New Roman" pitchFamily="34" charset="-120"/>
              </a:rPr>
              <a:t>NỘI HÀM (2): NGUỒN GỐC HÌNH THÀNH</a:t>
            </a:r>
            <a:endParaRPr lang="en-US" sz="2650" dirty="0"/>
          </a:p>
        </p:txBody>
      </p:sp>
      <p:pic>
        <p:nvPicPr>
          <p:cNvPr id="7" name="Image 1" descr="img/fig_nguongoc.png">    </p:cNvPr>
          <p:cNvPicPr>
            <a:picLocks noChangeAspect="1"/>
          </p:cNvPicPr>
          <p:nvPr/>
        </p:nvPicPr>
        <p:blipFill>
          <a:blip r:embed="rId2"/>
          <a:stretch>
            <a:fillRect/>
          </a:stretch>
        </p:blipFill>
        <p:spPr>
          <a:xfrm>
            <a:off x="4617720" y="1444752"/>
            <a:ext cx="7086600" cy="4562856"/>
          </a:xfrm>
          <a:prstGeom prst="rect">
            <a:avLst/>
          </a:prstGeom>
        </p:spPr>
      </p:pic>
      <p:sp>
        <p:nvSpPr>
          <p:cNvPr id="8" name="Text 4"/>
          <p:cNvSpPr txBox="1"/>
          <p:nvPr/>
        </p:nvSpPr>
        <p:spPr>
          <a:xfrm>
            <a:off x="566928" y="1389888"/>
            <a:ext cx="3913632" cy="274320"/>
          </a:xfrm>
          <a:prstGeom prst="rect">
            <a:avLst/>
          </a:prstGeom>
          <a:noFill/>
          <a:ln/>
        </p:spPr>
        <p:txBody>
          <a:bodyPr wrap="square" lIns="0" tIns="0" rIns="0" bIns="0" rtlCol="0" anchor="ctr"/>
          <a:lstStyle/>
          <a:p>
            <a:pPr indent="0" marL="0">
              <a:buNone/>
            </a:pPr>
            <a:r>
              <a:rPr lang="en-US" sz="1300" b="1" dirty="0">
                <a:solidFill>
                  <a:srgbClr val="8C0D14"/>
                </a:solidFill>
                <a:latin typeface="Arial" pitchFamily="34" charset="0"/>
                <a:ea typeface="Arial" pitchFamily="34" charset="-122"/>
                <a:cs typeface="Arial" pitchFamily="34" charset="-120"/>
              </a:rPr>
              <a:t>Chủ nghĩa Mác – Lênin</a:t>
            </a:r>
            <a:endParaRPr lang="en-US" sz="1300" dirty="0"/>
          </a:p>
        </p:txBody>
      </p:sp>
      <p:sp>
        <p:nvSpPr>
          <p:cNvPr id="9" name="Text 5"/>
          <p:cNvSpPr txBox="1"/>
          <p:nvPr/>
        </p:nvSpPr>
        <p:spPr>
          <a:xfrm>
            <a:off x="566928" y="1682496"/>
            <a:ext cx="3913632" cy="841248"/>
          </a:xfrm>
          <a:prstGeom prst="rect">
            <a:avLst/>
          </a:prstGeom>
          <a:noFill/>
          <a:ln/>
        </p:spPr>
        <p:txBody>
          <a:bodyPr wrap="square" lIns="0" tIns="0" rIns="0" bIns="0" rtlCol="0" anchor="ctr"/>
          <a:lstStyle/>
          <a:p>
            <a:pPr indent="0" marL="0">
              <a:lnSpc>
                <a:spcPts val="1600"/>
              </a:lnSpc>
              <a:buNone/>
            </a:pPr>
            <a:r>
              <a:rPr lang="en-US" sz="1160" dirty="0">
                <a:solidFill>
                  <a:srgbClr val="241A16"/>
                </a:solidFill>
                <a:latin typeface="Arial" pitchFamily="34" charset="0"/>
                <a:ea typeface="Arial" pitchFamily="34" charset="-122"/>
                <a:cs typeface="Arial" pitchFamily="34" charset="-120"/>
              </a:rPr>
              <a:t>Nguồn gốc lý luận quyết định bản chất khoa học và cách mạng; cung cấp thế giới quan, phương pháp luận. Hồ Chí Minh VẬN DỤNG và PHÁT TRIỂN SÁNG TẠO, không sao chép.</a:t>
            </a:r>
            <a:endParaRPr lang="en-US" sz="1160" dirty="0"/>
          </a:p>
        </p:txBody>
      </p:sp>
      <p:sp>
        <p:nvSpPr>
          <p:cNvPr id="10" name="Text 6"/>
          <p:cNvSpPr txBox="1"/>
          <p:nvPr/>
        </p:nvSpPr>
        <p:spPr>
          <a:xfrm>
            <a:off x="566928" y="2542032"/>
            <a:ext cx="3913632" cy="274320"/>
          </a:xfrm>
          <a:prstGeom prst="rect">
            <a:avLst/>
          </a:prstGeom>
          <a:noFill/>
          <a:ln/>
        </p:spPr>
        <p:txBody>
          <a:bodyPr wrap="square" lIns="0" tIns="0" rIns="0" bIns="0" rtlCol="0" anchor="ctr"/>
          <a:lstStyle/>
          <a:p>
            <a:pPr indent="0" marL="0">
              <a:buNone/>
            </a:pPr>
            <a:r>
              <a:rPr lang="en-US" sz="1300" b="1" dirty="0">
                <a:solidFill>
                  <a:srgbClr val="8C0D14"/>
                </a:solidFill>
                <a:latin typeface="Arial" pitchFamily="34" charset="0"/>
                <a:ea typeface="Arial" pitchFamily="34" charset="-122"/>
                <a:cs typeface="Arial" pitchFamily="34" charset="-120"/>
              </a:rPr>
              <a:t>Giá trị truyền thống dân tộc</a:t>
            </a:r>
            <a:endParaRPr lang="en-US" sz="1300" dirty="0"/>
          </a:p>
        </p:txBody>
      </p:sp>
      <p:sp>
        <p:nvSpPr>
          <p:cNvPr id="11" name="Text 7"/>
          <p:cNvSpPr txBox="1"/>
          <p:nvPr/>
        </p:nvSpPr>
        <p:spPr>
          <a:xfrm>
            <a:off x="566928" y="2834640"/>
            <a:ext cx="3913632" cy="841248"/>
          </a:xfrm>
          <a:prstGeom prst="rect">
            <a:avLst/>
          </a:prstGeom>
          <a:noFill/>
          <a:ln/>
        </p:spPr>
        <p:txBody>
          <a:bodyPr wrap="square" lIns="0" tIns="0" rIns="0" bIns="0" rtlCol="0" anchor="ctr"/>
          <a:lstStyle/>
          <a:p>
            <a:pPr indent="0" marL="0">
              <a:lnSpc>
                <a:spcPts val="1600"/>
              </a:lnSpc>
              <a:buNone/>
            </a:pPr>
            <a:r>
              <a:rPr lang="en-US" sz="1160" dirty="0">
                <a:solidFill>
                  <a:srgbClr val="241A16"/>
                </a:solidFill>
                <a:latin typeface="Arial" pitchFamily="34" charset="0"/>
                <a:ea typeface="Arial" pitchFamily="34" charset="-122"/>
                <a:cs typeface="Arial" pitchFamily="34" charset="-120"/>
              </a:rPr>
              <a:t>Chủ nghĩa yêu nước, tinh thần đoàn kết, nhân nghĩa, khoan dung, cần cù — là cội nguồn trực tiếp và động lực xuất phát.</a:t>
            </a:r>
            <a:endParaRPr lang="en-US" sz="1160" dirty="0"/>
          </a:p>
        </p:txBody>
      </p:sp>
      <p:sp>
        <p:nvSpPr>
          <p:cNvPr id="12" name="Text 8"/>
          <p:cNvSpPr txBox="1"/>
          <p:nvPr/>
        </p:nvSpPr>
        <p:spPr>
          <a:xfrm>
            <a:off x="566928" y="3694176"/>
            <a:ext cx="3913632" cy="274320"/>
          </a:xfrm>
          <a:prstGeom prst="rect">
            <a:avLst/>
          </a:prstGeom>
          <a:noFill/>
          <a:ln/>
        </p:spPr>
        <p:txBody>
          <a:bodyPr wrap="square" lIns="0" tIns="0" rIns="0" bIns="0" rtlCol="0" anchor="ctr"/>
          <a:lstStyle/>
          <a:p>
            <a:pPr indent="0" marL="0">
              <a:buNone/>
            </a:pPr>
            <a:r>
              <a:rPr lang="en-US" sz="1300" b="1" dirty="0">
                <a:solidFill>
                  <a:srgbClr val="8C0D14"/>
                </a:solidFill>
                <a:latin typeface="Arial" pitchFamily="34" charset="0"/>
                <a:ea typeface="Arial" pitchFamily="34" charset="-122"/>
                <a:cs typeface="Arial" pitchFamily="34" charset="-120"/>
              </a:rPr>
              <a:t>Tinh hoa văn hoá nhân loại</a:t>
            </a:r>
            <a:endParaRPr lang="en-US" sz="1300" dirty="0"/>
          </a:p>
        </p:txBody>
      </p:sp>
      <p:sp>
        <p:nvSpPr>
          <p:cNvPr id="13" name="Text 9"/>
          <p:cNvSpPr txBox="1"/>
          <p:nvPr/>
        </p:nvSpPr>
        <p:spPr>
          <a:xfrm>
            <a:off x="566928" y="3986784"/>
            <a:ext cx="3913632" cy="841248"/>
          </a:xfrm>
          <a:prstGeom prst="rect">
            <a:avLst/>
          </a:prstGeom>
          <a:noFill/>
          <a:ln/>
        </p:spPr>
        <p:txBody>
          <a:bodyPr wrap="square" lIns="0" tIns="0" rIns="0" bIns="0" rtlCol="0" anchor="ctr"/>
          <a:lstStyle/>
          <a:p>
            <a:pPr indent="0" marL="0">
              <a:lnSpc>
                <a:spcPts val="1600"/>
              </a:lnSpc>
              <a:buNone/>
            </a:pPr>
            <a:r>
              <a:rPr lang="en-US" sz="1160" dirty="0">
                <a:solidFill>
                  <a:srgbClr val="241A16"/>
                </a:solidFill>
                <a:latin typeface="Arial" pitchFamily="34" charset="0"/>
                <a:ea typeface="Arial" pitchFamily="34" charset="-122"/>
                <a:cs typeface="Arial" pitchFamily="34" charset="-120"/>
              </a:rPr>
              <a:t>Văn hoá phương Đông (Nho, Phật) và phương Tây (tư tưởng dân chủ, nhân quyền của cách mạng Pháp, Mỹ).</a:t>
            </a:r>
            <a:endParaRPr lang="en-US" sz="1160" dirty="0"/>
          </a:p>
        </p:txBody>
      </p:sp>
      <p:sp>
        <p:nvSpPr>
          <p:cNvPr id="14" name="Text 10"/>
          <p:cNvSpPr txBox="1"/>
          <p:nvPr/>
        </p:nvSpPr>
        <p:spPr>
          <a:xfrm>
            <a:off x="566928" y="4846320"/>
            <a:ext cx="3913632" cy="274320"/>
          </a:xfrm>
          <a:prstGeom prst="rect">
            <a:avLst/>
          </a:prstGeom>
          <a:noFill/>
          <a:ln/>
        </p:spPr>
        <p:txBody>
          <a:bodyPr wrap="square" lIns="0" tIns="0" rIns="0" bIns="0" rtlCol="0" anchor="ctr"/>
          <a:lstStyle/>
          <a:p>
            <a:pPr indent="0" marL="0">
              <a:buNone/>
            </a:pPr>
            <a:r>
              <a:rPr lang="en-US" sz="1300" b="1" dirty="0">
                <a:solidFill>
                  <a:srgbClr val="8A6A12"/>
                </a:solidFill>
                <a:latin typeface="Arial" pitchFamily="34" charset="0"/>
                <a:ea typeface="Arial" pitchFamily="34" charset="-122"/>
                <a:cs typeface="Arial" pitchFamily="34" charset="-120"/>
              </a:rPr>
              <a:t>Nhân tố chủ quan Hồ Chí Minh</a:t>
            </a:r>
            <a:endParaRPr lang="en-US" sz="1300" dirty="0"/>
          </a:p>
        </p:txBody>
      </p:sp>
      <p:sp>
        <p:nvSpPr>
          <p:cNvPr id="15" name="Text 11"/>
          <p:cNvSpPr txBox="1"/>
          <p:nvPr/>
        </p:nvSpPr>
        <p:spPr>
          <a:xfrm>
            <a:off x="566928" y="5138928"/>
            <a:ext cx="3913632" cy="841248"/>
          </a:xfrm>
          <a:prstGeom prst="rect">
            <a:avLst/>
          </a:prstGeom>
          <a:noFill/>
          <a:ln/>
        </p:spPr>
        <p:txBody>
          <a:bodyPr wrap="square" lIns="0" tIns="0" rIns="0" bIns="0" rtlCol="0" anchor="ctr"/>
          <a:lstStyle/>
          <a:p>
            <a:pPr indent="0" marL="0">
              <a:lnSpc>
                <a:spcPts val="1600"/>
              </a:lnSpc>
              <a:buNone/>
            </a:pPr>
            <a:r>
              <a:rPr lang="en-US" sz="1160" dirty="0">
                <a:solidFill>
                  <a:srgbClr val="241A16"/>
                </a:solidFill>
                <a:latin typeface="Arial" pitchFamily="34" charset="0"/>
                <a:ea typeface="Arial" pitchFamily="34" charset="-122"/>
                <a:cs typeface="Arial" pitchFamily="34" charset="-120"/>
              </a:rPr>
              <a:t>Tư duy độc lập, sáng tạo; bản lĩnh kiên định; tâm hồn nhà yêu nước và trải nghiệm thực tiễn 30 năm tìm đường cứu nước.</a:t>
            </a:r>
            <a:endParaRPr lang="en-US" sz="116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66928" y="310896"/>
            <a:ext cx="8686800" cy="274320"/>
          </a:xfrm>
          <a:prstGeom prst="rect">
            <a:avLst/>
          </a:prstGeom>
          <a:noFill/>
          <a:ln/>
        </p:spPr>
        <p:txBody>
          <a:bodyPr wrap="square" lIns="0" tIns="0" rIns="0" bIns="0" rtlCol="0" anchor="ctr"/>
          <a:lstStyle/>
          <a:p>
            <a:pPr indent="0" marL="0">
              <a:buNone/>
            </a:pPr>
            <a:r>
              <a:rPr lang="en-US" sz="1100" b="1" spc="200" kern="0" dirty="0">
                <a:solidFill>
                  <a:srgbClr val="E8B02B"/>
                </a:solidFill>
                <a:latin typeface="Arial" pitchFamily="34" charset="0"/>
                <a:ea typeface="Arial" pitchFamily="34" charset="-122"/>
                <a:cs typeface="Arial" pitchFamily="34" charset="-120"/>
              </a:rPr>
              <a:t>PHẦN II · NỘI HÀM KHÁI NIỆM</a:t>
            </a:r>
            <a:endParaRPr lang="en-US" sz="1100" dirty="0"/>
          </a:p>
        </p:txBody>
      </p:sp>
      <p:sp>
        <p:nvSpPr>
          <p:cNvPr id="3" name="Text 1"/>
          <p:cNvSpPr txBox="1"/>
          <p:nvPr/>
        </p:nvSpPr>
        <p:spPr>
          <a:xfrm>
            <a:off x="566928" y="6355080"/>
            <a:ext cx="5486400" cy="274320"/>
          </a:xfrm>
          <a:prstGeom prst="rect">
            <a:avLst/>
          </a:prstGeom>
          <a:noFill/>
          <a:ln/>
        </p:spPr>
        <p:txBody>
          <a:bodyPr wrap="square" lIns="0" tIns="0" rIns="0" bIns="0" rtlCol="0" anchor="ctr"/>
          <a:lstStyle/>
          <a:p>
            <a:pPr indent="0" marL="0">
              <a:buNone/>
            </a:pPr>
            <a:r>
              <a:rPr lang="en-US" sz="950" dirty="0">
                <a:solidFill>
                  <a:srgbClr val="A99C90"/>
                </a:solidFill>
                <a:latin typeface="Arial" pitchFamily="34" charset="0"/>
                <a:ea typeface="Arial" pitchFamily="34" charset="-122"/>
                <a:cs typeface="Arial" pitchFamily="34" charset="-120"/>
              </a:rPr>
              <a:t>NHÓM 1  ·  TƯ TƯỞNG HỒ CHÍ MINH</a:t>
            </a:r>
            <a:endParaRPr lang="en-US" sz="950" dirty="0"/>
          </a:p>
        </p:txBody>
      </p:sp>
      <p:sp>
        <p:nvSpPr>
          <p:cNvPr id="4" name="Text 2"/>
          <p:cNvSpPr txBox="1"/>
          <p:nvPr/>
        </p:nvSpPr>
        <p:spPr>
          <a:xfrm>
            <a:off x="11064240" y="6355080"/>
            <a:ext cx="566928" cy="274320"/>
          </a:xfrm>
          <a:prstGeom prst="rect">
            <a:avLst/>
          </a:prstGeom>
          <a:noFill/>
          <a:ln/>
        </p:spPr>
        <p:txBody>
          <a:bodyPr wrap="square" lIns="0" tIns="0" rIns="0" bIns="0" rtlCol="0" anchor="ctr"/>
          <a:lstStyle/>
          <a:p>
            <a:pPr algn="r" indent="0" marL="0">
              <a:buNone/>
            </a:pPr>
            <a:r>
              <a:rPr lang="en-US" sz="1100" b="1" dirty="0">
                <a:solidFill>
                  <a:srgbClr val="8C0D14"/>
                </a:solidFill>
                <a:latin typeface="Arial" pitchFamily="34" charset="0"/>
                <a:ea typeface="Arial" pitchFamily="34" charset="-122"/>
                <a:cs typeface="Arial" pitchFamily="34" charset="-120"/>
              </a:rPr>
              <a:t>7</a:t>
            </a:r>
            <a:endParaRPr lang="en-US" sz="1100" dirty="0"/>
          </a:p>
        </p:txBody>
      </p:sp>
      <p:pic>
        <p:nvPicPr>
          <p:cNvPr id="5" name="Image 0" descr="img/star_gold.png">    </p:cNvPr>
          <p:cNvPicPr>
            <a:picLocks noChangeAspect="1"/>
          </p:cNvPicPr>
          <p:nvPr/>
        </p:nvPicPr>
        <p:blipFill>
          <a:blip r:embed="rId1"/>
          <a:stretch>
            <a:fillRect/>
          </a:stretch>
        </p:blipFill>
        <p:spPr>
          <a:xfrm>
            <a:off x="566928" y="749808"/>
            <a:ext cx="310896" cy="310896"/>
          </a:xfrm>
          <a:prstGeom prst="rect">
            <a:avLst/>
          </a:prstGeom>
        </p:spPr>
      </p:pic>
      <p:sp>
        <p:nvSpPr>
          <p:cNvPr id="6" name="Text 3"/>
          <p:cNvSpPr txBox="1"/>
          <p:nvPr/>
        </p:nvSpPr>
        <p:spPr>
          <a:xfrm>
            <a:off x="1005840" y="658368"/>
            <a:ext cx="10607040" cy="512064"/>
          </a:xfrm>
          <a:prstGeom prst="rect">
            <a:avLst/>
          </a:prstGeom>
          <a:noFill/>
          <a:ln/>
        </p:spPr>
        <p:txBody>
          <a:bodyPr wrap="square" lIns="0" tIns="0" rIns="0" bIns="0" rtlCol="0" anchor="ctr"/>
          <a:lstStyle/>
          <a:p>
            <a:pPr indent="0" marL="0">
              <a:buNone/>
            </a:pPr>
            <a:r>
              <a:rPr lang="en-US" sz="2650" b="1" dirty="0">
                <a:solidFill>
                  <a:srgbClr val="8C0D14"/>
                </a:solidFill>
                <a:latin typeface="Times New Roman" pitchFamily="34" charset="0"/>
                <a:ea typeface="Times New Roman" pitchFamily="34" charset="-122"/>
                <a:cs typeface="Times New Roman" pitchFamily="34" charset="-120"/>
              </a:rPr>
              <a:t>NỘI HÀM (3): GIÁ TRỊ VÀ Ý NGHĨA</a:t>
            </a:r>
            <a:endParaRPr lang="en-US" sz="2650" dirty="0"/>
          </a:p>
        </p:txBody>
      </p:sp>
      <p:pic>
        <p:nvPicPr>
          <p:cNvPr id="7" name="Image 1" descr="img/fig_giatri.png">    </p:cNvPr>
          <p:cNvPicPr>
            <a:picLocks noChangeAspect="1"/>
          </p:cNvPicPr>
          <p:nvPr/>
        </p:nvPicPr>
        <p:blipFill>
          <a:blip r:embed="rId2"/>
          <a:stretch>
            <a:fillRect/>
          </a:stretch>
        </p:blipFill>
        <p:spPr>
          <a:xfrm>
            <a:off x="5989320" y="1517904"/>
            <a:ext cx="5715000" cy="3703320"/>
          </a:xfrm>
          <a:prstGeom prst="rect">
            <a:avLst/>
          </a:prstGeom>
        </p:spPr>
      </p:pic>
      <p:sp>
        <p:nvSpPr>
          <p:cNvPr id="8" name="Text 4"/>
          <p:cNvSpPr txBox="1"/>
          <p:nvPr/>
        </p:nvSpPr>
        <p:spPr>
          <a:xfrm>
            <a:off x="640080" y="1517904"/>
            <a:ext cx="5166360" cy="3566160"/>
          </a:xfrm>
          <a:prstGeom prst="rect">
            <a:avLst/>
          </a:prstGeom>
          <a:noFill/>
          <a:ln/>
        </p:spPr>
        <p:txBody>
          <a:bodyPr wrap="square" lIns="0" tIns="0" rIns="0" bIns="0" rtlCol="0" anchor="t"/>
          <a:lstStyle/>
          <a:p>
            <a:pPr marL="342900" indent="-342900">
              <a:lnSpc>
                <a:spcPts val="1900"/>
              </a:lnSpc>
              <a:spcAft>
                <a:spcPts val="1100"/>
              </a:spcAft>
              <a:buSzPct val="100000"/>
              <a:buChar char="●"/>
            </a:pPr>
            <a:r>
              <a:rPr lang="en-US" sz="1320" dirty="0">
                <a:solidFill>
                  <a:srgbClr val="241A16"/>
                </a:solidFill>
                <a:latin typeface="Arial" pitchFamily="34" charset="0"/>
                <a:ea typeface="Arial" pitchFamily="34" charset="-122"/>
                <a:cs typeface="Arial" pitchFamily="34" charset="-120"/>
              </a:rPr>
              <a:t>Là TÀI SẢN TINH THẦN VÔ CÙNG TO LỚN VÀ QUÝ GIÁ của Đảng và dân tộc ta — giá trị không chỉ trong quá khứ mà còn cho hiện tại và tương lai.</a:t>
            </a:r>
            <a:endParaRPr lang="en-US" sz="1320" dirty="0"/>
          </a:p>
          <a:p>
            <a:pPr marL="342900" indent="-342900">
              <a:lnSpc>
                <a:spcPts val="1900"/>
              </a:lnSpc>
              <a:spcAft>
                <a:spcPts val="1100"/>
              </a:spcAft>
              <a:buSzPct val="100000"/>
              <a:buChar char="●"/>
            </a:pPr>
            <a:r>
              <a:rPr lang="en-US" sz="1320" dirty="0">
                <a:solidFill>
                  <a:srgbClr val="241A16"/>
                </a:solidFill>
                <a:latin typeface="Arial" pitchFamily="34" charset="0"/>
                <a:ea typeface="Arial" pitchFamily="34" charset="-122"/>
                <a:cs typeface="Arial" pitchFamily="34" charset="-120"/>
              </a:rPr>
              <a:t>MÃI MÃI SOI ĐƯỜNG cho sự nghiệp cách mạng của nhân dân ta: đã dẫn dắt thắng lợi của Cách mạng Tháng Tám 1945, hai cuộc kháng chiến và công cuộc đổi mới từ 1986.</a:t>
            </a:r>
            <a:endParaRPr lang="en-US" sz="1320" dirty="0"/>
          </a:p>
          <a:p>
            <a:pPr marL="342900" indent="-342900">
              <a:lnSpc>
                <a:spcPts val="1900"/>
              </a:lnSpc>
              <a:spcAft>
                <a:spcPts val="1100"/>
              </a:spcAft>
              <a:buSzPct val="100000"/>
              <a:buChar char="●"/>
            </a:pPr>
            <a:r>
              <a:rPr lang="en-US" sz="1320" dirty="0">
                <a:solidFill>
                  <a:srgbClr val="241A16"/>
                </a:solidFill>
                <a:latin typeface="Arial" pitchFamily="34" charset="0"/>
                <a:ea typeface="Arial" pitchFamily="34" charset="-122"/>
                <a:cs typeface="Arial" pitchFamily="34" charset="-120"/>
              </a:rPr>
              <a:t>Cùng chủ nghĩa Mác – Lênin là NỀN TẢNG TƯ TƯỞNG và KIM CHỈ NAM CHO HÀNH ĐỘNG của Đảng.</a:t>
            </a:r>
            <a:endParaRPr lang="en-US" sz="1320" dirty="0"/>
          </a:p>
          <a:p>
            <a:pPr marL="342900" indent="-342900">
              <a:lnSpc>
                <a:spcPts val="1900"/>
              </a:lnSpc>
              <a:spcAft>
                <a:spcPts val="1100"/>
              </a:spcAft>
              <a:buSzPct val="100000"/>
              <a:buChar char="●"/>
            </a:pPr>
            <a:r>
              <a:rPr lang="en-US" sz="1320" dirty="0">
                <a:solidFill>
                  <a:srgbClr val="241A16"/>
                </a:solidFill>
                <a:latin typeface="Arial" pitchFamily="34" charset="0"/>
                <a:ea typeface="Arial" pitchFamily="34" charset="-122"/>
                <a:cs typeface="Arial" pitchFamily="34" charset="-120"/>
              </a:rPr>
              <a:t>Có giá trị quốc tế: năm 1987 UNESCO ra Nghị quyết 24C/18.65 tôn vinh Hồ Chí Minh là Anh hùng giải phóng dân tộc, Nhà văn hoá kiệt xuất của Việt Nam.</a:t>
            </a:r>
            <a:endParaRPr lang="en-US" sz="1320" dirty="0"/>
          </a:p>
        </p:txBody>
      </p:sp>
      <p:sp>
        <p:nvSpPr>
          <p:cNvPr id="9" name="Shape 5"/>
          <p:cNvSpPr/>
          <p:nvPr/>
        </p:nvSpPr>
        <p:spPr>
          <a:xfrm>
            <a:off x="566928" y="5175504"/>
            <a:ext cx="5303520" cy="969264"/>
          </a:xfrm>
          <a:prstGeom prst="roundRect">
            <a:avLst>
              <a:gd name="adj" fmla="val 9434"/>
            </a:avLst>
          </a:prstGeom>
          <a:solidFill>
            <a:srgbClr val="FBF1D8"/>
          </a:solidFill>
          <a:ln w="15875">
            <a:solidFill>
              <a:srgbClr val="E8B02B"/>
            </a:solidFill>
            <a:prstDash val="solid"/>
          </a:ln>
          <a:effectLst>
            <a:outerShdw sx="100000" sy="100000" kx="0" ky="0" algn="bl" rotWithShape="0" blurRad="101600" dist="25400" dir="5400000">
              <a:srgbClr val="9A8C80">
                <a:alpha val="18000"/>
              </a:srgbClr>
            </a:outerShdw>
          </a:effectLst>
        </p:spPr>
      </p:sp>
      <p:sp>
        <p:nvSpPr>
          <p:cNvPr id="10" name="Text 6"/>
          <p:cNvSpPr txBox="1"/>
          <p:nvPr/>
        </p:nvSpPr>
        <p:spPr>
          <a:xfrm>
            <a:off x="841248" y="5321808"/>
            <a:ext cx="4754880" cy="310896"/>
          </a:xfrm>
          <a:prstGeom prst="rect">
            <a:avLst/>
          </a:prstGeom>
          <a:noFill/>
          <a:ln/>
        </p:spPr>
        <p:txBody>
          <a:bodyPr wrap="square" lIns="0" tIns="0" rIns="0" bIns="0" rtlCol="0" anchor="ctr"/>
          <a:lstStyle/>
          <a:p>
            <a:pPr indent="0" marL="0">
              <a:lnSpc>
                <a:spcPts val="1900"/>
              </a:lnSpc>
              <a:buNone/>
            </a:pPr>
            <a:r>
              <a:rPr lang="en-US" sz="1350" i="1" dirty="0">
                <a:solidFill>
                  <a:srgbClr val="241A16"/>
                </a:solidFill>
                <a:latin typeface="Times New Roman" pitchFamily="34" charset="0"/>
                <a:ea typeface="Times New Roman" pitchFamily="34" charset="-122"/>
                <a:cs typeface="Times New Roman" pitchFamily="34" charset="-120"/>
              </a:rPr>
              <a:t>“… mãi mãi soi đường cho sự nghiệp cách mạng của nhân dân ta giành thắng lợi.”</a:t>
            </a:r>
            <a:endParaRPr lang="en-US" sz="1350" dirty="0"/>
          </a:p>
        </p:txBody>
      </p:sp>
      <p:sp>
        <p:nvSpPr>
          <p:cNvPr id="11" name="Text 7"/>
          <p:cNvSpPr txBox="1"/>
          <p:nvPr/>
        </p:nvSpPr>
        <p:spPr>
          <a:xfrm>
            <a:off x="841248" y="5650992"/>
            <a:ext cx="4754880" cy="310896"/>
          </a:xfrm>
          <a:prstGeom prst="rect">
            <a:avLst/>
          </a:prstGeom>
          <a:noFill/>
          <a:ln/>
        </p:spPr>
        <p:txBody>
          <a:bodyPr wrap="square" lIns="0" tIns="0" rIns="0" bIns="0" rtlCol="0" anchor="ctr"/>
          <a:lstStyle/>
          <a:p>
            <a:pPr algn="r" indent="0" marL="0">
              <a:buNone/>
            </a:pPr>
            <a:r>
              <a:rPr lang="en-US" sz="1050" b="1" dirty="0">
                <a:solidFill>
                  <a:srgbClr val="8C0D14"/>
                </a:solidFill>
                <a:latin typeface="Arial" pitchFamily="34" charset="0"/>
                <a:ea typeface="Arial" pitchFamily="34" charset="-122"/>
                <a:cs typeface="Arial" pitchFamily="34" charset="-120"/>
              </a:rPr>
              <a:t>— Cương lĩnh 2011</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66928" y="310896"/>
            <a:ext cx="8686800" cy="274320"/>
          </a:xfrm>
          <a:prstGeom prst="rect">
            <a:avLst/>
          </a:prstGeom>
          <a:noFill/>
          <a:ln/>
        </p:spPr>
        <p:txBody>
          <a:bodyPr wrap="square" lIns="0" tIns="0" rIns="0" bIns="0" rtlCol="0" anchor="ctr"/>
          <a:lstStyle/>
          <a:p>
            <a:pPr indent="0" marL="0">
              <a:buNone/>
            </a:pPr>
            <a:r>
              <a:rPr lang="en-US" sz="1100" b="1" spc="200" kern="0" dirty="0">
                <a:solidFill>
                  <a:srgbClr val="E8B02B"/>
                </a:solidFill>
                <a:latin typeface="Arial" pitchFamily="34" charset="0"/>
                <a:ea typeface="Arial" pitchFamily="34" charset="-122"/>
                <a:cs typeface="Arial" pitchFamily="34" charset="-120"/>
              </a:rPr>
              <a:t>PHẦN III · QUÁ TRÌNH NHẬN THỨC CỦA ĐẢNG</a:t>
            </a:r>
            <a:endParaRPr lang="en-US" sz="1100" dirty="0"/>
          </a:p>
        </p:txBody>
      </p:sp>
      <p:sp>
        <p:nvSpPr>
          <p:cNvPr id="3" name="Text 1"/>
          <p:cNvSpPr txBox="1"/>
          <p:nvPr/>
        </p:nvSpPr>
        <p:spPr>
          <a:xfrm>
            <a:off x="566928" y="6355080"/>
            <a:ext cx="5486400" cy="274320"/>
          </a:xfrm>
          <a:prstGeom prst="rect">
            <a:avLst/>
          </a:prstGeom>
          <a:noFill/>
          <a:ln/>
        </p:spPr>
        <p:txBody>
          <a:bodyPr wrap="square" lIns="0" tIns="0" rIns="0" bIns="0" rtlCol="0" anchor="ctr"/>
          <a:lstStyle/>
          <a:p>
            <a:pPr indent="0" marL="0">
              <a:buNone/>
            </a:pPr>
            <a:r>
              <a:rPr lang="en-US" sz="950" dirty="0">
                <a:solidFill>
                  <a:srgbClr val="A99C90"/>
                </a:solidFill>
                <a:latin typeface="Arial" pitchFamily="34" charset="0"/>
                <a:ea typeface="Arial" pitchFamily="34" charset="-122"/>
                <a:cs typeface="Arial" pitchFamily="34" charset="-120"/>
              </a:rPr>
              <a:t>NHÓM 1  ·  TƯ TƯỞNG HỒ CHÍ MINH</a:t>
            </a:r>
            <a:endParaRPr lang="en-US" sz="950" dirty="0"/>
          </a:p>
        </p:txBody>
      </p:sp>
      <p:sp>
        <p:nvSpPr>
          <p:cNvPr id="4" name="Text 2"/>
          <p:cNvSpPr txBox="1"/>
          <p:nvPr/>
        </p:nvSpPr>
        <p:spPr>
          <a:xfrm>
            <a:off x="11064240" y="6355080"/>
            <a:ext cx="566928" cy="274320"/>
          </a:xfrm>
          <a:prstGeom prst="rect">
            <a:avLst/>
          </a:prstGeom>
          <a:noFill/>
          <a:ln/>
        </p:spPr>
        <p:txBody>
          <a:bodyPr wrap="square" lIns="0" tIns="0" rIns="0" bIns="0" rtlCol="0" anchor="ctr"/>
          <a:lstStyle/>
          <a:p>
            <a:pPr algn="r" indent="0" marL="0">
              <a:buNone/>
            </a:pPr>
            <a:r>
              <a:rPr lang="en-US" sz="1100" b="1" dirty="0">
                <a:solidFill>
                  <a:srgbClr val="8C0D14"/>
                </a:solidFill>
                <a:latin typeface="Arial" pitchFamily="34" charset="0"/>
                <a:ea typeface="Arial" pitchFamily="34" charset="-122"/>
                <a:cs typeface="Arial" pitchFamily="34" charset="-120"/>
              </a:rPr>
              <a:t>8</a:t>
            </a:r>
            <a:endParaRPr lang="en-US" sz="1100" dirty="0"/>
          </a:p>
        </p:txBody>
      </p:sp>
      <p:pic>
        <p:nvPicPr>
          <p:cNvPr id="5" name="Image 0" descr="img/star_gold.png">    </p:cNvPr>
          <p:cNvPicPr>
            <a:picLocks noChangeAspect="1"/>
          </p:cNvPicPr>
          <p:nvPr/>
        </p:nvPicPr>
        <p:blipFill>
          <a:blip r:embed="rId1"/>
          <a:stretch>
            <a:fillRect/>
          </a:stretch>
        </p:blipFill>
        <p:spPr>
          <a:xfrm>
            <a:off x="566928" y="749808"/>
            <a:ext cx="310896" cy="310896"/>
          </a:xfrm>
          <a:prstGeom prst="rect">
            <a:avLst/>
          </a:prstGeom>
        </p:spPr>
      </p:pic>
      <p:sp>
        <p:nvSpPr>
          <p:cNvPr id="6" name="Text 3"/>
          <p:cNvSpPr txBox="1"/>
          <p:nvPr/>
        </p:nvSpPr>
        <p:spPr>
          <a:xfrm>
            <a:off x="1005840" y="658368"/>
            <a:ext cx="10607040" cy="512064"/>
          </a:xfrm>
          <a:prstGeom prst="rect">
            <a:avLst/>
          </a:prstGeom>
          <a:noFill/>
          <a:ln/>
        </p:spPr>
        <p:txBody>
          <a:bodyPr wrap="square" lIns="0" tIns="0" rIns="0" bIns="0" rtlCol="0" anchor="ctr"/>
          <a:lstStyle/>
          <a:p>
            <a:pPr indent="0" marL="0">
              <a:buNone/>
            </a:pPr>
            <a:r>
              <a:rPr lang="en-US" sz="2650" b="1" dirty="0">
                <a:solidFill>
                  <a:srgbClr val="8C0D14"/>
                </a:solidFill>
                <a:latin typeface="Times New Roman" pitchFamily="34" charset="0"/>
                <a:ea typeface="Times New Roman" pitchFamily="34" charset="-122"/>
                <a:cs typeface="Times New Roman" pitchFamily="34" charset="-120"/>
              </a:rPr>
              <a:t>GIAI ĐOẠN 1 (1930 – 1969): VẬN DỤNG TRONG THỰC TIỄN</a:t>
            </a:r>
            <a:endParaRPr lang="en-US" sz="2650" dirty="0"/>
          </a:p>
        </p:txBody>
      </p:sp>
      <p:sp>
        <p:nvSpPr>
          <p:cNvPr id="7" name="Text 4"/>
          <p:cNvSpPr txBox="1"/>
          <p:nvPr/>
        </p:nvSpPr>
        <p:spPr>
          <a:xfrm>
            <a:off x="566928" y="1316736"/>
            <a:ext cx="11064240" cy="384048"/>
          </a:xfrm>
          <a:prstGeom prst="rect">
            <a:avLst/>
          </a:prstGeom>
          <a:noFill/>
          <a:ln/>
        </p:spPr>
        <p:txBody>
          <a:bodyPr wrap="square" lIns="0" tIns="0" rIns="0" bIns="0" rtlCol="0" anchor="ctr"/>
          <a:lstStyle/>
          <a:p>
            <a:pPr indent="0" marL="0">
              <a:lnSpc>
                <a:spcPts val="1700"/>
              </a:lnSpc>
              <a:buNone/>
            </a:pPr>
            <a:r>
              <a:rPr lang="en-US" sz="1250" i="1" dirty="0">
                <a:solidFill>
                  <a:srgbClr val="6E6257"/>
                </a:solidFill>
                <a:latin typeface="Arial" pitchFamily="34" charset="0"/>
                <a:ea typeface="Arial" pitchFamily="34" charset="-122"/>
                <a:cs typeface="Arial" pitchFamily="34" charset="-120"/>
              </a:rPr>
              <a:t>Tư tưởng Hồ Chí Minh dẫn dắt cách mạng trên thực tế, nhưng chưa được khái quát thành một hệ thống lý luận mang tên Người.</a:t>
            </a:r>
            <a:endParaRPr lang="en-US" sz="1250" dirty="0"/>
          </a:p>
        </p:txBody>
      </p:sp>
      <p:sp>
        <p:nvSpPr>
          <p:cNvPr id="8" name="Shape 5"/>
          <p:cNvSpPr/>
          <p:nvPr/>
        </p:nvSpPr>
        <p:spPr>
          <a:xfrm>
            <a:off x="566928" y="1810512"/>
            <a:ext cx="2574036" cy="2121408"/>
          </a:xfrm>
          <a:prstGeom prst="roundRect">
            <a:avLst>
              <a:gd name="adj" fmla="val 4310"/>
            </a:avLst>
          </a:prstGeom>
          <a:solidFill>
            <a:srgbClr val="FFFFFF"/>
          </a:solidFill>
          <a:ln w="15875">
            <a:solidFill>
              <a:srgbClr val="E4DAD0"/>
            </a:solidFill>
            <a:prstDash val="solid"/>
          </a:ln>
          <a:effectLst>
            <a:outerShdw sx="100000" sy="100000" kx="0" ky="0" algn="bl" rotWithShape="0" blurRad="101600" dist="25400" dir="5400000">
              <a:srgbClr val="9A8C80">
                <a:alpha val="18000"/>
              </a:srgbClr>
            </a:outerShdw>
          </a:effectLst>
        </p:spPr>
      </p:sp>
      <p:sp>
        <p:nvSpPr>
          <p:cNvPr id="9" name="Text 6"/>
          <p:cNvSpPr txBox="1"/>
          <p:nvPr/>
        </p:nvSpPr>
        <p:spPr>
          <a:xfrm>
            <a:off x="786384" y="1975104"/>
            <a:ext cx="2135124" cy="310896"/>
          </a:xfrm>
          <a:prstGeom prst="rect">
            <a:avLst/>
          </a:prstGeom>
          <a:noFill/>
          <a:ln/>
        </p:spPr>
        <p:txBody>
          <a:bodyPr wrap="square" lIns="0" tIns="0" rIns="0" bIns="0" rtlCol="0" anchor="ctr"/>
          <a:lstStyle/>
          <a:p>
            <a:pPr indent="0" marL="0">
              <a:buNone/>
            </a:pPr>
            <a:r>
              <a:rPr lang="en-US" sz="1350" b="1" dirty="0">
                <a:solidFill>
                  <a:srgbClr val="8C0D14"/>
                </a:solidFill>
                <a:latin typeface="Arial" pitchFamily="34" charset="0"/>
                <a:ea typeface="Arial" pitchFamily="34" charset="-122"/>
                <a:cs typeface="Arial" pitchFamily="34" charset="-120"/>
              </a:rPr>
              <a:t>2/1930</a:t>
            </a:r>
            <a:endParaRPr lang="en-US" sz="1350" dirty="0"/>
          </a:p>
        </p:txBody>
      </p:sp>
      <p:sp>
        <p:nvSpPr>
          <p:cNvPr id="10" name="Text 7"/>
          <p:cNvSpPr txBox="1"/>
          <p:nvPr/>
        </p:nvSpPr>
        <p:spPr>
          <a:xfrm>
            <a:off x="786384" y="2286000"/>
            <a:ext cx="2135124" cy="475488"/>
          </a:xfrm>
          <a:prstGeom prst="rect">
            <a:avLst/>
          </a:prstGeom>
          <a:noFill/>
          <a:ln/>
        </p:spPr>
        <p:txBody>
          <a:bodyPr wrap="square" lIns="0" tIns="0" rIns="0" bIns="0" rtlCol="0" anchor="ctr"/>
          <a:lstStyle/>
          <a:p>
            <a:pPr indent="0" marL="0">
              <a:lnSpc>
                <a:spcPts val="1600"/>
              </a:lnSpc>
              <a:buNone/>
            </a:pPr>
            <a:r>
              <a:rPr lang="en-US" sz="1200" b="1" dirty="0">
                <a:solidFill>
                  <a:srgbClr val="241A16"/>
                </a:solidFill>
                <a:latin typeface="Arial" pitchFamily="34" charset="0"/>
                <a:ea typeface="Arial" pitchFamily="34" charset="-122"/>
                <a:cs typeface="Arial" pitchFamily="34" charset="-120"/>
              </a:rPr>
              <a:t>Cương lĩnh chính trị đầu tiên</a:t>
            </a:r>
            <a:endParaRPr lang="en-US" sz="1200" dirty="0"/>
          </a:p>
        </p:txBody>
      </p:sp>
      <p:sp>
        <p:nvSpPr>
          <p:cNvPr id="11" name="Text 8"/>
          <p:cNvSpPr txBox="1"/>
          <p:nvPr/>
        </p:nvSpPr>
        <p:spPr>
          <a:xfrm>
            <a:off x="786384" y="2761488"/>
            <a:ext cx="2135124" cy="1078992"/>
          </a:xfrm>
          <a:prstGeom prst="rect">
            <a:avLst/>
          </a:prstGeom>
          <a:noFill/>
          <a:ln/>
        </p:spPr>
        <p:txBody>
          <a:bodyPr wrap="square" lIns="0" tIns="0" rIns="0" bIns="0" rtlCol="0" anchor="ctr"/>
          <a:lstStyle/>
          <a:p>
            <a:pPr indent="0" marL="0">
              <a:lnSpc>
                <a:spcPts val="1550"/>
              </a:lnSpc>
              <a:buNone/>
            </a:pPr>
            <a:r>
              <a:rPr lang="en-US" sz="1130" dirty="0">
                <a:solidFill>
                  <a:srgbClr val="6E6257"/>
                </a:solidFill>
                <a:latin typeface="Arial" pitchFamily="34" charset="0"/>
                <a:ea typeface="Arial" pitchFamily="34" charset="-122"/>
                <a:cs typeface="Arial" pitchFamily="34" charset="-120"/>
              </a:rPr>
              <a:t>Do Nguyễn Ái Quốc soạn thảo, xác định con đường cách mạng giải phóng dân tộc gắn với chủ nghĩa xã hội — tư tưởng của Người trở thành ngọn cờ dẫn đường ngay từ khi Đảng ra đời.</a:t>
            </a:r>
            <a:endParaRPr lang="en-US" sz="1130" dirty="0"/>
          </a:p>
        </p:txBody>
      </p:sp>
      <p:sp>
        <p:nvSpPr>
          <p:cNvPr id="12" name="Shape 9"/>
          <p:cNvSpPr/>
          <p:nvPr/>
        </p:nvSpPr>
        <p:spPr>
          <a:xfrm>
            <a:off x="3396996" y="1810512"/>
            <a:ext cx="2574036" cy="2121408"/>
          </a:xfrm>
          <a:prstGeom prst="roundRect">
            <a:avLst>
              <a:gd name="adj" fmla="val 4310"/>
            </a:avLst>
          </a:prstGeom>
          <a:solidFill>
            <a:srgbClr val="FFFFFF"/>
          </a:solidFill>
          <a:ln w="15875">
            <a:solidFill>
              <a:srgbClr val="E4DAD0"/>
            </a:solidFill>
            <a:prstDash val="solid"/>
          </a:ln>
          <a:effectLst>
            <a:outerShdw sx="100000" sy="100000" kx="0" ky="0" algn="bl" rotWithShape="0" blurRad="101600" dist="25400" dir="5400000">
              <a:srgbClr val="9A8C80">
                <a:alpha val="18000"/>
              </a:srgbClr>
            </a:outerShdw>
          </a:effectLst>
        </p:spPr>
      </p:sp>
      <p:sp>
        <p:nvSpPr>
          <p:cNvPr id="13" name="Text 10"/>
          <p:cNvSpPr txBox="1"/>
          <p:nvPr/>
        </p:nvSpPr>
        <p:spPr>
          <a:xfrm>
            <a:off x="3616452" y="1975104"/>
            <a:ext cx="2135124" cy="310896"/>
          </a:xfrm>
          <a:prstGeom prst="rect">
            <a:avLst/>
          </a:prstGeom>
          <a:noFill/>
          <a:ln/>
        </p:spPr>
        <p:txBody>
          <a:bodyPr wrap="square" lIns="0" tIns="0" rIns="0" bIns="0" rtlCol="0" anchor="ctr"/>
          <a:lstStyle/>
          <a:p>
            <a:pPr indent="0" marL="0">
              <a:buNone/>
            </a:pPr>
            <a:r>
              <a:rPr lang="en-US" sz="1350" b="1" dirty="0">
                <a:solidFill>
                  <a:srgbClr val="8C0D14"/>
                </a:solidFill>
                <a:latin typeface="Arial" pitchFamily="34" charset="0"/>
                <a:ea typeface="Arial" pitchFamily="34" charset="-122"/>
                <a:cs typeface="Arial" pitchFamily="34" charset="-120"/>
              </a:rPr>
              <a:t>1930 – 1941</a:t>
            </a:r>
            <a:endParaRPr lang="en-US" sz="1350" dirty="0"/>
          </a:p>
        </p:txBody>
      </p:sp>
      <p:sp>
        <p:nvSpPr>
          <p:cNvPr id="14" name="Text 11"/>
          <p:cNvSpPr txBox="1"/>
          <p:nvPr/>
        </p:nvSpPr>
        <p:spPr>
          <a:xfrm>
            <a:off x="3616452" y="2286000"/>
            <a:ext cx="2135124" cy="475488"/>
          </a:xfrm>
          <a:prstGeom prst="rect">
            <a:avLst/>
          </a:prstGeom>
          <a:noFill/>
          <a:ln/>
        </p:spPr>
        <p:txBody>
          <a:bodyPr wrap="square" lIns="0" tIns="0" rIns="0" bIns="0" rtlCol="0" anchor="ctr"/>
          <a:lstStyle/>
          <a:p>
            <a:pPr indent="0" marL="0">
              <a:lnSpc>
                <a:spcPts val="1600"/>
              </a:lnSpc>
              <a:buNone/>
            </a:pPr>
            <a:r>
              <a:rPr lang="en-US" sz="1200" b="1" dirty="0">
                <a:solidFill>
                  <a:srgbClr val="241A16"/>
                </a:solidFill>
                <a:latin typeface="Arial" pitchFamily="34" charset="0"/>
                <a:ea typeface="Arial" pitchFamily="34" charset="-122"/>
                <a:cs typeface="Arial" pitchFamily="34" charset="-120"/>
              </a:rPr>
              <a:t>Có lúc chưa được nhận thức đúng</a:t>
            </a:r>
            <a:endParaRPr lang="en-US" sz="1200" dirty="0"/>
          </a:p>
        </p:txBody>
      </p:sp>
      <p:sp>
        <p:nvSpPr>
          <p:cNvPr id="15" name="Text 12"/>
          <p:cNvSpPr txBox="1"/>
          <p:nvPr/>
        </p:nvSpPr>
        <p:spPr>
          <a:xfrm>
            <a:off x="3616452" y="2761488"/>
            <a:ext cx="2135124" cy="1078992"/>
          </a:xfrm>
          <a:prstGeom prst="rect">
            <a:avLst/>
          </a:prstGeom>
          <a:noFill/>
          <a:ln/>
        </p:spPr>
        <p:txBody>
          <a:bodyPr wrap="square" lIns="0" tIns="0" rIns="0" bIns="0" rtlCol="0" anchor="ctr"/>
          <a:lstStyle/>
          <a:p>
            <a:pPr indent="0" marL="0">
              <a:lnSpc>
                <a:spcPts val="1550"/>
              </a:lnSpc>
              <a:buNone/>
            </a:pPr>
            <a:r>
              <a:rPr lang="en-US" sz="1130" dirty="0">
                <a:solidFill>
                  <a:srgbClr val="6E6257"/>
                </a:solidFill>
                <a:latin typeface="Arial" pitchFamily="34" charset="0"/>
                <a:ea typeface="Arial" pitchFamily="34" charset="-122"/>
                <a:cs typeface="Arial" pitchFamily="34" charset="-120"/>
              </a:rPr>
              <a:t>Chịu ảnh hưởng của khuynh hướng “tả” trong Quốc tế Cộng sản, một số quan điểm sáng tạo của Người từng bị coi là “hữu khuynh”, nặng về dân tộc.</a:t>
            </a:r>
            <a:endParaRPr lang="en-US" sz="1130" dirty="0"/>
          </a:p>
        </p:txBody>
      </p:sp>
      <p:sp>
        <p:nvSpPr>
          <p:cNvPr id="16" name="Shape 13"/>
          <p:cNvSpPr/>
          <p:nvPr/>
        </p:nvSpPr>
        <p:spPr>
          <a:xfrm>
            <a:off x="6227064" y="1810512"/>
            <a:ext cx="2574036" cy="2121408"/>
          </a:xfrm>
          <a:prstGeom prst="roundRect">
            <a:avLst>
              <a:gd name="adj" fmla="val 4310"/>
            </a:avLst>
          </a:prstGeom>
          <a:solidFill>
            <a:srgbClr val="FFFFFF"/>
          </a:solidFill>
          <a:ln w="15875">
            <a:solidFill>
              <a:srgbClr val="E4DAD0"/>
            </a:solidFill>
            <a:prstDash val="solid"/>
          </a:ln>
          <a:effectLst>
            <a:outerShdw sx="100000" sy="100000" kx="0" ky="0" algn="bl" rotWithShape="0" blurRad="101600" dist="25400" dir="5400000">
              <a:srgbClr val="9A8C80">
                <a:alpha val="18000"/>
              </a:srgbClr>
            </a:outerShdw>
          </a:effectLst>
        </p:spPr>
      </p:sp>
      <p:sp>
        <p:nvSpPr>
          <p:cNvPr id="17" name="Text 14"/>
          <p:cNvSpPr txBox="1"/>
          <p:nvPr/>
        </p:nvSpPr>
        <p:spPr>
          <a:xfrm>
            <a:off x="6446520" y="1975104"/>
            <a:ext cx="2135124" cy="310896"/>
          </a:xfrm>
          <a:prstGeom prst="rect">
            <a:avLst/>
          </a:prstGeom>
          <a:noFill/>
          <a:ln/>
        </p:spPr>
        <p:txBody>
          <a:bodyPr wrap="square" lIns="0" tIns="0" rIns="0" bIns="0" rtlCol="0" anchor="ctr"/>
          <a:lstStyle/>
          <a:p>
            <a:pPr indent="0" marL="0">
              <a:buNone/>
            </a:pPr>
            <a:r>
              <a:rPr lang="en-US" sz="1350" b="1" dirty="0">
                <a:solidFill>
                  <a:srgbClr val="8C0D14"/>
                </a:solidFill>
                <a:latin typeface="Arial" pitchFamily="34" charset="0"/>
                <a:ea typeface="Arial" pitchFamily="34" charset="-122"/>
                <a:cs typeface="Arial" pitchFamily="34" charset="-120"/>
              </a:rPr>
              <a:t>5/1941 – 1945</a:t>
            </a:r>
            <a:endParaRPr lang="en-US" sz="1350" dirty="0"/>
          </a:p>
        </p:txBody>
      </p:sp>
      <p:sp>
        <p:nvSpPr>
          <p:cNvPr id="18" name="Text 15"/>
          <p:cNvSpPr txBox="1"/>
          <p:nvPr/>
        </p:nvSpPr>
        <p:spPr>
          <a:xfrm>
            <a:off x="6446520" y="2286000"/>
            <a:ext cx="2135124" cy="475488"/>
          </a:xfrm>
          <a:prstGeom prst="rect">
            <a:avLst/>
          </a:prstGeom>
          <a:noFill/>
          <a:ln/>
        </p:spPr>
        <p:txBody>
          <a:bodyPr wrap="square" lIns="0" tIns="0" rIns="0" bIns="0" rtlCol="0" anchor="ctr"/>
          <a:lstStyle/>
          <a:p>
            <a:pPr indent="0" marL="0">
              <a:lnSpc>
                <a:spcPts val="1600"/>
              </a:lnSpc>
              <a:buNone/>
            </a:pPr>
            <a:r>
              <a:rPr lang="en-US" sz="1200" b="1" dirty="0">
                <a:solidFill>
                  <a:srgbClr val="241A16"/>
                </a:solidFill>
                <a:latin typeface="Arial" pitchFamily="34" charset="0"/>
                <a:ea typeface="Arial" pitchFamily="34" charset="-122"/>
                <a:cs typeface="Arial" pitchFamily="34" charset="-120"/>
              </a:rPr>
              <a:t>Trở lại đúng tư tưởng Hồ Chí Minh</a:t>
            </a:r>
            <a:endParaRPr lang="en-US" sz="1200" dirty="0"/>
          </a:p>
        </p:txBody>
      </p:sp>
      <p:sp>
        <p:nvSpPr>
          <p:cNvPr id="19" name="Text 16"/>
          <p:cNvSpPr txBox="1"/>
          <p:nvPr/>
        </p:nvSpPr>
        <p:spPr>
          <a:xfrm>
            <a:off x="6446520" y="2761488"/>
            <a:ext cx="2135124" cy="1078992"/>
          </a:xfrm>
          <a:prstGeom prst="rect">
            <a:avLst/>
          </a:prstGeom>
          <a:noFill/>
          <a:ln/>
        </p:spPr>
        <p:txBody>
          <a:bodyPr wrap="square" lIns="0" tIns="0" rIns="0" bIns="0" rtlCol="0" anchor="ctr"/>
          <a:lstStyle/>
          <a:p>
            <a:pPr indent="0" marL="0">
              <a:lnSpc>
                <a:spcPts val="1550"/>
              </a:lnSpc>
              <a:buNone/>
            </a:pPr>
            <a:r>
              <a:rPr lang="en-US" sz="1130" dirty="0">
                <a:solidFill>
                  <a:srgbClr val="6E6257"/>
                </a:solidFill>
                <a:latin typeface="Arial" pitchFamily="34" charset="0"/>
                <a:ea typeface="Arial" pitchFamily="34" charset="-122"/>
                <a:cs typeface="Arial" pitchFamily="34" charset="-120"/>
              </a:rPr>
              <a:t>Hội nghị Trung ương 8 đặt nhiệm vụ giải phóng dân tộc lên hàng đầu, dẫn tới thắng lợi của Cách mạng Tháng Tám 1945 — thực tiễn kiểm chứng tính đúng đắn.</a:t>
            </a:r>
            <a:endParaRPr lang="en-US" sz="1130" dirty="0"/>
          </a:p>
        </p:txBody>
      </p:sp>
      <p:sp>
        <p:nvSpPr>
          <p:cNvPr id="20" name="Shape 17"/>
          <p:cNvSpPr/>
          <p:nvPr/>
        </p:nvSpPr>
        <p:spPr>
          <a:xfrm>
            <a:off x="9057132" y="1810512"/>
            <a:ext cx="2574036" cy="2121408"/>
          </a:xfrm>
          <a:prstGeom prst="roundRect">
            <a:avLst>
              <a:gd name="adj" fmla="val 4310"/>
            </a:avLst>
          </a:prstGeom>
          <a:solidFill>
            <a:srgbClr val="8C0D14"/>
          </a:solidFill>
          <a:ln w="15875">
            <a:solidFill>
              <a:srgbClr val="8C0D14"/>
            </a:solidFill>
            <a:prstDash val="solid"/>
          </a:ln>
          <a:effectLst>
            <a:outerShdw sx="100000" sy="100000" kx="0" ky="0" algn="bl" rotWithShape="0" blurRad="101600" dist="25400" dir="5400000">
              <a:srgbClr val="9A8C80">
                <a:alpha val="18000"/>
              </a:srgbClr>
            </a:outerShdw>
          </a:effectLst>
        </p:spPr>
      </p:sp>
      <p:sp>
        <p:nvSpPr>
          <p:cNvPr id="21" name="Text 18"/>
          <p:cNvSpPr txBox="1"/>
          <p:nvPr/>
        </p:nvSpPr>
        <p:spPr>
          <a:xfrm>
            <a:off x="9276588" y="1975104"/>
            <a:ext cx="2135124" cy="310896"/>
          </a:xfrm>
          <a:prstGeom prst="rect">
            <a:avLst/>
          </a:prstGeom>
          <a:noFill/>
          <a:ln/>
        </p:spPr>
        <p:txBody>
          <a:bodyPr wrap="square" lIns="0" tIns="0" rIns="0" bIns="0" rtlCol="0" anchor="ctr"/>
          <a:lstStyle/>
          <a:p>
            <a:pPr indent="0" marL="0">
              <a:buNone/>
            </a:pPr>
            <a:r>
              <a:rPr lang="en-US" sz="1350" b="1" dirty="0">
                <a:solidFill>
                  <a:srgbClr val="E8B02B"/>
                </a:solidFill>
                <a:latin typeface="Arial" pitchFamily="34" charset="0"/>
                <a:ea typeface="Arial" pitchFamily="34" charset="-122"/>
                <a:cs typeface="Arial" pitchFamily="34" charset="-120"/>
              </a:rPr>
              <a:t>2/1951</a:t>
            </a:r>
            <a:endParaRPr lang="en-US" sz="1350" dirty="0"/>
          </a:p>
        </p:txBody>
      </p:sp>
      <p:sp>
        <p:nvSpPr>
          <p:cNvPr id="22" name="Text 19"/>
          <p:cNvSpPr txBox="1"/>
          <p:nvPr/>
        </p:nvSpPr>
        <p:spPr>
          <a:xfrm>
            <a:off x="9276588" y="2286000"/>
            <a:ext cx="2135124" cy="475488"/>
          </a:xfrm>
          <a:prstGeom prst="rect">
            <a:avLst/>
          </a:prstGeom>
          <a:noFill/>
          <a:ln/>
        </p:spPr>
        <p:txBody>
          <a:bodyPr wrap="square" lIns="0" tIns="0" rIns="0" bIns="0" rtlCol="0" anchor="ctr"/>
          <a:lstStyle/>
          <a:p>
            <a:pPr indent="0" marL="0">
              <a:lnSpc>
                <a:spcPts val="1600"/>
              </a:lnSpc>
              <a:buNone/>
            </a:pPr>
            <a:r>
              <a:rPr lang="en-US" sz="1200" b="1" dirty="0">
                <a:solidFill>
                  <a:srgbClr val="FFFFFF"/>
                </a:solidFill>
                <a:latin typeface="Arial" pitchFamily="34" charset="0"/>
                <a:ea typeface="Arial" pitchFamily="34" charset="-122"/>
                <a:cs typeface="Arial" pitchFamily="34" charset="-120"/>
              </a:rPr>
              <a:t>Đại hội II của Đảng</a:t>
            </a:r>
            <a:endParaRPr lang="en-US" sz="1200" dirty="0"/>
          </a:p>
        </p:txBody>
      </p:sp>
      <p:sp>
        <p:nvSpPr>
          <p:cNvPr id="23" name="Text 20"/>
          <p:cNvSpPr txBox="1"/>
          <p:nvPr/>
        </p:nvSpPr>
        <p:spPr>
          <a:xfrm>
            <a:off x="9276588" y="2761488"/>
            <a:ext cx="2135124" cy="1078992"/>
          </a:xfrm>
          <a:prstGeom prst="rect">
            <a:avLst/>
          </a:prstGeom>
          <a:noFill/>
          <a:ln/>
        </p:spPr>
        <p:txBody>
          <a:bodyPr wrap="square" lIns="0" tIns="0" rIns="0" bIns="0" rtlCol="0" anchor="ctr"/>
          <a:lstStyle/>
          <a:p>
            <a:pPr indent="0" marL="0">
              <a:lnSpc>
                <a:spcPts val="1550"/>
              </a:lnSpc>
              <a:buNone/>
            </a:pPr>
            <a:r>
              <a:rPr lang="en-US" sz="1130" dirty="0">
                <a:solidFill>
                  <a:srgbClr val="FBE9E4"/>
                </a:solidFill>
                <a:latin typeface="Arial" pitchFamily="34" charset="0"/>
                <a:ea typeface="Arial" pitchFamily="34" charset="-122"/>
                <a:cs typeface="Arial" pitchFamily="34" charset="-120"/>
              </a:rPr>
              <a:t>Lần đầu tiên Đảng chính thức đặt vấn đề học tập Hồ Chủ tịch, nhưng mới ở phạm vi đường lối, tác phong và đạo đức.</a:t>
            </a:r>
            <a:endParaRPr lang="en-US" sz="1130" dirty="0"/>
          </a:p>
        </p:txBody>
      </p:sp>
      <p:sp>
        <p:nvSpPr>
          <p:cNvPr id="24" name="Shape 21"/>
          <p:cNvSpPr/>
          <p:nvPr/>
        </p:nvSpPr>
        <p:spPr>
          <a:xfrm>
            <a:off x="566928" y="4096512"/>
            <a:ext cx="6675120" cy="1188720"/>
          </a:xfrm>
          <a:prstGeom prst="roundRect">
            <a:avLst>
              <a:gd name="adj" fmla="val 7692"/>
            </a:avLst>
          </a:prstGeom>
          <a:solidFill>
            <a:srgbClr val="FBF1D8"/>
          </a:solidFill>
          <a:ln w="15875">
            <a:solidFill>
              <a:srgbClr val="E8B02B"/>
            </a:solidFill>
            <a:prstDash val="solid"/>
          </a:ln>
          <a:effectLst>
            <a:outerShdw sx="100000" sy="100000" kx="0" ky="0" algn="bl" rotWithShape="0" blurRad="101600" dist="25400" dir="5400000">
              <a:srgbClr val="9A8C80">
                <a:alpha val="18000"/>
              </a:srgbClr>
            </a:outerShdw>
          </a:effectLst>
        </p:spPr>
      </p:sp>
      <p:sp>
        <p:nvSpPr>
          <p:cNvPr id="25" name="Text 22"/>
          <p:cNvSpPr txBox="1"/>
          <p:nvPr/>
        </p:nvSpPr>
        <p:spPr>
          <a:xfrm>
            <a:off x="841248" y="4242816"/>
            <a:ext cx="6126480" cy="530352"/>
          </a:xfrm>
          <a:prstGeom prst="rect">
            <a:avLst/>
          </a:prstGeom>
          <a:noFill/>
          <a:ln/>
        </p:spPr>
        <p:txBody>
          <a:bodyPr wrap="square" lIns="0" tIns="0" rIns="0" bIns="0" rtlCol="0" anchor="ctr"/>
          <a:lstStyle/>
          <a:p>
            <a:pPr indent="0" marL="0">
              <a:lnSpc>
                <a:spcPts val="1900"/>
              </a:lnSpc>
              <a:buNone/>
            </a:pPr>
            <a:r>
              <a:rPr lang="en-US" sz="1320" i="1" dirty="0">
                <a:solidFill>
                  <a:srgbClr val="241A16"/>
                </a:solidFill>
                <a:latin typeface="Times New Roman" pitchFamily="34" charset="0"/>
                <a:ea typeface="Times New Roman" pitchFamily="34" charset="-122"/>
                <a:cs typeface="Times New Roman" pitchFamily="34" charset="-120"/>
              </a:rPr>
              <a:t>“Toàn Đảng hãy ra sức học tập đường lối chính trị, tác phong và đạo đức cách mạng của Hồ Chủ tịch.”</a:t>
            </a:r>
            <a:endParaRPr lang="en-US" sz="1320" dirty="0"/>
          </a:p>
        </p:txBody>
      </p:sp>
      <p:sp>
        <p:nvSpPr>
          <p:cNvPr id="26" name="Text 23"/>
          <p:cNvSpPr txBox="1"/>
          <p:nvPr/>
        </p:nvSpPr>
        <p:spPr>
          <a:xfrm>
            <a:off x="841248" y="4791456"/>
            <a:ext cx="6126480" cy="310896"/>
          </a:xfrm>
          <a:prstGeom prst="rect">
            <a:avLst/>
          </a:prstGeom>
          <a:noFill/>
          <a:ln/>
        </p:spPr>
        <p:txBody>
          <a:bodyPr wrap="square" lIns="0" tIns="0" rIns="0" bIns="0" rtlCol="0" anchor="ctr"/>
          <a:lstStyle/>
          <a:p>
            <a:pPr algn="r" indent="0" marL="0">
              <a:buNone/>
            </a:pPr>
            <a:r>
              <a:rPr lang="en-US" sz="1050" b="1" dirty="0">
                <a:solidFill>
                  <a:srgbClr val="8C0D14"/>
                </a:solidFill>
                <a:latin typeface="Arial" pitchFamily="34" charset="0"/>
                <a:ea typeface="Arial" pitchFamily="34" charset="-122"/>
                <a:cs typeface="Arial" pitchFamily="34" charset="-120"/>
              </a:rPr>
              <a:t>— Văn kiện Đại hội II của Đảng, 2/1951</a:t>
            </a:r>
            <a:endParaRPr lang="en-US" sz="1050" dirty="0"/>
          </a:p>
        </p:txBody>
      </p:sp>
      <p:sp>
        <p:nvSpPr>
          <p:cNvPr id="27" name="Text 24"/>
          <p:cNvSpPr txBox="1"/>
          <p:nvPr/>
        </p:nvSpPr>
        <p:spPr>
          <a:xfrm>
            <a:off x="7498080" y="4096512"/>
            <a:ext cx="4133088" cy="274320"/>
          </a:xfrm>
          <a:prstGeom prst="rect">
            <a:avLst/>
          </a:prstGeom>
          <a:noFill/>
          <a:ln/>
        </p:spPr>
        <p:txBody>
          <a:bodyPr wrap="square" lIns="0" tIns="0" rIns="0" bIns="0" rtlCol="0" anchor="ctr"/>
          <a:lstStyle/>
          <a:p>
            <a:pPr indent="0" marL="0">
              <a:buNone/>
            </a:pPr>
            <a:r>
              <a:rPr lang="en-US" sz="1250" b="1" dirty="0">
                <a:solidFill>
                  <a:srgbClr val="8C0D14"/>
                </a:solidFill>
                <a:latin typeface="Arial" pitchFamily="34" charset="0"/>
                <a:ea typeface="Arial" pitchFamily="34" charset="-122"/>
                <a:cs typeface="Arial" pitchFamily="34" charset="-120"/>
              </a:rPr>
              <a:t>Nhận xét giai đoạn 1</a:t>
            </a:r>
            <a:endParaRPr lang="en-US" sz="1250" dirty="0"/>
          </a:p>
        </p:txBody>
      </p:sp>
      <p:sp>
        <p:nvSpPr>
          <p:cNvPr id="28" name="Text 25"/>
          <p:cNvSpPr txBox="1"/>
          <p:nvPr/>
        </p:nvSpPr>
        <p:spPr>
          <a:xfrm>
            <a:off x="7498080" y="4389120"/>
            <a:ext cx="4133088" cy="914400"/>
          </a:xfrm>
          <a:prstGeom prst="rect">
            <a:avLst/>
          </a:prstGeom>
          <a:noFill/>
          <a:ln/>
        </p:spPr>
        <p:txBody>
          <a:bodyPr wrap="square" lIns="0" tIns="0" rIns="0" bIns="0" rtlCol="0" anchor="ctr"/>
          <a:lstStyle/>
          <a:p>
            <a:pPr indent="0" marL="0">
              <a:lnSpc>
                <a:spcPts val="1600"/>
              </a:lnSpc>
              <a:buNone/>
            </a:pPr>
            <a:r>
              <a:rPr lang="en-US" sz="1150" dirty="0">
                <a:solidFill>
                  <a:srgbClr val="241A16"/>
                </a:solidFill>
                <a:latin typeface="Arial" pitchFamily="34" charset="0"/>
                <a:ea typeface="Arial" pitchFamily="34" charset="-122"/>
                <a:cs typeface="Arial" pitchFamily="34" charset="-120"/>
              </a:rPr>
              <a:t>Nhận thức chủ yếu ở tầng thực tiễn và đạo đức — vận dụng đúng nhưng chưa gọi đúng tên, chưa xem tư tưởng của Người là một hệ thống lý luận độc lập.</a:t>
            </a:r>
            <a:endParaRPr lang="en-US" sz="1150" dirty="0"/>
          </a:p>
        </p:txBody>
      </p:sp>
      <p:pic>
        <p:nvPicPr>
          <p:cNvPr id="29" name="Image 1" descr="img/fig_tl1.png">    </p:cNvPr>
          <p:cNvPicPr>
            <a:picLocks noChangeAspect="1"/>
          </p:cNvPicPr>
          <p:nvPr/>
        </p:nvPicPr>
        <p:blipFill>
          <a:blip r:embed="rId2"/>
          <a:stretch>
            <a:fillRect/>
          </a:stretch>
        </p:blipFill>
        <p:spPr>
          <a:xfrm>
            <a:off x="1700784" y="5358384"/>
            <a:ext cx="8778240" cy="969264"/>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66928" y="310896"/>
            <a:ext cx="8686800" cy="274320"/>
          </a:xfrm>
          <a:prstGeom prst="rect">
            <a:avLst/>
          </a:prstGeom>
          <a:noFill/>
          <a:ln/>
        </p:spPr>
        <p:txBody>
          <a:bodyPr wrap="square" lIns="0" tIns="0" rIns="0" bIns="0" rtlCol="0" anchor="ctr"/>
          <a:lstStyle/>
          <a:p>
            <a:pPr indent="0" marL="0">
              <a:buNone/>
            </a:pPr>
            <a:r>
              <a:rPr lang="en-US" sz="1100" b="1" spc="200" kern="0" dirty="0">
                <a:solidFill>
                  <a:srgbClr val="E8B02B"/>
                </a:solidFill>
                <a:latin typeface="Arial" pitchFamily="34" charset="0"/>
                <a:ea typeface="Arial" pitchFamily="34" charset="-122"/>
                <a:cs typeface="Arial" pitchFamily="34" charset="-120"/>
              </a:rPr>
              <a:t>PHẦN III · QUÁ TRÌNH NHẬN THỨC CỦA ĐẢNG</a:t>
            </a:r>
            <a:endParaRPr lang="en-US" sz="1100" dirty="0"/>
          </a:p>
        </p:txBody>
      </p:sp>
      <p:sp>
        <p:nvSpPr>
          <p:cNvPr id="3" name="Text 1"/>
          <p:cNvSpPr txBox="1"/>
          <p:nvPr/>
        </p:nvSpPr>
        <p:spPr>
          <a:xfrm>
            <a:off x="566928" y="6355080"/>
            <a:ext cx="5486400" cy="274320"/>
          </a:xfrm>
          <a:prstGeom prst="rect">
            <a:avLst/>
          </a:prstGeom>
          <a:noFill/>
          <a:ln/>
        </p:spPr>
        <p:txBody>
          <a:bodyPr wrap="square" lIns="0" tIns="0" rIns="0" bIns="0" rtlCol="0" anchor="ctr"/>
          <a:lstStyle/>
          <a:p>
            <a:pPr indent="0" marL="0">
              <a:buNone/>
            </a:pPr>
            <a:r>
              <a:rPr lang="en-US" sz="950" dirty="0">
                <a:solidFill>
                  <a:srgbClr val="A99C90"/>
                </a:solidFill>
                <a:latin typeface="Arial" pitchFamily="34" charset="0"/>
                <a:ea typeface="Arial" pitchFamily="34" charset="-122"/>
                <a:cs typeface="Arial" pitchFamily="34" charset="-120"/>
              </a:rPr>
              <a:t>NHÓM 1  ·  TƯ TƯỞNG HỒ CHÍ MINH</a:t>
            </a:r>
            <a:endParaRPr lang="en-US" sz="950" dirty="0"/>
          </a:p>
        </p:txBody>
      </p:sp>
      <p:sp>
        <p:nvSpPr>
          <p:cNvPr id="4" name="Text 2"/>
          <p:cNvSpPr txBox="1"/>
          <p:nvPr/>
        </p:nvSpPr>
        <p:spPr>
          <a:xfrm>
            <a:off x="11064240" y="6355080"/>
            <a:ext cx="566928" cy="274320"/>
          </a:xfrm>
          <a:prstGeom prst="rect">
            <a:avLst/>
          </a:prstGeom>
          <a:noFill/>
          <a:ln/>
        </p:spPr>
        <p:txBody>
          <a:bodyPr wrap="square" lIns="0" tIns="0" rIns="0" bIns="0" rtlCol="0" anchor="ctr"/>
          <a:lstStyle/>
          <a:p>
            <a:pPr algn="r" indent="0" marL="0">
              <a:buNone/>
            </a:pPr>
            <a:r>
              <a:rPr lang="en-US" sz="1100" b="1" dirty="0">
                <a:solidFill>
                  <a:srgbClr val="8C0D14"/>
                </a:solidFill>
                <a:latin typeface="Arial" pitchFamily="34" charset="0"/>
                <a:ea typeface="Arial" pitchFamily="34" charset="-122"/>
                <a:cs typeface="Arial" pitchFamily="34" charset="-120"/>
              </a:rPr>
              <a:t>9</a:t>
            </a:r>
            <a:endParaRPr lang="en-US" sz="1100" dirty="0"/>
          </a:p>
        </p:txBody>
      </p:sp>
      <p:pic>
        <p:nvPicPr>
          <p:cNvPr id="5" name="Image 0" descr="img/star_gold.png">    </p:cNvPr>
          <p:cNvPicPr>
            <a:picLocks noChangeAspect="1"/>
          </p:cNvPicPr>
          <p:nvPr/>
        </p:nvPicPr>
        <p:blipFill>
          <a:blip r:embed="rId1"/>
          <a:stretch>
            <a:fillRect/>
          </a:stretch>
        </p:blipFill>
        <p:spPr>
          <a:xfrm>
            <a:off x="566928" y="749808"/>
            <a:ext cx="310896" cy="310896"/>
          </a:xfrm>
          <a:prstGeom prst="rect">
            <a:avLst/>
          </a:prstGeom>
        </p:spPr>
      </p:pic>
      <p:sp>
        <p:nvSpPr>
          <p:cNvPr id="6" name="Text 3"/>
          <p:cNvSpPr txBox="1"/>
          <p:nvPr/>
        </p:nvSpPr>
        <p:spPr>
          <a:xfrm>
            <a:off x="1005840" y="658368"/>
            <a:ext cx="10607040" cy="512064"/>
          </a:xfrm>
          <a:prstGeom prst="rect">
            <a:avLst/>
          </a:prstGeom>
          <a:noFill/>
          <a:ln/>
        </p:spPr>
        <p:txBody>
          <a:bodyPr wrap="square" lIns="0" tIns="0" rIns="0" bIns="0" rtlCol="0" anchor="ctr"/>
          <a:lstStyle/>
          <a:p>
            <a:pPr indent="0" marL="0">
              <a:buNone/>
            </a:pPr>
            <a:r>
              <a:rPr lang="en-US" sz="2650" b="1" dirty="0">
                <a:solidFill>
                  <a:srgbClr val="8C0D14"/>
                </a:solidFill>
                <a:latin typeface="Times New Roman" pitchFamily="34" charset="0"/>
                <a:ea typeface="Times New Roman" pitchFamily="34" charset="-122"/>
                <a:cs typeface="Times New Roman" pitchFamily="34" charset="-120"/>
              </a:rPr>
              <a:t>GIAI ĐOẠN 2 (1969 – 1986): HỌC TẬP ĐẠO ĐỨC, TÁC PHONG</a:t>
            </a:r>
            <a:endParaRPr lang="en-US" sz="2650" dirty="0"/>
          </a:p>
        </p:txBody>
      </p:sp>
      <p:sp>
        <p:nvSpPr>
          <p:cNvPr id="7" name="Text 4"/>
          <p:cNvSpPr txBox="1"/>
          <p:nvPr/>
        </p:nvSpPr>
        <p:spPr>
          <a:xfrm>
            <a:off x="566928" y="1316736"/>
            <a:ext cx="11064240" cy="384048"/>
          </a:xfrm>
          <a:prstGeom prst="rect">
            <a:avLst/>
          </a:prstGeom>
          <a:noFill/>
          <a:ln/>
        </p:spPr>
        <p:txBody>
          <a:bodyPr wrap="square" lIns="0" tIns="0" rIns="0" bIns="0" rtlCol="0" anchor="ctr"/>
          <a:lstStyle/>
          <a:p>
            <a:pPr indent="0" marL="0">
              <a:lnSpc>
                <a:spcPts val="1700"/>
              </a:lnSpc>
              <a:buNone/>
            </a:pPr>
            <a:r>
              <a:rPr lang="en-US" sz="1250" i="1" dirty="0">
                <a:solidFill>
                  <a:srgbClr val="6E6257"/>
                </a:solidFill>
                <a:latin typeface="Arial" pitchFamily="34" charset="0"/>
                <a:ea typeface="Arial" pitchFamily="34" charset="-122"/>
                <a:cs typeface="Arial" pitchFamily="34" charset="-120"/>
              </a:rPr>
              <a:t>Sau khi Chủ tịch Hồ Chí Minh qua đời, Đảng đẩy mạnh học tập và nghiên cứu di sản của Người, nhưng nhận thức lý luận vẫn còn hạn chế.</a:t>
            </a:r>
            <a:endParaRPr lang="en-US" sz="1250" dirty="0"/>
          </a:p>
        </p:txBody>
      </p:sp>
      <p:sp>
        <p:nvSpPr>
          <p:cNvPr id="8" name="Shape 5"/>
          <p:cNvSpPr/>
          <p:nvPr/>
        </p:nvSpPr>
        <p:spPr>
          <a:xfrm>
            <a:off x="566928" y="1810512"/>
            <a:ext cx="2574036" cy="2121408"/>
          </a:xfrm>
          <a:prstGeom prst="roundRect">
            <a:avLst>
              <a:gd name="adj" fmla="val 4310"/>
            </a:avLst>
          </a:prstGeom>
          <a:solidFill>
            <a:srgbClr val="FFFFFF"/>
          </a:solidFill>
          <a:ln w="15875">
            <a:solidFill>
              <a:srgbClr val="E4DAD0"/>
            </a:solidFill>
            <a:prstDash val="solid"/>
          </a:ln>
          <a:effectLst>
            <a:outerShdw sx="100000" sy="100000" kx="0" ky="0" algn="bl" rotWithShape="0" blurRad="101600" dist="25400" dir="5400000">
              <a:srgbClr val="9A8C80">
                <a:alpha val="18000"/>
              </a:srgbClr>
            </a:outerShdw>
          </a:effectLst>
        </p:spPr>
      </p:sp>
      <p:sp>
        <p:nvSpPr>
          <p:cNvPr id="9" name="Text 6"/>
          <p:cNvSpPr txBox="1"/>
          <p:nvPr/>
        </p:nvSpPr>
        <p:spPr>
          <a:xfrm>
            <a:off x="786384" y="1975104"/>
            <a:ext cx="2135124" cy="310896"/>
          </a:xfrm>
          <a:prstGeom prst="rect">
            <a:avLst/>
          </a:prstGeom>
          <a:noFill/>
          <a:ln/>
        </p:spPr>
        <p:txBody>
          <a:bodyPr wrap="square" lIns="0" tIns="0" rIns="0" bIns="0" rtlCol="0" anchor="ctr"/>
          <a:lstStyle/>
          <a:p>
            <a:pPr indent="0" marL="0">
              <a:buNone/>
            </a:pPr>
            <a:r>
              <a:rPr lang="en-US" sz="1350" b="1" dirty="0">
                <a:solidFill>
                  <a:srgbClr val="8C0D14"/>
                </a:solidFill>
                <a:latin typeface="Arial" pitchFamily="34" charset="0"/>
                <a:ea typeface="Arial" pitchFamily="34" charset="-122"/>
                <a:cs typeface="Arial" pitchFamily="34" charset="-120"/>
              </a:rPr>
              <a:t>9/1969</a:t>
            </a:r>
            <a:endParaRPr lang="en-US" sz="1350" dirty="0"/>
          </a:p>
        </p:txBody>
      </p:sp>
      <p:sp>
        <p:nvSpPr>
          <p:cNvPr id="10" name="Text 7"/>
          <p:cNvSpPr txBox="1"/>
          <p:nvPr/>
        </p:nvSpPr>
        <p:spPr>
          <a:xfrm>
            <a:off x="786384" y="2286000"/>
            <a:ext cx="2135124" cy="475488"/>
          </a:xfrm>
          <a:prstGeom prst="rect">
            <a:avLst/>
          </a:prstGeom>
          <a:noFill/>
          <a:ln/>
        </p:spPr>
        <p:txBody>
          <a:bodyPr wrap="square" lIns="0" tIns="0" rIns="0" bIns="0" rtlCol="0" anchor="ctr"/>
          <a:lstStyle/>
          <a:p>
            <a:pPr indent="0" marL="0">
              <a:lnSpc>
                <a:spcPts val="1600"/>
              </a:lnSpc>
              <a:buNone/>
            </a:pPr>
            <a:r>
              <a:rPr lang="en-US" sz="1200" b="1" dirty="0">
                <a:solidFill>
                  <a:srgbClr val="241A16"/>
                </a:solidFill>
                <a:latin typeface="Arial" pitchFamily="34" charset="0"/>
                <a:ea typeface="Arial" pitchFamily="34" charset="-122"/>
                <a:cs typeface="Arial" pitchFamily="34" charset="-120"/>
              </a:rPr>
              <a:t>Điếu văn của Ban Chấp hành Trung ương</a:t>
            </a:r>
            <a:endParaRPr lang="en-US" sz="1200" dirty="0"/>
          </a:p>
        </p:txBody>
      </p:sp>
      <p:sp>
        <p:nvSpPr>
          <p:cNvPr id="11" name="Text 8"/>
          <p:cNvSpPr txBox="1"/>
          <p:nvPr/>
        </p:nvSpPr>
        <p:spPr>
          <a:xfrm>
            <a:off x="786384" y="2761488"/>
            <a:ext cx="2135124" cy="1078992"/>
          </a:xfrm>
          <a:prstGeom prst="rect">
            <a:avLst/>
          </a:prstGeom>
          <a:noFill/>
          <a:ln/>
        </p:spPr>
        <p:txBody>
          <a:bodyPr wrap="square" lIns="0" tIns="0" rIns="0" bIns="0" rtlCol="0" anchor="ctr"/>
          <a:lstStyle/>
          <a:p>
            <a:pPr indent="0" marL="0">
              <a:lnSpc>
                <a:spcPts val="1550"/>
              </a:lnSpc>
              <a:buNone/>
            </a:pPr>
            <a:r>
              <a:rPr lang="en-US" sz="1130" dirty="0">
                <a:solidFill>
                  <a:srgbClr val="6E6257"/>
                </a:solidFill>
                <a:latin typeface="Arial" pitchFamily="34" charset="0"/>
                <a:ea typeface="Arial" pitchFamily="34" charset="-122"/>
                <a:cs typeface="Arial" pitchFamily="34" charset="-120"/>
              </a:rPr>
              <a:t>Khẳng định tầm vóc lịch sử của Người và đặt nhiệm vụ suốt đời học tập đạo đức, tác phong Hồ Chủ tịch.</a:t>
            </a:r>
            <a:endParaRPr lang="en-US" sz="1130" dirty="0"/>
          </a:p>
        </p:txBody>
      </p:sp>
      <p:sp>
        <p:nvSpPr>
          <p:cNvPr id="12" name="Shape 9"/>
          <p:cNvSpPr/>
          <p:nvPr/>
        </p:nvSpPr>
        <p:spPr>
          <a:xfrm>
            <a:off x="3396996" y="1810512"/>
            <a:ext cx="2574036" cy="2121408"/>
          </a:xfrm>
          <a:prstGeom prst="roundRect">
            <a:avLst>
              <a:gd name="adj" fmla="val 4310"/>
            </a:avLst>
          </a:prstGeom>
          <a:solidFill>
            <a:srgbClr val="FFFFFF"/>
          </a:solidFill>
          <a:ln w="15875">
            <a:solidFill>
              <a:srgbClr val="E4DAD0"/>
            </a:solidFill>
            <a:prstDash val="solid"/>
          </a:ln>
          <a:effectLst>
            <a:outerShdw sx="100000" sy="100000" kx="0" ky="0" algn="bl" rotWithShape="0" blurRad="101600" dist="25400" dir="5400000">
              <a:srgbClr val="9A8C80">
                <a:alpha val="18000"/>
              </a:srgbClr>
            </a:outerShdw>
          </a:effectLst>
        </p:spPr>
      </p:sp>
      <p:sp>
        <p:nvSpPr>
          <p:cNvPr id="13" name="Text 10"/>
          <p:cNvSpPr txBox="1"/>
          <p:nvPr/>
        </p:nvSpPr>
        <p:spPr>
          <a:xfrm>
            <a:off x="3616452" y="1975104"/>
            <a:ext cx="2135124" cy="310896"/>
          </a:xfrm>
          <a:prstGeom prst="rect">
            <a:avLst/>
          </a:prstGeom>
          <a:noFill/>
          <a:ln/>
        </p:spPr>
        <p:txBody>
          <a:bodyPr wrap="square" lIns="0" tIns="0" rIns="0" bIns="0" rtlCol="0" anchor="ctr"/>
          <a:lstStyle/>
          <a:p>
            <a:pPr indent="0" marL="0">
              <a:buNone/>
            </a:pPr>
            <a:r>
              <a:rPr lang="en-US" sz="1350" b="1" dirty="0">
                <a:solidFill>
                  <a:srgbClr val="8C0D14"/>
                </a:solidFill>
                <a:latin typeface="Arial" pitchFamily="34" charset="0"/>
                <a:ea typeface="Arial" pitchFamily="34" charset="-122"/>
                <a:cs typeface="Arial" pitchFamily="34" charset="-120"/>
              </a:rPr>
              <a:t>1976</a:t>
            </a:r>
            <a:endParaRPr lang="en-US" sz="1350" dirty="0"/>
          </a:p>
        </p:txBody>
      </p:sp>
      <p:sp>
        <p:nvSpPr>
          <p:cNvPr id="14" name="Text 11"/>
          <p:cNvSpPr txBox="1"/>
          <p:nvPr/>
        </p:nvSpPr>
        <p:spPr>
          <a:xfrm>
            <a:off x="3616452" y="2286000"/>
            <a:ext cx="2135124" cy="475488"/>
          </a:xfrm>
          <a:prstGeom prst="rect">
            <a:avLst/>
          </a:prstGeom>
          <a:noFill/>
          <a:ln/>
        </p:spPr>
        <p:txBody>
          <a:bodyPr wrap="square" lIns="0" tIns="0" rIns="0" bIns="0" rtlCol="0" anchor="ctr"/>
          <a:lstStyle/>
          <a:p>
            <a:pPr indent="0" marL="0">
              <a:lnSpc>
                <a:spcPts val="1600"/>
              </a:lnSpc>
              <a:buNone/>
            </a:pPr>
            <a:r>
              <a:rPr lang="en-US" sz="1200" b="1" dirty="0">
                <a:solidFill>
                  <a:srgbClr val="241A16"/>
                </a:solidFill>
                <a:latin typeface="Arial" pitchFamily="34" charset="0"/>
                <a:ea typeface="Arial" pitchFamily="34" charset="-122"/>
                <a:cs typeface="Arial" pitchFamily="34" charset="-120"/>
              </a:rPr>
              <a:t>Đại hội IV</a:t>
            </a:r>
            <a:endParaRPr lang="en-US" sz="1200" dirty="0"/>
          </a:p>
        </p:txBody>
      </p:sp>
      <p:sp>
        <p:nvSpPr>
          <p:cNvPr id="15" name="Text 12"/>
          <p:cNvSpPr txBox="1"/>
          <p:nvPr/>
        </p:nvSpPr>
        <p:spPr>
          <a:xfrm>
            <a:off x="3616452" y="2761488"/>
            <a:ext cx="2135124" cy="1078992"/>
          </a:xfrm>
          <a:prstGeom prst="rect">
            <a:avLst/>
          </a:prstGeom>
          <a:noFill/>
          <a:ln/>
        </p:spPr>
        <p:txBody>
          <a:bodyPr wrap="square" lIns="0" tIns="0" rIns="0" bIns="0" rtlCol="0" anchor="ctr"/>
          <a:lstStyle/>
          <a:p>
            <a:pPr indent="0" marL="0">
              <a:lnSpc>
                <a:spcPts val="1550"/>
              </a:lnSpc>
              <a:buNone/>
            </a:pPr>
            <a:r>
              <a:rPr lang="en-US" sz="1130" dirty="0">
                <a:solidFill>
                  <a:srgbClr val="6E6257"/>
                </a:solidFill>
                <a:latin typeface="Arial" pitchFamily="34" charset="0"/>
                <a:ea typeface="Arial" pitchFamily="34" charset="-122"/>
                <a:cs typeface="Arial" pitchFamily="34" charset="-120"/>
              </a:rPr>
              <a:t>Khẳng định thắng lợi của cách mạng Việt Nam gắn liền với tên tuổi Chủ tịch Hồ Chí Minh; nêu yêu cầu học tập và làm theo gương Người.</a:t>
            </a:r>
            <a:endParaRPr lang="en-US" sz="1130" dirty="0"/>
          </a:p>
        </p:txBody>
      </p:sp>
      <p:sp>
        <p:nvSpPr>
          <p:cNvPr id="16" name="Shape 13"/>
          <p:cNvSpPr/>
          <p:nvPr/>
        </p:nvSpPr>
        <p:spPr>
          <a:xfrm>
            <a:off x="6227064" y="1810512"/>
            <a:ext cx="2574036" cy="2121408"/>
          </a:xfrm>
          <a:prstGeom prst="roundRect">
            <a:avLst>
              <a:gd name="adj" fmla="val 4310"/>
            </a:avLst>
          </a:prstGeom>
          <a:solidFill>
            <a:srgbClr val="FFFFFF"/>
          </a:solidFill>
          <a:ln w="15875">
            <a:solidFill>
              <a:srgbClr val="E4DAD0"/>
            </a:solidFill>
            <a:prstDash val="solid"/>
          </a:ln>
          <a:effectLst>
            <a:outerShdw sx="100000" sy="100000" kx="0" ky="0" algn="bl" rotWithShape="0" blurRad="101600" dist="25400" dir="5400000">
              <a:srgbClr val="9A8C80">
                <a:alpha val="18000"/>
              </a:srgbClr>
            </a:outerShdw>
          </a:effectLst>
        </p:spPr>
      </p:sp>
      <p:sp>
        <p:nvSpPr>
          <p:cNvPr id="17" name="Text 14"/>
          <p:cNvSpPr txBox="1"/>
          <p:nvPr/>
        </p:nvSpPr>
        <p:spPr>
          <a:xfrm>
            <a:off x="6446520" y="1975104"/>
            <a:ext cx="2135124" cy="310896"/>
          </a:xfrm>
          <a:prstGeom prst="rect">
            <a:avLst/>
          </a:prstGeom>
          <a:noFill/>
          <a:ln/>
        </p:spPr>
        <p:txBody>
          <a:bodyPr wrap="square" lIns="0" tIns="0" rIns="0" bIns="0" rtlCol="0" anchor="ctr"/>
          <a:lstStyle/>
          <a:p>
            <a:pPr indent="0" marL="0">
              <a:buNone/>
            </a:pPr>
            <a:r>
              <a:rPr lang="en-US" sz="1350" b="1" dirty="0">
                <a:solidFill>
                  <a:srgbClr val="8C0D14"/>
                </a:solidFill>
                <a:latin typeface="Arial" pitchFamily="34" charset="0"/>
                <a:ea typeface="Arial" pitchFamily="34" charset="-122"/>
                <a:cs typeface="Arial" pitchFamily="34" charset="-120"/>
              </a:rPr>
              <a:t>1982</a:t>
            </a:r>
            <a:endParaRPr lang="en-US" sz="1350" dirty="0"/>
          </a:p>
        </p:txBody>
      </p:sp>
      <p:sp>
        <p:nvSpPr>
          <p:cNvPr id="18" name="Text 15"/>
          <p:cNvSpPr txBox="1"/>
          <p:nvPr/>
        </p:nvSpPr>
        <p:spPr>
          <a:xfrm>
            <a:off x="6446520" y="2286000"/>
            <a:ext cx="2135124" cy="475488"/>
          </a:xfrm>
          <a:prstGeom prst="rect">
            <a:avLst/>
          </a:prstGeom>
          <a:noFill/>
          <a:ln/>
        </p:spPr>
        <p:txBody>
          <a:bodyPr wrap="square" lIns="0" tIns="0" rIns="0" bIns="0" rtlCol="0" anchor="ctr"/>
          <a:lstStyle/>
          <a:p>
            <a:pPr indent="0" marL="0">
              <a:lnSpc>
                <a:spcPts val="1600"/>
              </a:lnSpc>
              <a:buNone/>
            </a:pPr>
            <a:r>
              <a:rPr lang="en-US" sz="1200" b="1" dirty="0">
                <a:solidFill>
                  <a:srgbClr val="241A16"/>
                </a:solidFill>
                <a:latin typeface="Arial" pitchFamily="34" charset="0"/>
                <a:ea typeface="Arial" pitchFamily="34" charset="-122"/>
                <a:cs typeface="Arial" pitchFamily="34" charset="-120"/>
              </a:rPr>
              <a:t>Đại hội V</a:t>
            </a:r>
            <a:endParaRPr lang="en-US" sz="1200" dirty="0"/>
          </a:p>
        </p:txBody>
      </p:sp>
      <p:sp>
        <p:nvSpPr>
          <p:cNvPr id="19" name="Text 16"/>
          <p:cNvSpPr txBox="1"/>
          <p:nvPr/>
        </p:nvSpPr>
        <p:spPr>
          <a:xfrm>
            <a:off x="6446520" y="2761488"/>
            <a:ext cx="2135124" cy="1078992"/>
          </a:xfrm>
          <a:prstGeom prst="rect">
            <a:avLst/>
          </a:prstGeom>
          <a:noFill/>
          <a:ln/>
        </p:spPr>
        <p:txBody>
          <a:bodyPr wrap="square" lIns="0" tIns="0" rIns="0" bIns="0" rtlCol="0" anchor="ctr"/>
          <a:lstStyle/>
          <a:p>
            <a:pPr indent="0" marL="0">
              <a:lnSpc>
                <a:spcPts val="1550"/>
              </a:lnSpc>
              <a:buNone/>
            </a:pPr>
            <a:r>
              <a:rPr lang="en-US" sz="1130" dirty="0">
                <a:solidFill>
                  <a:srgbClr val="6E6257"/>
                </a:solidFill>
                <a:latin typeface="Arial" pitchFamily="34" charset="0"/>
                <a:ea typeface="Arial" pitchFamily="34" charset="-122"/>
                <a:cs typeface="Arial" pitchFamily="34" charset="-120"/>
              </a:rPr>
              <a:t>Chủ trương tổ chức học tập một cách có hệ thống tư tưởng, đạo đức, tác phong của Chủ tịch Hồ Chí Minh trong toàn Đảng, toàn dân.</a:t>
            </a:r>
            <a:endParaRPr lang="en-US" sz="1130" dirty="0"/>
          </a:p>
        </p:txBody>
      </p:sp>
      <p:sp>
        <p:nvSpPr>
          <p:cNvPr id="20" name="Shape 17"/>
          <p:cNvSpPr/>
          <p:nvPr/>
        </p:nvSpPr>
        <p:spPr>
          <a:xfrm>
            <a:off x="9057132" y="1810512"/>
            <a:ext cx="2574036" cy="2121408"/>
          </a:xfrm>
          <a:prstGeom prst="roundRect">
            <a:avLst>
              <a:gd name="adj" fmla="val 4310"/>
            </a:avLst>
          </a:prstGeom>
          <a:solidFill>
            <a:srgbClr val="8C0D14"/>
          </a:solidFill>
          <a:ln w="15875">
            <a:solidFill>
              <a:srgbClr val="8C0D14"/>
            </a:solidFill>
            <a:prstDash val="solid"/>
          </a:ln>
          <a:effectLst>
            <a:outerShdw sx="100000" sy="100000" kx="0" ky="0" algn="bl" rotWithShape="0" blurRad="101600" dist="25400" dir="5400000">
              <a:srgbClr val="9A8C80">
                <a:alpha val="18000"/>
              </a:srgbClr>
            </a:outerShdw>
          </a:effectLst>
        </p:spPr>
      </p:sp>
      <p:sp>
        <p:nvSpPr>
          <p:cNvPr id="21" name="Text 18"/>
          <p:cNvSpPr txBox="1"/>
          <p:nvPr/>
        </p:nvSpPr>
        <p:spPr>
          <a:xfrm>
            <a:off x="9276588" y="1975104"/>
            <a:ext cx="2135124" cy="310896"/>
          </a:xfrm>
          <a:prstGeom prst="rect">
            <a:avLst/>
          </a:prstGeom>
          <a:noFill/>
          <a:ln/>
        </p:spPr>
        <p:txBody>
          <a:bodyPr wrap="square" lIns="0" tIns="0" rIns="0" bIns="0" rtlCol="0" anchor="ctr"/>
          <a:lstStyle/>
          <a:p>
            <a:pPr indent="0" marL="0">
              <a:buNone/>
            </a:pPr>
            <a:r>
              <a:rPr lang="en-US" sz="1350" b="1" dirty="0">
                <a:solidFill>
                  <a:srgbClr val="E8B02B"/>
                </a:solidFill>
                <a:latin typeface="Arial" pitchFamily="34" charset="0"/>
                <a:ea typeface="Arial" pitchFamily="34" charset="-122"/>
                <a:cs typeface="Arial" pitchFamily="34" charset="-120"/>
              </a:rPr>
              <a:t>Hạn chế</a:t>
            </a:r>
            <a:endParaRPr lang="en-US" sz="1350" dirty="0"/>
          </a:p>
        </p:txBody>
      </p:sp>
      <p:sp>
        <p:nvSpPr>
          <p:cNvPr id="22" name="Text 19"/>
          <p:cNvSpPr txBox="1"/>
          <p:nvPr/>
        </p:nvSpPr>
        <p:spPr>
          <a:xfrm>
            <a:off x="9276588" y="2286000"/>
            <a:ext cx="2135124" cy="475488"/>
          </a:xfrm>
          <a:prstGeom prst="rect">
            <a:avLst/>
          </a:prstGeom>
          <a:noFill/>
          <a:ln/>
        </p:spPr>
        <p:txBody>
          <a:bodyPr wrap="square" lIns="0" tIns="0" rIns="0" bIns="0" rtlCol="0" anchor="ctr"/>
          <a:lstStyle/>
          <a:p>
            <a:pPr indent="0" marL="0">
              <a:lnSpc>
                <a:spcPts val="1600"/>
              </a:lnSpc>
              <a:buNone/>
            </a:pPr>
            <a:r>
              <a:rPr lang="en-US" sz="1200" b="1" dirty="0">
                <a:solidFill>
                  <a:srgbClr val="FFFFFF"/>
                </a:solidFill>
                <a:latin typeface="Arial" pitchFamily="34" charset="0"/>
                <a:ea typeface="Arial" pitchFamily="34" charset="-122"/>
                <a:cs typeface="Arial" pitchFamily="34" charset="-120"/>
              </a:rPr>
              <a:t>Chưa thành khái niệm lý luận</a:t>
            </a:r>
            <a:endParaRPr lang="en-US" sz="1200" dirty="0"/>
          </a:p>
        </p:txBody>
      </p:sp>
      <p:sp>
        <p:nvSpPr>
          <p:cNvPr id="23" name="Text 20"/>
          <p:cNvSpPr txBox="1"/>
          <p:nvPr/>
        </p:nvSpPr>
        <p:spPr>
          <a:xfrm>
            <a:off x="9276588" y="2761488"/>
            <a:ext cx="2135124" cy="1078992"/>
          </a:xfrm>
          <a:prstGeom prst="rect">
            <a:avLst/>
          </a:prstGeom>
          <a:noFill/>
          <a:ln/>
        </p:spPr>
        <p:txBody>
          <a:bodyPr wrap="square" lIns="0" tIns="0" rIns="0" bIns="0" rtlCol="0" anchor="ctr"/>
          <a:lstStyle/>
          <a:p>
            <a:pPr indent="0" marL="0">
              <a:lnSpc>
                <a:spcPts val="1550"/>
              </a:lnSpc>
              <a:buNone/>
            </a:pPr>
            <a:r>
              <a:rPr lang="en-US" sz="1130" dirty="0">
                <a:solidFill>
                  <a:srgbClr val="FBE9E4"/>
                </a:solidFill>
                <a:latin typeface="Arial" pitchFamily="34" charset="0"/>
                <a:ea typeface="Arial" pitchFamily="34" charset="-122"/>
                <a:cs typeface="Arial" pitchFamily="34" charset="-120"/>
              </a:rPr>
              <a:t>Do ảnh hưởng của tư duy chủ quan, duy ý chí và bệnh giáo điều, di sản của Người chủ yếu được nhìn như tấm gương đạo đức, chưa được khái quát thành hệ thống lý luận.</a:t>
            </a:r>
            <a:endParaRPr lang="en-US" sz="1130" dirty="0"/>
          </a:p>
        </p:txBody>
      </p:sp>
      <p:sp>
        <p:nvSpPr>
          <p:cNvPr id="24" name="Shape 21"/>
          <p:cNvSpPr/>
          <p:nvPr/>
        </p:nvSpPr>
        <p:spPr>
          <a:xfrm>
            <a:off x="566928" y="4096512"/>
            <a:ext cx="6675120" cy="1188720"/>
          </a:xfrm>
          <a:prstGeom prst="roundRect">
            <a:avLst>
              <a:gd name="adj" fmla="val 7692"/>
            </a:avLst>
          </a:prstGeom>
          <a:solidFill>
            <a:srgbClr val="FBF1D8"/>
          </a:solidFill>
          <a:ln w="15875">
            <a:solidFill>
              <a:srgbClr val="E8B02B"/>
            </a:solidFill>
            <a:prstDash val="solid"/>
          </a:ln>
          <a:effectLst>
            <a:outerShdw sx="100000" sy="100000" kx="0" ky="0" algn="bl" rotWithShape="0" blurRad="101600" dist="25400" dir="5400000">
              <a:srgbClr val="9A8C80">
                <a:alpha val="18000"/>
              </a:srgbClr>
            </a:outerShdw>
          </a:effectLst>
        </p:spPr>
      </p:sp>
      <p:sp>
        <p:nvSpPr>
          <p:cNvPr id="25" name="Text 22"/>
          <p:cNvSpPr txBox="1"/>
          <p:nvPr/>
        </p:nvSpPr>
        <p:spPr>
          <a:xfrm>
            <a:off x="841248" y="4242816"/>
            <a:ext cx="6126480" cy="530352"/>
          </a:xfrm>
          <a:prstGeom prst="rect">
            <a:avLst/>
          </a:prstGeom>
          <a:noFill/>
          <a:ln/>
        </p:spPr>
        <p:txBody>
          <a:bodyPr wrap="square" lIns="0" tIns="0" rIns="0" bIns="0" rtlCol="0" anchor="ctr"/>
          <a:lstStyle/>
          <a:p>
            <a:pPr indent="0" marL="0">
              <a:lnSpc>
                <a:spcPts val="1900"/>
              </a:lnSpc>
              <a:buNone/>
            </a:pPr>
            <a:r>
              <a:rPr lang="en-US" sz="1320" i="1" dirty="0">
                <a:solidFill>
                  <a:srgbClr val="241A16"/>
                </a:solidFill>
                <a:latin typeface="Times New Roman" pitchFamily="34" charset="0"/>
                <a:ea typeface="Times New Roman" pitchFamily="34" charset="-122"/>
                <a:cs typeface="Times New Roman" pitchFamily="34" charset="-120"/>
              </a:rPr>
              <a:t>“Dân tộc ta, nhân dân ta, non sông đất nước ta đã sinh ra Hồ Chủ tịch, người anh hùng dân tộc vĩ đại, và chính Người đã làm rạng rỡ dân tộc ta, nhân dân ta và non sông đất nước ta.”</a:t>
            </a:r>
            <a:endParaRPr lang="en-US" sz="1320" dirty="0"/>
          </a:p>
        </p:txBody>
      </p:sp>
      <p:sp>
        <p:nvSpPr>
          <p:cNvPr id="26" name="Text 23"/>
          <p:cNvSpPr txBox="1"/>
          <p:nvPr/>
        </p:nvSpPr>
        <p:spPr>
          <a:xfrm>
            <a:off x="841248" y="4791456"/>
            <a:ext cx="6126480" cy="310896"/>
          </a:xfrm>
          <a:prstGeom prst="rect">
            <a:avLst/>
          </a:prstGeom>
          <a:noFill/>
          <a:ln/>
        </p:spPr>
        <p:txBody>
          <a:bodyPr wrap="square" lIns="0" tIns="0" rIns="0" bIns="0" rtlCol="0" anchor="ctr"/>
          <a:lstStyle/>
          <a:p>
            <a:pPr algn="r" indent="0" marL="0">
              <a:buNone/>
            </a:pPr>
            <a:r>
              <a:rPr lang="en-US" sz="1050" b="1" dirty="0">
                <a:solidFill>
                  <a:srgbClr val="8C0D14"/>
                </a:solidFill>
                <a:latin typeface="Arial" pitchFamily="34" charset="0"/>
                <a:ea typeface="Arial" pitchFamily="34" charset="-122"/>
                <a:cs typeface="Arial" pitchFamily="34" charset="-120"/>
              </a:rPr>
              <a:t>— Điếu văn của BCH Trung ương Đảng, 9/1969</a:t>
            </a:r>
            <a:endParaRPr lang="en-US" sz="1050" dirty="0"/>
          </a:p>
        </p:txBody>
      </p:sp>
      <p:sp>
        <p:nvSpPr>
          <p:cNvPr id="27" name="Text 24"/>
          <p:cNvSpPr txBox="1"/>
          <p:nvPr/>
        </p:nvSpPr>
        <p:spPr>
          <a:xfrm>
            <a:off x="7498080" y="4096512"/>
            <a:ext cx="4133088" cy="274320"/>
          </a:xfrm>
          <a:prstGeom prst="rect">
            <a:avLst/>
          </a:prstGeom>
          <a:noFill/>
          <a:ln/>
        </p:spPr>
        <p:txBody>
          <a:bodyPr wrap="square" lIns="0" tIns="0" rIns="0" bIns="0" rtlCol="0" anchor="ctr"/>
          <a:lstStyle/>
          <a:p>
            <a:pPr indent="0" marL="0">
              <a:buNone/>
            </a:pPr>
            <a:r>
              <a:rPr lang="en-US" sz="1250" b="1" dirty="0">
                <a:solidFill>
                  <a:srgbClr val="8C0D14"/>
                </a:solidFill>
                <a:latin typeface="Arial" pitchFamily="34" charset="0"/>
                <a:ea typeface="Arial" pitchFamily="34" charset="-122"/>
                <a:cs typeface="Arial" pitchFamily="34" charset="-120"/>
              </a:rPr>
              <a:t>Nhận xét giai đoạn 2</a:t>
            </a:r>
            <a:endParaRPr lang="en-US" sz="1250" dirty="0"/>
          </a:p>
        </p:txBody>
      </p:sp>
      <p:sp>
        <p:nvSpPr>
          <p:cNvPr id="28" name="Text 25"/>
          <p:cNvSpPr txBox="1"/>
          <p:nvPr/>
        </p:nvSpPr>
        <p:spPr>
          <a:xfrm>
            <a:off x="7498080" y="4389120"/>
            <a:ext cx="4133088" cy="914400"/>
          </a:xfrm>
          <a:prstGeom prst="rect">
            <a:avLst/>
          </a:prstGeom>
          <a:noFill/>
          <a:ln/>
        </p:spPr>
        <p:txBody>
          <a:bodyPr wrap="square" lIns="0" tIns="0" rIns="0" bIns="0" rtlCol="0" anchor="ctr"/>
          <a:lstStyle/>
          <a:p>
            <a:pPr indent="0" marL="0">
              <a:lnSpc>
                <a:spcPts val="1600"/>
              </a:lnSpc>
              <a:buNone/>
            </a:pPr>
            <a:r>
              <a:rPr lang="en-US" sz="1150" dirty="0">
                <a:solidFill>
                  <a:srgbClr val="241A16"/>
                </a:solidFill>
                <a:latin typeface="Arial" pitchFamily="34" charset="0"/>
                <a:ea typeface="Arial" pitchFamily="34" charset="-122"/>
                <a:cs typeface="Arial" pitchFamily="34" charset="-120"/>
              </a:rPr>
              <a:t>Nhận thức sâu hơn về tình cảm và đạo đức, nhưng vẫn chưa vượt qua giới hạn: chưa dùng thuật ngữ “tư tưởng Hồ Chí Minh” với tư cách một hệ thống lý luận.</a:t>
            </a:r>
            <a:endParaRPr lang="en-US" sz="1150" dirty="0"/>
          </a:p>
        </p:txBody>
      </p:sp>
      <p:pic>
        <p:nvPicPr>
          <p:cNvPr id="29" name="Image 1" descr="img/fig_tl2.png">    </p:cNvPr>
          <p:cNvPicPr>
            <a:picLocks noChangeAspect="1"/>
          </p:cNvPicPr>
          <p:nvPr/>
        </p:nvPicPr>
        <p:blipFill>
          <a:blip r:embed="rId2"/>
          <a:stretch>
            <a:fillRect/>
          </a:stretch>
        </p:blipFill>
        <p:spPr>
          <a:xfrm>
            <a:off x="1700784" y="5358384"/>
            <a:ext cx="8778240" cy="969264"/>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66928" y="310896"/>
            <a:ext cx="8686800" cy="274320"/>
          </a:xfrm>
          <a:prstGeom prst="rect">
            <a:avLst/>
          </a:prstGeom>
          <a:noFill/>
          <a:ln/>
        </p:spPr>
        <p:txBody>
          <a:bodyPr wrap="square" lIns="0" tIns="0" rIns="0" bIns="0" rtlCol="0" anchor="ctr"/>
          <a:lstStyle/>
          <a:p>
            <a:pPr indent="0" marL="0">
              <a:buNone/>
            </a:pPr>
            <a:r>
              <a:rPr lang="en-US" sz="1100" b="1" spc="200" kern="0" dirty="0">
                <a:solidFill>
                  <a:srgbClr val="E8B02B"/>
                </a:solidFill>
                <a:latin typeface="Arial" pitchFamily="34" charset="0"/>
                <a:ea typeface="Arial" pitchFamily="34" charset="-122"/>
                <a:cs typeface="Arial" pitchFamily="34" charset="-120"/>
              </a:rPr>
              <a:t>PHẦN III · QUÁ TRÌNH NHẬN THỨC CỦA ĐẢNG</a:t>
            </a:r>
            <a:endParaRPr lang="en-US" sz="1100" dirty="0"/>
          </a:p>
        </p:txBody>
      </p:sp>
      <p:sp>
        <p:nvSpPr>
          <p:cNvPr id="3" name="Text 1"/>
          <p:cNvSpPr txBox="1"/>
          <p:nvPr/>
        </p:nvSpPr>
        <p:spPr>
          <a:xfrm>
            <a:off x="566928" y="6355080"/>
            <a:ext cx="5486400" cy="274320"/>
          </a:xfrm>
          <a:prstGeom prst="rect">
            <a:avLst/>
          </a:prstGeom>
          <a:noFill/>
          <a:ln/>
        </p:spPr>
        <p:txBody>
          <a:bodyPr wrap="square" lIns="0" tIns="0" rIns="0" bIns="0" rtlCol="0" anchor="ctr"/>
          <a:lstStyle/>
          <a:p>
            <a:pPr indent="0" marL="0">
              <a:buNone/>
            </a:pPr>
            <a:r>
              <a:rPr lang="en-US" sz="950" dirty="0">
                <a:solidFill>
                  <a:srgbClr val="A99C90"/>
                </a:solidFill>
                <a:latin typeface="Arial" pitchFamily="34" charset="0"/>
                <a:ea typeface="Arial" pitchFamily="34" charset="-122"/>
                <a:cs typeface="Arial" pitchFamily="34" charset="-120"/>
              </a:rPr>
              <a:t>NHÓM 1  ·  TƯ TƯỞNG HỒ CHÍ MINH</a:t>
            </a:r>
            <a:endParaRPr lang="en-US" sz="950" dirty="0"/>
          </a:p>
        </p:txBody>
      </p:sp>
      <p:sp>
        <p:nvSpPr>
          <p:cNvPr id="4" name="Text 2"/>
          <p:cNvSpPr txBox="1"/>
          <p:nvPr/>
        </p:nvSpPr>
        <p:spPr>
          <a:xfrm>
            <a:off x="11064240" y="6355080"/>
            <a:ext cx="566928" cy="274320"/>
          </a:xfrm>
          <a:prstGeom prst="rect">
            <a:avLst/>
          </a:prstGeom>
          <a:noFill/>
          <a:ln/>
        </p:spPr>
        <p:txBody>
          <a:bodyPr wrap="square" lIns="0" tIns="0" rIns="0" bIns="0" rtlCol="0" anchor="ctr"/>
          <a:lstStyle/>
          <a:p>
            <a:pPr algn="r" indent="0" marL="0">
              <a:buNone/>
            </a:pPr>
            <a:r>
              <a:rPr lang="en-US" sz="1100" b="1" dirty="0">
                <a:solidFill>
                  <a:srgbClr val="8C0D14"/>
                </a:solidFill>
                <a:latin typeface="Arial" pitchFamily="34" charset="0"/>
                <a:ea typeface="Arial" pitchFamily="34" charset="-122"/>
                <a:cs typeface="Arial" pitchFamily="34" charset="-120"/>
              </a:rPr>
              <a:t>10</a:t>
            </a:r>
            <a:endParaRPr lang="en-US" sz="1100" dirty="0"/>
          </a:p>
        </p:txBody>
      </p:sp>
      <p:pic>
        <p:nvPicPr>
          <p:cNvPr id="5" name="Image 0" descr="img/star_gold.png">    </p:cNvPr>
          <p:cNvPicPr>
            <a:picLocks noChangeAspect="1"/>
          </p:cNvPicPr>
          <p:nvPr/>
        </p:nvPicPr>
        <p:blipFill>
          <a:blip r:embed="rId1"/>
          <a:stretch>
            <a:fillRect/>
          </a:stretch>
        </p:blipFill>
        <p:spPr>
          <a:xfrm>
            <a:off x="566928" y="749808"/>
            <a:ext cx="310896" cy="310896"/>
          </a:xfrm>
          <a:prstGeom prst="rect">
            <a:avLst/>
          </a:prstGeom>
        </p:spPr>
      </p:pic>
      <p:sp>
        <p:nvSpPr>
          <p:cNvPr id="6" name="Text 3"/>
          <p:cNvSpPr txBox="1"/>
          <p:nvPr/>
        </p:nvSpPr>
        <p:spPr>
          <a:xfrm>
            <a:off x="1005840" y="658368"/>
            <a:ext cx="10607040" cy="512064"/>
          </a:xfrm>
          <a:prstGeom prst="rect">
            <a:avLst/>
          </a:prstGeom>
          <a:noFill/>
          <a:ln/>
        </p:spPr>
        <p:txBody>
          <a:bodyPr wrap="square" lIns="0" tIns="0" rIns="0" bIns="0" rtlCol="0" anchor="ctr"/>
          <a:lstStyle/>
          <a:p>
            <a:pPr indent="0" marL="0">
              <a:buNone/>
            </a:pPr>
            <a:r>
              <a:rPr lang="en-US" sz="2650" b="1" dirty="0">
                <a:solidFill>
                  <a:srgbClr val="8C0D14"/>
                </a:solidFill>
                <a:latin typeface="Times New Roman" pitchFamily="34" charset="0"/>
                <a:ea typeface="Times New Roman" pitchFamily="34" charset="-122"/>
                <a:cs typeface="Times New Roman" pitchFamily="34" charset="-120"/>
              </a:rPr>
              <a:t>GIAI ĐOẠN 3 (1986 – 1991): BƯỚC NGOẶT VỀ NHẬN THỨC</a:t>
            </a:r>
            <a:endParaRPr lang="en-US" sz="2650" dirty="0"/>
          </a:p>
        </p:txBody>
      </p:sp>
      <p:sp>
        <p:nvSpPr>
          <p:cNvPr id="7" name="Text 4"/>
          <p:cNvSpPr txBox="1"/>
          <p:nvPr/>
        </p:nvSpPr>
        <p:spPr>
          <a:xfrm>
            <a:off x="566928" y="1316736"/>
            <a:ext cx="11064240" cy="384048"/>
          </a:xfrm>
          <a:prstGeom prst="rect">
            <a:avLst/>
          </a:prstGeom>
          <a:noFill/>
          <a:ln/>
        </p:spPr>
        <p:txBody>
          <a:bodyPr wrap="square" lIns="0" tIns="0" rIns="0" bIns="0" rtlCol="0" anchor="ctr"/>
          <a:lstStyle/>
          <a:p>
            <a:pPr indent="0" marL="0">
              <a:lnSpc>
                <a:spcPts val="1700"/>
              </a:lnSpc>
              <a:buNone/>
            </a:pPr>
            <a:r>
              <a:rPr lang="en-US" sz="1250" i="1" dirty="0">
                <a:solidFill>
                  <a:srgbClr val="6E6257"/>
                </a:solidFill>
                <a:latin typeface="Arial" pitchFamily="34" charset="0"/>
                <a:ea typeface="Arial" pitchFamily="34" charset="-122"/>
                <a:cs typeface="Arial" pitchFamily="34" charset="-120"/>
              </a:rPr>
              <a:t>Đổi mới tư duy lý luận đã dẫn tới bước nhảy vọt: từ chỗ học tập đạo đức, tác phong đến chỗ khẳng định tư tưởng Hồ Chí Minh là nền tảng tư tưởng của Đảng.</a:t>
            </a:r>
            <a:endParaRPr lang="en-US" sz="1250" dirty="0"/>
          </a:p>
        </p:txBody>
      </p:sp>
      <p:sp>
        <p:nvSpPr>
          <p:cNvPr id="8" name="Shape 5"/>
          <p:cNvSpPr/>
          <p:nvPr/>
        </p:nvSpPr>
        <p:spPr>
          <a:xfrm>
            <a:off x="566928" y="1810512"/>
            <a:ext cx="3517392" cy="2121408"/>
          </a:xfrm>
          <a:prstGeom prst="roundRect">
            <a:avLst>
              <a:gd name="adj" fmla="val 4310"/>
            </a:avLst>
          </a:prstGeom>
          <a:solidFill>
            <a:srgbClr val="FFFFFF"/>
          </a:solidFill>
          <a:ln w="15875">
            <a:solidFill>
              <a:srgbClr val="E4DAD0"/>
            </a:solidFill>
            <a:prstDash val="solid"/>
          </a:ln>
          <a:effectLst>
            <a:outerShdw sx="100000" sy="100000" kx="0" ky="0" algn="bl" rotWithShape="0" blurRad="101600" dist="25400" dir="5400000">
              <a:srgbClr val="9A8C80">
                <a:alpha val="18000"/>
              </a:srgbClr>
            </a:outerShdw>
          </a:effectLst>
        </p:spPr>
      </p:sp>
      <p:sp>
        <p:nvSpPr>
          <p:cNvPr id="9" name="Text 6"/>
          <p:cNvSpPr txBox="1"/>
          <p:nvPr/>
        </p:nvSpPr>
        <p:spPr>
          <a:xfrm>
            <a:off x="786384" y="1975104"/>
            <a:ext cx="3078480" cy="310896"/>
          </a:xfrm>
          <a:prstGeom prst="rect">
            <a:avLst/>
          </a:prstGeom>
          <a:noFill/>
          <a:ln/>
        </p:spPr>
        <p:txBody>
          <a:bodyPr wrap="square" lIns="0" tIns="0" rIns="0" bIns="0" rtlCol="0" anchor="ctr"/>
          <a:lstStyle/>
          <a:p>
            <a:pPr indent="0" marL="0">
              <a:buNone/>
            </a:pPr>
            <a:r>
              <a:rPr lang="en-US" sz="1350" b="1" dirty="0">
                <a:solidFill>
                  <a:srgbClr val="8C0D14"/>
                </a:solidFill>
                <a:latin typeface="Arial" pitchFamily="34" charset="0"/>
                <a:ea typeface="Arial" pitchFamily="34" charset="-122"/>
                <a:cs typeface="Arial" pitchFamily="34" charset="-120"/>
              </a:rPr>
              <a:t>12/1986</a:t>
            </a:r>
            <a:endParaRPr lang="en-US" sz="1350" dirty="0"/>
          </a:p>
        </p:txBody>
      </p:sp>
      <p:sp>
        <p:nvSpPr>
          <p:cNvPr id="10" name="Text 7"/>
          <p:cNvSpPr txBox="1"/>
          <p:nvPr/>
        </p:nvSpPr>
        <p:spPr>
          <a:xfrm>
            <a:off x="786384" y="2286000"/>
            <a:ext cx="3078480" cy="475488"/>
          </a:xfrm>
          <a:prstGeom prst="rect">
            <a:avLst/>
          </a:prstGeom>
          <a:noFill/>
          <a:ln/>
        </p:spPr>
        <p:txBody>
          <a:bodyPr wrap="square" lIns="0" tIns="0" rIns="0" bIns="0" rtlCol="0" anchor="ctr"/>
          <a:lstStyle/>
          <a:p>
            <a:pPr indent="0" marL="0">
              <a:lnSpc>
                <a:spcPts val="1600"/>
              </a:lnSpc>
              <a:buNone/>
            </a:pPr>
            <a:r>
              <a:rPr lang="en-US" sz="1200" b="1" dirty="0">
                <a:solidFill>
                  <a:srgbClr val="241A16"/>
                </a:solidFill>
                <a:latin typeface="Arial" pitchFamily="34" charset="0"/>
                <a:ea typeface="Arial" pitchFamily="34" charset="-122"/>
                <a:cs typeface="Arial" pitchFamily="34" charset="-120"/>
              </a:rPr>
              <a:t>Đại hội VI — đổi mới tư duy</a:t>
            </a:r>
            <a:endParaRPr lang="en-US" sz="1200" dirty="0"/>
          </a:p>
        </p:txBody>
      </p:sp>
      <p:sp>
        <p:nvSpPr>
          <p:cNvPr id="11" name="Text 8"/>
          <p:cNvSpPr txBox="1"/>
          <p:nvPr/>
        </p:nvSpPr>
        <p:spPr>
          <a:xfrm>
            <a:off x="786384" y="2761488"/>
            <a:ext cx="3078480" cy="1078992"/>
          </a:xfrm>
          <a:prstGeom prst="rect">
            <a:avLst/>
          </a:prstGeom>
          <a:noFill/>
          <a:ln/>
        </p:spPr>
        <p:txBody>
          <a:bodyPr wrap="square" lIns="0" tIns="0" rIns="0" bIns="0" rtlCol="0" anchor="ctr"/>
          <a:lstStyle/>
          <a:p>
            <a:pPr indent="0" marL="0">
              <a:lnSpc>
                <a:spcPts val="1550"/>
              </a:lnSpc>
              <a:buNone/>
            </a:pPr>
            <a:r>
              <a:rPr lang="en-US" sz="1130" dirty="0">
                <a:solidFill>
                  <a:srgbClr val="6E6257"/>
                </a:solidFill>
                <a:latin typeface="Arial" pitchFamily="34" charset="0"/>
                <a:ea typeface="Arial" pitchFamily="34" charset="-122"/>
                <a:cs typeface="Arial" pitchFamily="34" charset="-120"/>
              </a:rPr>
              <a:t>Đặt yêu cầu nắm vững bản chất cách mạng, khoa học của chủ nghĩa Mác – Lênin và kế thừa di sản tư tưởng, lý luận của Chủ tịch Hồ Chí Minh.</a:t>
            </a:r>
            <a:endParaRPr lang="en-US" sz="1130" dirty="0"/>
          </a:p>
        </p:txBody>
      </p:sp>
      <p:sp>
        <p:nvSpPr>
          <p:cNvPr id="12" name="Shape 9"/>
          <p:cNvSpPr/>
          <p:nvPr/>
        </p:nvSpPr>
        <p:spPr>
          <a:xfrm>
            <a:off x="4340352" y="1810512"/>
            <a:ext cx="3517392" cy="2121408"/>
          </a:xfrm>
          <a:prstGeom prst="roundRect">
            <a:avLst>
              <a:gd name="adj" fmla="val 4310"/>
            </a:avLst>
          </a:prstGeom>
          <a:solidFill>
            <a:srgbClr val="FFFFFF"/>
          </a:solidFill>
          <a:ln w="15875">
            <a:solidFill>
              <a:srgbClr val="E4DAD0"/>
            </a:solidFill>
            <a:prstDash val="solid"/>
          </a:ln>
          <a:effectLst>
            <a:outerShdw sx="100000" sy="100000" kx="0" ky="0" algn="bl" rotWithShape="0" blurRad="101600" dist="25400" dir="5400000">
              <a:srgbClr val="9A8C80">
                <a:alpha val="18000"/>
              </a:srgbClr>
            </a:outerShdw>
          </a:effectLst>
        </p:spPr>
      </p:sp>
      <p:sp>
        <p:nvSpPr>
          <p:cNvPr id="13" name="Text 10"/>
          <p:cNvSpPr txBox="1"/>
          <p:nvPr/>
        </p:nvSpPr>
        <p:spPr>
          <a:xfrm>
            <a:off x="4559808" y="1975104"/>
            <a:ext cx="3078480" cy="310896"/>
          </a:xfrm>
          <a:prstGeom prst="rect">
            <a:avLst/>
          </a:prstGeom>
          <a:noFill/>
          <a:ln/>
        </p:spPr>
        <p:txBody>
          <a:bodyPr wrap="square" lIns="0" tIns="0" rIns="0" bIns="0" rtlCol="0" anchor="ctr"/>
          <a:lstStyle/>
          <a:p>
            <a:pPr indent="0" marL="0">
              <a:buNone/>
            </a:pPr>
            <a:r>
              <a:rPr lang="en-US" sz="1350" b="1" dirty="0">
                <a:solidFill>
                  <a:srgbClr val="8C0D14"/>
                </a:solidFill>
                <a:latin typeface="Arial" pitchFamily="34" charset="0"/>
                <a:ea typeface="Arial" pitchFamily="34" charset="-122"/>
                <a:cs typeface="Arial" pitchFamily="34" charset="-120"/>
              </a:rPr>
              <a:t>1987 – 1990</a:t>
            </a:r>
            <a:endParaRPr lang="en-US" sz="1350" dirty="0"/>
          </a:p>
        </p:txBody>
      </p:sp>
      <p:sp>
        <p:nvSpPr>
          <p:cNvPr id="14" name="Text 11"/>
          <p:cNvSpPr txBox="1"/>
          <p:nvPr/>
        </p:nvSpPr>
        <p:spPr>
          <a:xfrm>
            <a:off x="4559808" y="2286000"/>
            <a:ext cx="3078480" cy="475488"/>
          </a:xfrm>
          <a:prstGeom prst="rect">
            <a:avLst/>
          </a:prstGeom>
          <a:noFill/>
          <a:ln/>
        </p:spPr>
        <p:txBody>
          <a:bodyPr wrap="square" lIns="0" tIns="0" rIns="0" bIns="0" rtlCol="0" anchor="ctr"/>
          <a:lstStyle/>
          <a:p>
            <a:pPr indent="0" marL="0">
              <a:lnSpc>
                <a:spcPts val="1600"/>
              </a:lnSpc>
              <a:buNone/>
            </a:pPr>
            <a:r>
              <a:rPr lang="en-US" sz="1200" b="1" dirty="0">
                <a:solidFill>
                  <a:srgbClr val="241A16"/>
                </a:solidFill>
                <a:latin typeface="Arial" pitchFamily="34" charset="0"/>
                <a:ea typeface="Arial" pitchFamily="34" charset="-122"/>
                <a:cs typeface="Arial" pitchFamily="34" charset="-120"/>
              </a:rPr>
              <a:t>UNESCO vinh danh</a:t>
            </a:r>
            <a:endParaRPr lang="en-US" sz="1200" dirty="0"/>
          </a:p>
        </p:txBody>
      </p:sp>
      <p:sp>
        <p:nvSpPr>
          <p:cNvPr id="15" name="Text 12"/>
          <p:cNvSpPr txBox="1"/>
          <p:nvPr/>
        </p:nvSpPr>
        <p:spPr>
          <a:xfrm>
            <a:off x="4559808" y="2761488"/>
            <a:ext cx="3078480" cy="1078992"/>
          </a:xfrm>
          <a:prstGeom prst="rect">
            <a:avLst/>
          </a:prstGeom>
          <a:noFill/>
          <a:ln/>
        </p:spPr>
        <p:txBody>
          <a:bodyPr wrap="square" lIns="0" tIns="0" rIns="0" bIns="0" rtlCol="0" anchor="ctr"/>
          <a:lstStyle/>
          <a:p>
            <a:pPr indent="0" marL="0">
              <a:lnSpc>
                <a:spcPts val="1550"/>
              </a:lnSpc>
              <a:buNone/>
            </a:pPr>
            <a:r>
              <a:rPr lang="en-US" sz="1130" dirty="0">
                <a:solidFill>
                  <a:srgbClr val="6E6257"/>
                </a:solidFill>
                <a:latin typeface="Arial" pitchFamily="34" charset="0"/>
                <a:ea typeface="Arial" pitchFamily="34" charset="-122"/>
                <a:cs typeface="Arial" pitchFamily="34" charset="-120"/>
              </a:rPr>
              <a:t>Nghị quyết 24C/18.65 tôn vinh Hồ Chí Minh là Anh hùng giải phóng dân tộc, Nhà văn hoá kiệt xuất của Việt Nam, kỷ niệm 100 năm ngày sinh (1990).</a:t>
            </a:r>
            <a:endParaRPr lang="en-US" sz="1130" dirty="0"/>
          </a:p>
        </p:txBody>
      </p:sp>
      <p:sp>
        <p:nvSpPr>
          <p:cNvPr id="16" name="Shape 13"/>
          <p:cNvSpPr/>
          <p:nvPr/>
        </p:nvSpPr>
        <p:spPr>
          <a:xfrm>
            <a:off x="8113776" y="1810512"/>
            <a:ext cx="3517392" cy="2121408"/>
          </a:xfrm>
          <a:prstGeom prst="roundRect">
            <a:avLst>
              <a:gd name="adj" fmla="val 4310"/>
            </a:avLst>
          </a:prstGeom>
          <a:solidFill>
            <a:srgbClr val="8C0D14"/>
          </a:solidFill>
          <a:ln w="15875">
            <a:solidFill>
              <a:srgbClr val="8C0D14"/>
            </a:solidFill>
            <a:prstDash val="solid"/>
          </a:ln>
          <a:effectLst>
            <a:outerShdw sx="100000" sy="100000" kx="0" ky="0" algn="bl" rotWithShape="0" blurRad="101600" dist="25400" dir="5400000">
              <a:srgbClr val="9A8C80">
                <a:alpha val="18000"/>
              </a:srgbClr>
            </a:outerShdw>
          </a:effectLst>
        </p:spPr>
      </p:sp>
      <p:sp>
        <p:nvSpPr>
          <p:cNvPr id="17" name="Text 14"/>
          <p:cNvSpPr txBox="1"/>
          <p:nvPr/>
        </p:nvSpPr>
        <p:spPr>
          <a:xfrm>
            <a:off x="8333232" y="1975104"/>
            <a:ext cx="3078480" cy="310896"/>
          </a:xfrm>
          <a:prstGeom prst="rect">
            <a:avLst/>
          </a:prstGeom>
          <a:noFill/>
          <a:ln/>
        </p:spPr>
        <p:txBody>
          <a:bodyPr wrap="square" lIns="0" tIns="0" rIns="0" bIns="0" rtlCol="0" anchor="ctr"/>
          <a:lstStyle/>
          <a:p>
            <a:pPr indent="0" marL="0">
              <a:buNone/>
            </a:pPr>
            <a:r>
              <a:rPr lang="en-US" sz="1350" b="1" dirty="0">
                <a:solidFill>
                  <a:srgbClr val="E8B02B"/>
                </a:solidFill>
                <a:latin typeface="Arial" pitchFamily="34" charset="0"/>
                <a:ea typeface="Arial" pitchFamily="34" charset="-122"/>
                <a:cs typeface="Arial" pitchFamily="34" charset="-120"/>
              </a:rPr>
              <a:t>6/1991</a:t>
            </a:r>
            <a:endParaRPr lang="en-US" sz="1350" dirty="0"/>
          </a:p>
        </p:txBody>
      </p:sp>
      <p:sp>
        <p:nvSpPr>
          <p:cNvPr id="18" name="Text 15"/>
          <p:cNvSpPr txBox="1"/>
          <p:nvPr/>
        </p:nvSpPr>
        <p:spPr>
          <a:xfrm>
            <a:off x="8333232" y="2286000"/>
            <a:ext cx="3078480" cy="475488"/>
          </a:xfrm>
          <a:prstGeom prst="rect">
            <a:avLst/>
          </a:prstGeom>
          <a:noFill/>
          <a:ln/>
        </p:spPr>
        <p:txBody>
          <a:bodyPr wrap="square" lIns="0" tIns="0" rIns="0" bIns="0" rtlCol="0" anchor="ctr"/>
          <a:lstStyle/>
          <a:p>
            <a:pPr indent="0" marL="0">
              <a:lnSpc>
                <a:spcPts val="1600"/>
              </a:lnSpc>
              <a:buNone/>
            </a:pPr>
            <a:r>
              <a:rPr lang="en-US" sz="1200" b="1" dirty="0">
                <a:solidFill>
                  <a:srgbClr val="FFFFFF"/>
                </a:solidFill>
                <a:latin typeface="Arial" pitchFamily="34" charset="0"/>
                <a:ea typeface="Arial" pitchFamily="34" charset="-122"/>
                <a:cs typeface="Arial" pitchFamily="34" charset="-120"/>
              </a:rPr>
              <a:t>Đại hội VII — mốc bước ngoặt</a:t>
            </a:r>
            <a:endParaRPr lang="en-US" sz="1200" dirty="0"/>
          </a:p>
        </p:txBody>
      </p:sp>
      <p:sp>
        <p:nvSpPr>
          <p:cNvPr id="19" name="Text 16"/>
          <p:cNvSpPr txBox="1"/>
          <p:nvPr/>
        </p:nvSpPr>
        <p:spPr>
          <a:xfrm>
            <a:off x="8333232" y="2761488"/>
            <a:ext cx="3078480" cy="1078992"/>
          </a:xfrm>
          <a:prstGeom prst="rect">
            <a:avLst/>
          </a:prstGeom>
          <a:noFill/>
          <a:ln/>
        </p:spPr>
        <p:txBody>
          <a:bodyPr wrap="square" lIns="0" tIns="0" rIns="0" bIns="0" rtlCol="0" anchor="ctr"/>
          <a:lstStyle/>
          <a:p>
            <a:pPr indent="0" marL="0">
              <a:lnSpc>
                <a:spcPts val="1550"/>
              </a:lnSpc>
              <a:buNone/>
            </a:pPr>
            <a:r>
              <a:rPr lang="en-US" sz="1130" dirty="0">
                <a:solidFill>
                  <a:srgbClr val="FBE9E4"/>
                </a:solidFill>
                <a:latin typeface="Arial" pitchFamily="34" charset="0"/>
                <a:ea typeface="Arial" pitchFamily="34" charset="-122"/>
                <a:cs typeface="Arial" pitchFamily="34" charset="-120"/>
              </a:rPr>
              <a:t>Lần đầu tiên chính thức đưa khái niệm “tư tưởng Hồ Chí Minh” vào Văn kiện và Cương lĩnh, xác định đó là nền tảng tư tưởng, kim chỉ nam cho hành động của Đảng.</a:t>
            </a:r>
            <a:endParaRPr lang="en-US" sz="1130" dirty="0"/>
          </a:p>
        </p:txBody>
      </p:sp>
      <p:sp>
        <p:nvSpPr>
          <p:cNvPr id="20" name="Shape 17"/>
          <p:cNvSpPr/>
          <p:nvPr/>
        </p:nvSpPr>
        <p:spPr>
          <a:xfrm>
            <a:off x="566928" y="4096512"/>
            <a:ext cx="6675120" cy="1188720"/>
          </a:xfrm>
          <a:prstGeom prst="roundRect">
            <a:avLst>
              <a:gd name="adj" fmla="val 7692"/>
            </a:avLst>
          </a:prstGeom>
          <a:solidFill>
            <a:srgbClr val="FBF1D8"/>
          </a:solidFill>
          <a:ln w="15875">
            <a:solidFill>
              <a:srgbClr val="E8B02B"/>
            </a:solidFill>
            <a:prstDash val="solid"/>
          </a:ln>
          <a:effectLst>
            <a:outerShdw sx="100000" sy="100000" kx="0" ky="0" algn="bl" rotWithShape="0" blurRad="101600" dist="25400" dir="5400000">
              <a:srgbClr val="9A8C80">
                <a:alpha val="18000"/>
              </a:srgbClr>
            </a:outerShdw>
          </a:effectLst>
        </p:spPr>
      </p:sp>
      <p:sp>
        <p:nvSpPr>
          <p:cNvPr id="21" name="Text 18"/>
          <p:cNvSpPr txBox="1"/>
          <p:nvPr/>
        </p:nvSpPr>
        <p:spPr>
          <a:xfrm>
            <a:off x="841248" y="4242816"/>
            <a:ext cx="6126480" cy="530352"/>
          </a:xfrm>
          <a:prstGeom prst="rect">
            <a:avLst/>
          </a:prstGeom>
          <a:noFill/>
          <a:ln/>
        </p:spPr>
        <p:txBody>
          <a:bodyPr wrap="square" lIns="0" tIns="0" rIns="0" bIns="0" rtlCol="0" anchor="ctr"/>
          <a:lstStyle/>
          <a:p>
            <a:pPr indent="0" marL="0">
              <a:lnSpc>
                <a:spcPts val="1900"/>
              </a:lnSpc>
              <a:buNone/>
            </a:pPr>
            <a:r>
              <a:rPr lang="en-US" sz="1320" i="1" dirty="0">
                <a:solidFill>
                  <a:srgbClr val="241A16"/>
                </a:solidFill>
                <a:latin typeface="Times New Roman" pitchFamily="34" charset="0"/>
                <a:ea typeface="Times New Roman" pitchFamily="34" charset="-122"/>
                <a:cs typeface="Times New Roman" pitchFamily="34" charset="-120"/>
              </a:rPr>
              <a:t>“Đảng lấy chủ nghĩa Mác – Lênin và tư tưởng Hồ Chí Minh làm nền tảng tư tưởng, kim chỉ nam cho hành động.”</a:t>
            </a:r>
            <a:endParaRPr lang="en-US" sz="1320" dirty="0"/>
          </a:p>
        </p:txBody>
      </p:sp>
      <p:sp>
        <p:nvSpPr>
          <p:cNvPr id="22" name="Text 19"/>
          <p:cNvSpPr txBox="1"/>
          <p:nvPr/>
        </p:nvSpPr>
        <p:spPr>
          <a:xfrm>
            <a:off x="841248" y="4791456"/>
            <a:ext cx="6126480" cy="310896"/>
          </a:xfrm>
          <a:prstGeom prst="rect">
            <a:avLst/>
          </a:prstGeom>
          <a:noFill/>
          <a:ln/>
        </p:spPr>
        <p:txBody>
          <a:bodyPr wrap="square" lIns="0" tIns="0" rIns="0" bIns="0" rtlCol="0" anchor="ctr"/>
          <a:lstStyle/>
          <a:p>
            <a:pPr algn="r" indent="0" marL="0">
              <a:buNone/>
            </a:pPr>
            <a:r>
              <a:rPr lang="en-US" sz="1050" b="1" dirty="0">
                <a:solidFill>
                  <a:srgbClr val="8C0D14"/>
                </a:solidFill>
                <a:latin typeface="Arial" pitchFamily="34" charset="0"/>
                <a:ea typeface="Arial" pitchFamily="34" charset="-122"/>
                <a:cs typeface="Arial" pitchFamily="34" charset="-120"/>
              </a:rPr>
              <a:t>— Cương lĩnh xây dựng đất nước trong thời kỳ quá độ lên CNXH, 6/1991</a:t>
            </a:r>
            <a:endParaRPr lang="en-US" sz="1050" dirty="0"/>
          </a:p>
        </p:txBody>
      </p:sp>
      <p:sp>
        <p:nvSpPr>
          <p:cNvPr id="23" name="Text 20"/>
          <p:cNvSpPr txBox="1"/>
          <p:nvPr/>
        </p:nvSpPr>
        <p:spPr>
          <a:xfrm>
            <a:off x="7498080" y="4096512"/>
            <a:ext cx="4133088" cy="274320"/>
          </a:xfrm>
          <a:prstGeom prst="rect">
            <a:avLst/>
          </a:prstGeom>
          <a:noFill/>
          <a:ln/>
        </p:spPr>
        <p:txBody>
          <a:bodyPr wrap="square" lIns="0" tIns="0" rIns="0" bIns="0" rtlCol="0" anchor="ctr"/>
          <a:lstStyle/>
          <a:p>
            <a:pPr indent="0" marL="0">
              <a:buNone/>
            </a:pPr>
            <a:r>
              <a:rPr lang="en-US" sz="1250" b="1" dirty="0">
                <a:solidFill>
                  <a:srgbClr val="8C0D14"/>
                </a:solidFill>
                <a:latin typeface="Arial" pitchFamily="34" charset="0"/>
                <a:ea typeface="Arial" pitchFamily="34" charset="-122"/>
                <a:cs typeface="Arial" pitchFamily="34" charset="-120"/>
              </a:rPr>
              <a:t>Vì sao là bước ngoặt?</a:t>
            </a:r>
            <a:endParaRPr lang="en-US" sz="1250" dirty="0"/>
          </a:p>
        </p:txBody>
      </p:sp>
      <p:sp>
        <p:nvSpPr>
          <p:cNvPr id="24" name="Text 21"/>
          <p:cNvSpPr txBox="1"/>
          <p:nvPr/>
        </p:nvSpPr>
        <p:spPr>
          <a:xfrm>
            <a:off x="7498080" y="4389120"/>
            <a:ext cx="4133088" cy="914400"/>
          </a:xfrm>
          <a:prstGeom prst="rect">
            <a:avLst/>
          </a:prstGeom>
          <a:noFill/>
          <a:ln/>
        </p:spPr>
        <p:txBody>
          <a:bodyPr wrap="square" lIns="0" tIns="0" rIns="0" bIns="0" rtlCol="0" anchor="ctr"/>
          <a:lstStyle/>
          <a:p>
            <a:pPr indent="0" marL="0">
              <a:lnSpc>
                <a:spcPts val="1600"/>
              </a:lnSpc>
              <a:buNone/>
            </a:pPr>
            <a:r>
              <a:rPr lang="en-US" sz="1150" dirty="0">
                <a:solidFill>
                  <a:srgbClr val="241A16"/>
                </a:solidFill>
                <a:latin typeface="Arial" pitchFamily="34" charset="0"/>
                <a:ea typeface="Arial" pitchFamily="34" charset="-122"/>
                <a:cs typeface="Arial" pitchFamily="34" charset="-120"/>
              </a:rPr>
              <a:t>Nhận thức chuyển từ TÌNH CẢM – ĐẠO ĐỨC sang LÝ LUẬN KHOA HỌC; tư tưởng Hồ Chí Minh được đặt ngang tầm chủ nghĩa Mác – Lênin trong nền tảng tư tưởng của Đảng.</a:t>
            </a:r>
            <a:endParaRPr lang="en-US" sz="1150" dirty="0"/>
          </a:p>
        </p:txBody>
      </p:sp>
      <p:pic>
        <p:nvPicPr>
          <p:cNvPr id="25" name="Image 1" descr="img/fig_tl3.png">    </p:cNvPr>
          <p:cNvPicPr>
            <a:picLocks noChangeAspect="1"/>
          </p:cNvPicPr>
          <p:nvPr/>
        </p:nvPicPr>
        <p:blipFill>
          <a:blip r:embed="rId2"/>
          <a:stretch>
            <a:fillRect/>
          </a:stretch>
        </p:blipFill>
        <p:spPr>
          <a:xfrm>
            <a:off x="1700784" y="5358384"/>
            <a:ext cx="8778240" cy="969264"/>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66928" y="310896"/>
            <a:ext cx="8686800" cy="274320"/>
          </a:xfrm>
          <a:prstGeom prst="rect">
            <a:avLst/>
          </a:prstGeom>
          <a:noFill/>
          <a:ln/>
        </p:spPr>
        <p:txBody>
          <a:bodyPr wrap="square" lIns="0" tIns="0" rIns="0" bIns="0" rtlCol="0" anchor="ctr"/>
          <a:lstStyle/>
          <a:p>
            <a:pPr indent="0" marL="0">
              <a:buNone/>
            </a:pPr>
            <a:r>
              <a:rPr lang="en-US" sz="1100" b="1" spc="200" kern="0" dirty="0">
                <a:solidFill>
                  <a:srgbClr val="E8B02B"/>
                </a:solidFill>
                <a:latin typeface="Arial" pitchFamily="34" charset="0"/>
                <a:ea typeface="Arial" pitchFamily="34" charset="-122"/>
                <a:cs typeface="Arial" pitchFamily="34" charset="-120"/>
              </a:rPr>
              <a:t>PHẦN III · QUÁ TRÌNH NHẬN THỨC CỦA ĐẢNG</a:t>
            </a:r>
            <a:endParaRPr lang="en-US" sz="1100" dirty="0"/>
          </a:p>
        </p:txBody>
      </p:sp>
      <p:sp>
        <p:nvSpPr>
          <p:cNvPr id="3" name="Text 1"/>
          <p:cNvSpPr txBox="1"/>
          <p:nvPr/>
        </p:nvSpPr>
        <p:spPr>
          <a:xfrm>
            <a:off x="566928" y="6355080"/>
            <a:ext cx="5486400" cy="274320"/>
          </a:xfrm>
          <a:prstGeom prst="rect">
            <a:avLst/>
          </a:prstGeom>
          <a:noFill/>
          <a:ln/>
        </p:spPr>
        <p:txBody>
          <a:bodyPr wrap="square" lIns="0" tIns="0" rIns="0" bIns="0" rtlCol="0" anchor="ctr"/>
          <a:lstStyle/>
          <a:p>
            <a:pPr indent="0" marL="0">
              <a:buNone/>
            </a:pPr>
            <a:r>
              <a:rPr lang="en-US" sz="950" dirty="0">
                <a:solidFill>
                  <a:srgbClr val="A99C90"/>
                </a:solidFill>
                <a:latin typeface="Arial" pitchFamily="34" charset="0"/>
                <a:ea typeface="Arial" pitchFamily="34" charset="-122"/>
                <a:cs typeface="Arial" pitchFamily="34" charset="-120"/>
              </a:rPr>
              <a:t>NHÓM 1  ·  TƯ TƯỞNG HỒ CHÍ MINH</a:t>
            </a:r>
            <a:endParaRPr lang="en-US" sz="950" dirty="0"/>
          </a:p>
        </p:txBody>
      </p:sp>
      <p:sp>
        <p:nvSpPr>
          <p:cNvPr id="4" name="Text 2"/>
          <p:cNvSpPr txBox="1"/>
          <p:nvPr/>
        </p:nvSpPr>
        <p:spPr>
          <a:xfrm>
            <a:off x="11064240" y="6355080"/>
            <a:ext cx="566928" cy="274320"/>
          </a:xfrm>
          <a:prstGeom prst="rect">
            <a:avLst/>
          </a:prstGeom>
          <a:noFill/>
          <a:ln/>
        </p:spPr>
        <p:txBody>
          <a:bodyPr wrap="square" lIns="0" tIns="0" rIns="0" bIns="0" rtlCol="0" anchor="ctr"/>
          <a:lstStyle/>
          <a:p>
            <a:pPr algn="r" indent="0" marL="0">
              <a:buNone/>
            </a:pPr>
            <a:r>
              <a:rPr lang="en-US" sz="1100" b="1" dirty="0">
                <a:solidFill>
                  <a:srgbClr val="8C0D14"/>
                </a:solidFill>
                <a:latin typeface="Arial" pitchFamily="34" charset="0"/>
                <a:ea typeface="Arial" pitchFamily="34" charset="-122"/>
                <a:cs typeface="Arial" pitchFamily="34" charset="-120"/>
              </a:rPr>
              <a:t>11</a:t>
            </a:r>
            <a:endParaRPr lang="en-US" sz="1100" dirty="0"/>
          </a:p>
        </p:txBody>
      </p:sp>
      <p:pic>
        <p:nvPicPr>
          <p:cNvPr id="5" name="Image 0" descr="img/star_gold.png">    </p:cNvPr>
          <p:cNvPicPr>
            <a:picLocks noChangeAspect="1"/>
          </p:cNvPicPr>
          <p:nvPr/>
        </p:nvPicPr>
        <p:blipFill>
          <a:blip r:embed="rId1"/>
          <a:stretch>
            <a:fillRect/>
          </a:stretch>
        </p:blipFill>
        <p:spPr>
          <a:xfrm>
            <a:off x="566928" y="749808"/>
            <a:ext cx="310896" cy="310896"/>
          </a:xfrm>
          <a:prstGeom prst="rect">
            <a:avLst/>
          </a:prstGeom>
        </p:spPr>
      </p:pic>
      <p:sp>
        <p:nvSpPr>
          <p:cNvPr id="6" name="Text 3"/>
          <p:cNvSpPr txBox="1"/>
          <p:nvPr/>
        </p:nvSpPr>
        <p:spPr>
          <a:xfrm>
            <a:off x="1005840" y="658368"/>
            <a:ext cx="10607040" cy="512064"/>
          </a:xfrm>
          <a:prstGeom prst="rect">
            <a:avLst/>
          </a:prstGeom>
          <a:noFill/>
          <a:ln/>
        </p:spPr>
        <p:txBody>
          <a:bodyPr wrap="square" lIns="0" tIns="0" rIns="0" bIns="0" rtlCol="0" anchor="ctr"/>
          <a:lstStyle/>
          <a:p>
            <a:pPr indent="0" marL="0">
              <a:buNone/>
            </a:pPr>
            <a:r>
              <a:rPr lang="en-US" sz="2650" b="1" dirty="0">
                <a:solidFill>
                  <a:srgbClr val="8C0D14"/>
                </a:solidFill>
                <a:latin typeface="Times New Roman" pitchFamily="34" charset="0"/>
                <a:ea typeface="Times New Roman" pitchFamily="34" charset="-122"/>
                <a:cs typeface="Times New Roman" pitchFamily="34" charset="-120"/>
              </a:rPr>
              <a:t>GIAI ĐOẠN 4 (1991 – NAY): HOÀN THIỆN VÀ PHÁT TRIỂN</a:t>
            </a:r>
            <a:endParaRPr lang="en-US" sz="2650" dirty="0"/>
          </a:p>
        </p:txBody>
      </p:sp>
      <p:sp>
        <p:nvSpPr>
          <p:cNvPr id="7" name="Text 4"/>
          <p:cNvSpPr txBox="1"/>
          <p:nvPr/>
        </p:nvSpPr>
        <p:spPr>
          <a:xfrm>
            <a:off x="566928" y="1316736"/>
            <a:ext cx="11064240" cy="384048"/>
          </a:xfrm>
          <a:prstGeom prst="rect">
            <a:avLst/>
          </a:prstGeom>
          <a:noFill/>
          <a:ln/>
        </p:spPr>
        <p:txBody>
          <a:bodyPr wrap="square" lIns="0" tIns="0" rIns="0" bIns="0" rtlCol="0" anchor="ctr"/>
          <a:lstStyle/>
          <a:p>
            <a:pPr indent="0" marL="0">
              <a:lnSpc>
                <a:spcPts val="1700"/>
              </a:lnSpc>
              <a:buNone/>
            </a:pPr>
            <a:r>
              <a:rPr lang="en-US" sz="1250" i="1" dirty="0">
                <a:solidFill>
                  <a:srgbClr val="6E6257"/>
                </a:solidFill>
                <a:latin typeface="Arial" pitchFamily="34" charset="0"/>
                <a:ea typeface="Arial" pitchFamily="34" charset="-122"/>
                <a:cs typeface="Arial" pitchFamily="34" charset="-120"/>
              </a:rPr>
              <a:t>Từ sau Đại hội VII, nhận thức của Đảng tiếp tục được bổ sung, cụ thể hoá và chuyển thành hành động thực tiễn trong toàn Đảng, toàn dân.</a:t>
            </a:r>
            <a:endParaRPr lang="en-US" sz="1250" dirty="0"/>
          </a:p>
        </p:txBody>
      </p:sp>
      <p:sp>
        <p:nvSpPr>
          <p:cNvPr id="8" name="Shape 5"/>
          <p:cNvSpPr/>
          <p:nvPr/>
        </p:nvSpPr>
        <p:spPr>
          <a:xfrm>
            <a:off x="566928" y="1810512"/>
            <a:ext cx="2574036" cy="2121408"/>
          </a:xfrm>
          <a:prstGeom prst="roundRect">
            <a:avLst>
              <a:gd name="adj" fmla="val 4310"/>
            </a:avLst>
          </a:prstGeom>
          <a:solidFill>
            <a:srgbClr val="FFFFFF"/>
          </a:solidFill>
          <a:ln w="15875">
            <a:solidFill>
              <a:srgbClr val="E4DAD0"/>
            </a:solidFill>
            <a:prstDash val="solid"/>
          </a:ln>
          <a:effectLst>
            <a:outerShdw sx="100000" sy="100000" kx="0" ky="0" algn="bl" rotWithShape="0" blurRad="101600" dist="25400" dir="5400000">
              <a:srgbClr val="9A8C80">
                <a:alpha val="18000"/>
              </a:srgbClr>
            </a:outerShdw>
          </a:effectLst>
        </p:spPr>
      </p:sp>
      <p:sp>
        <p:nvSpPr>
          <p:cNvPr id="9" name="Text 6"/>
          <p:cNvSpPr txBox="1"/>
          <p:nvPr/>
        </p:nvSpPr>
        <p:spPr>
          <a:xfrm>
            <a:off x="786384" y="1975104"/>
            <a:ext cx="2135124" cy="310896"/>
          </a:xfrm>
          <a:prstGeom prst="rect">
            <a:avLst/>
          </a:prstGeom>
          <a:noFill/>
          <a:ln/>
        </p:spPr>
        <p:txBody>
          <a:bodyPr wrap="square" lIns="0" tIns="0" rIns="0" bIns="0" rtlCol="0" anchor="ctr"/>
          <a:lstStyle/>
          <a:p>
            <a:pPr indent="0" marL="0">
              <a:buNone/>
            </a:pPr>
            <a:r>
              <a:rPr lang="en-US" sz="1350" b="1" dirty="0">
                <a:solidFill>
                  <a:srgbClr val="8C0D14"/>
                </a:solidFill>
                <a:latin typeface="Arial" pitchFamily="34" charset="0"/>
                <a:ea typeface="Arial" pitchFamily="34" charset="-122"/>
                <a:cs typeface="Arial" pitchFamily="34" charset="-120"/>
              </a:rPr>
              <a:t>4/2001</a:t>
            </a:r>
            <a:endParaRPr lang="en-US" sz="1350" dirty="0"/>
          </a:p>
        </p:txBody>
      </p:sp>
      <p:sp>
        <p:nvSpPr>
          <p:cNvPr id="10" name="Text 7"/>
          <p:cNvSpPr txBox="1"/>
          <p:nvPr/>
        </p:nvSpPr>
        <p:spPr>
          <a:xfrm>
            <a:off x="786384" y="2286000"/>
            <a:ext cx="2135124" cy="475488"/>
          </a:xfrm>
          <a:prstGeom prst="rect">
            <a:avLst/>
          </a:prstGeom>
          <a:noFill/>
          <a:ln/>
        </p:spPr>
        <p:txBody>
          <a:bodyPr wrap="square" lIns="0" tIns="0" rIns="0" bIns="0" rtlCol="0" anchor="ctr"/>
          <a:lstStyle/>
          <a:p>
            <a:pPr indent="0" marL="0">
              <a:lnSpc>
                <a:spcPts val="1600"/>
              </a:lnSpc>
              <a:buNone/>
            </a:pPr>
            <a:r>
              <a:rPr lang="en-US" sz="1200" b="1" dirty="0">
                <a:solidFill>
                  <a:srgbClr val="241A16"/>
                </a:solidFill>
                <a:latin typeface="Arial" pitchFamily="34" charset="0"/>
                <a:ea typeface="Arial" pitchFamily="34" charset="-122"/>
                <a:cs typeface="Arial" pitchFamily="34" charset="-120"/>
              </a:rPr>
              <a:t>Đại hội IX</a:t>
            </a:r>
            <a:endParaRPr lang="en-US" sz="1200" dirty="0"/>
          </a:p>
        </p:txBody>
      </p:sp>
      <p:sp>
        <p:nvSpPr>
          <p:cNvPr id="11" name="Text 8"/>
          <p:cNvSpPr txBox="1"/>
          <p:nvPr/>
        </p:nvSpPr>
        <p:spPr>
          <a:xfrm>
            <a:off x="786384" y="2761488"/>
            <a:ext cx="2135124" cy="1078992"/>
          </a:xfrm>
          <a:prstGeom prst="rect">
            <a:avLst/>
          </a:prstGeom>
          <a:noFill/>
          <a:ln/>
        </p:spPr>
        <p:txBody>
          <a:bodyPr wrap="square" lIns="0" tIns="0" rIns="0" bIns="0" rtlCol="0" anchor="ctr"/>
          <a:lstStyle/>
          <a:p>
            <a:pPr indent="0" marL="0">
              <a:lnSpc>
                <a:spcPts val="1550"/>
              </a:lnSpc>
              <a:buNone/>
            </a:pPr>
            <a:r>
              <a:rPr lang="en-US" sz="1130" dirty="0">
                <a:solidFill>
                  <a:srgbClr val="6E6257"/>
                </a:solidFill>
                <a:latin typeface="Arial" pitchFamily="34" charset="0"/>
                <a:ea typeface="Arial" pitchFamily="34" charset="-122"/>
                <a:cs typeface="Arial" pitchFamily="34" charset="-120"/>
              </a:rPr>
              <a:t>Đưa ra định nghĩa tương đối hoàn chỉnh, xác định rõ nguồn gốc, nội dung và giá trị của tư tưởng Hồ Chí Minh.</a:t>
            </a:r>
            <a:endParaRPr lang="en-US" sz="1130" dirty="0"/>
          </a:p>
        </p:txBody>
      </p:sp>
      <p:sp>
        <p:nvSpPr>
          <p:cNvPr id="12" name="Shape 9"/>
          <p:cNvSpPr/>
          <p:nvPr/>
        </p:nvSpPr>
        <p:spPr>
          <a:xfrm>
            <a:off x="3396996" y="1810512"/>
            <a:ext cx="2574036" cy="2121408"/>
          </a:xfrm>
          <a:prstGeom prst="roundRect">
            <a:avLst>
              <a:gd name="adj" fmla="val 4310"/>
            </a:avLst>
          </a:prstGeom>
          <a:solidFill>
            <a:srgbClr val="8C0D14"/>
          </a:solidFill>
          <a:ln w="15875">
            <a:solidFill>
              <a:srgbClr val="8C0D14"/>
            </a:solidFill>
            <a:prstDash val="solid"/>
          </a:ln>
          <a:effectLst>
            <a:outerShdw sx="100000" sy="100000" kx="0" ky="0" algn="bl" rotWithShape="0" blurRad="101600" dist="25400" dir="5400000">
              <a:srgbClr val="9A8C80">
                <a:alpha val="18000"/>
              </a:srgbClr>
            </a:outerShdw>
          </a:effectLst>
        </p:spPr>
      </p:sp>
      <p:sp>
        <p:nvSpPr>
          <p:cNvPr id="13" name="Text 10"/>
          <p:cNvSpPr txBox="1"/>
          <p:nvPr/>
        </p:nvSpPr>
        <p:spPr>
          <a:xfrm>
            <a:off x="3616452" y="1975104"/>
            <a:ext cx="2135124" cy="310896"/>
          </a:xfrm>
          <a:prstGeom prst="rect">
            <a:avLst/>
          </a:prstGeom>
          <a:noFill/>
          <a:ln/>
        </p:spPr>
        <p:txBody>
          <a:bodyPr wrap="square" lIns="0" tIns="0" rIns="0" bIns="0" rtlCol="0" anchor="ctr"/>
          <a:lstStyle/>
          <a:p>
            <a:pPr indent="0" marL="0">
              <a:buNone/>
            </a:pPr>
            <a:r>
              <a:rPr lang="en-US" sz="1350" b="1" dirty="0">
                <a:solidFill>
                  <a:srgbClr val="E8B02B"/>
                </a:solidFill>
                <a:latin typeface="Arial" pitchFamily="34" charset="0"/>
                <a:ea typeface="Arial" pitchFamily="34" charset="-122"/>
                <a:cs typeface="Arial" pitchFamily="34" charset="-120"/>
              </a:rPr>
              <a:t>1/2011</a:t>
            </a:r>
            <a:endParaRPr lang="en-US" sz="1350" dirty="0"/>
          </a:p>
        </p:txBody>
      </p:sp>
      <p:sp>
        <p:nvSpPr>
          <p:cNvPr id="14" name="Text 11"/>
          <p:cNvSpPr txBox="1"/>
          <p:nvPr/>
        </p:nvSpPr>
        <p:spPr>
          <a:xfrm>
            <a:off x="3616452" y="2286000"/>
            <a:ext cx="2135124" cy="475488"/>
          </a:xfrm>
          <a:prstGeom prst="rect">
            <a:avLst/>
          </a:prstGeom>
          <a:noFill/>
          <a:ln/>
        </p:spPr>
        <p:txBody>
          <a:bodyPr wrap="square" lIns="0" tIns="0" rIns="0" bIns="0" rtlCol="0" anchor="ctr"/>
          <a:lstStyle/>
          <a:p>
            <a:pPr indent="0" marL="0">
              <a:lnSpc>
                <a:spcPts val="1600"/>
              </a:lnSpc>
              <a:buNone/>
            </a:pPr>
            <a:r>
              <a:rPr lang="en-US" sz="1200" b="1" dirty="0">
                <a:solidFill>
                  <a:srgbClr val="FFFFFF"/>
                </a:solidFill>
                <a:latin typeface="Arial" pitchFamily="34" charset="0"/>
                <a:ea typeface="Arial" pitchFamily="34" charset="-122"/>
                <a:cs typeface="Arial" pitchFamily="34" charset="-120"/>
              </a:rPr>
              <a:t>Đại hội XI</a:t>
            </a:r>
            <a:endParaRPr lang="en-US" sz="1200" dirty="0"/>
          </a:p>
        </p:txBody>
      </p:sp>
      <p:sp>
        <p:nvSpPr>
          <p:cNvPr id="15" name="Text 12"/>
          <p:cNvSpPr txBox="1"/>
          <p:nvPr/>
        </p:nvSpPr>
        <p:spPr>
          <a:xfrm>
            <a:off x="3616452" y="2761488"/>
            <a:ext cx="2135124" cy="1078992"/>
          </a:xfrm>
          <a:prstGeom prst="rect">
            <a:avLst/>
          </a:prstGeom>
          <a:noFill/>
          <a:ln/>
        </p:spPr>
        <p:txBody>
          <a:bodyPr wrap="square" lIns="0" tIns="0" rIns="0" bIns="0" rtlCol="0" anchor="ctr"/>
          <a:lstStyle/>
          <a:p>
            <a:pPr indent="0" marL="0">
              <a:lnSpc>
                <a:spcPts val="1550"/>
              </a:lnSpc>
              <a:buNone/>
            </a:pPr>
            <a:r>
              <a:rPr lang="en-US" sz="1130" dirty="0">
                <a:solidFill>
                  <a:srgbClr val="FBE9E4"/>
                </a:solidFill>
                <a:latin typeface="Arial" pitchFamily="34" charset="0"/>
                <a:ea typeface="Arial" pitchFamily="34" charset="-122"/>
                <a:cs typeface="Arial" pitchFamily="34" charset="-120"/>
              </a:rPr>
              <a:t>Cương lĩnh (bổ sung, phát triển) hoàn chỉnh định nghĩa: khẳng định tài sản tinh thần vô cùng to lớn, quý giá và mãi mãi soi đường.</a:t>
            </a:r>
            <a:endParaRPr lang="en-US" sz="1130" dirty="0"/>
          </a:p>
        </p:txBody>
      </p:sp>
      <p:sp>
        <p:nvSpPr>
          <p:cNvPr id="16" name="Shape 13"/>
          <p:cNvSpPr/>
          <p:nvPr/>
        </p:nvSpPr>
        <p:spPr>
          <a:xfrm>
            <a:off x="6227064" y="1810512"/>
            <a:ext cx="2574036" cy="2121408"/>
          </a:xfrm>
          <a:prstGeom prst="roundRect">
            <a:avLst>
              <a:gd name="adj" fmla="val 4310"/>
            </a:avLst>
          </a:prstGeom>
          <a:solidFill>
            <a:srgbClr val="FFFFFF"/>
          </a:solidFill>
          <a:ln w="15875">
            <a:solidFill>
              <a:srgbClr val="E4DAD0"/>
            </a:solidFill>
            <a:prstDash val="solid"/>
          </a:ln>
          <a:effectLst>
            <a:outerShdw sx="100000" sy="100000" kx="0" ky="0" algn="bl" rotWithShape="0" blurRad="101600" dist="25400" dir="5400000">
              <a:srgbClr val="9A8C80">
                <a:alpha val="18000"/>
              </a:srgbClr>
            </a:outerShdw>
          </a:effectLst>
        </p:spPr>
      </p:sp>
      <p:sp>
        <p:nvSpPr>
          <p:cNvPr id="17" name="Text 14"/>
          <p:cNvSpPr txBox="1"/>
          <p:nvPr/>
        </p:nvSpPr>
        <p:spPr>
          <a:xfrm>
            <a:off x="6446520" y="1975104"/>
            <a:ext cx="2135124" cy="310896"/>
          </a:xfrm>
          <a:prstGeom prst="rect">
            <a:avLst/>
          </a:prstGeom>
          <a:noFill/>
          <a:ln/>
        </p:spPr>
        <p:txBody>
          <a:bodyPr wrap="square" lIns="0" tIns="0" rIns="0" bIns="0" rtlCol="0" anchor="ctr"/>
          <a:lstStyle/>
          <a:p>
            <a:pPr indent="0" marL="0">
              <a:buNone/>
            </a:pPr>
            <a:r>
              <a:rPr lang="en-US" sz="1350" b="1" dirty="0">
                <a:solidFill>
                  <a:srgbClr val="8C0D14"/>
                </a:solidFill>
                <a:latin typeface="Arial" pitchFamily="34" charset="0"/>
                <a:ea typeface="Arial" pitchFamily="34" charset="-122"/>
                <a:cs typeface="Arial" pitchFamily="34" charset="-120"/>
              </a:rPr>
              <a:t>2006 – 2021</a:t>
            </a:r>
            <a:endParaRPr lang="en-US" sz="1350" dirty="0"/>
          </a:p>
        </p:txBody>
      </p:sp>
      <p:sp>
        <p:nvSpPr>
          <p:cNvPr id="18" name="Text 15"/>
          <p:cNvSpPr txBox="1"/>
          <p:nvPr/>
        </p:nvSpPr>
        <p:spPr>
          <a:xfrm>
            <a:off x="6446520" y="2286000"/>
            <a:ext cx="2135124" cy="475488"/>
          </a:xfrm>
          <a:prstGeom prst="rect">
            <a:avLst/>
          </a:prstGeom>
          <a:noFill/>
          <a:ln/>
        </p:spPr>
        <p:txBody>
          <a:bodyPr wrap="square" lIns="0" tIns="0" rIns="0" bIns="0" rtlCol="0" anchor="ctr"/>
          <a:lstStyle/>
          <a:p>
            <a:pPr indent="0" marL="0">
              <a:lnSpc>
                <a:spcPts val="1600"/>
              </a:lnSpc>
              <a:buNone/>
            </a:pPr>
            <a:r>
              <a:rPr lang="en-US" sz="1200" b="1" dirty="0">
                <a:solidFill>
                  <a:srgbClr val="241A16"/>
                </a:solidFill>
                <a:latin typeface="Arial" pitchFamily="34" charset="0"/>
                <a:ea typeface="Arial" pitchFamily="34" charset="-122"/>
                <a:cs typeface="Arial" pitchFamily="34" charset="-120"/>
              </a:rPr>
              <a:t>Học tập và làm theo</a:t>
            </a:r>
            <a:endParaRPr lang="en-US" sz="1200" dirty="0"/>
          </a:p>
        </p:txBody>
      </p:sp>
      <p:sp>
        <p:nvSpPr>
          <p:cNvPr id="19" name="Text 16"/>
          <p:cNvSpPr txBox="1"/>
          <p:nvPr/>
        </p:nvSpPr>
        <p:spPr>
          <a:xfrm>
            <a:off x="6446520" y="2761488"/>
            <a:ext cx="2135124" cy="1078992"/>
          </a:xfrm>
          <a:prstGeom prst="rect">
            <a:avLst/>
          </a:prstGeom>
          <a:noFill/>
          <a:ln/>
        </p:spPr>
        <p:txBody>
          <a:bodyPr wrap="square" lIns="0" tIns="0" rIns="0" bIns="0" rtlCol="0" anchor="ctr"/>
          <a:lstStyle/>
          <a:p>
            <a:pPr indent="0" marL="0">
              <a:lnSpc>
                <a:spcPts val="1550"/>
              </a:lnSpc>
              <a:buNone/>
            </a:pPr>
            <a:r>
              <a:rPr lang="en-US" sz="1130" dirty="0">
                <a:solidFill>
                  <a:srgbClr val="6E6257"/>
                </a:solidFill>
                <a:latin typeface="Arial" pitchFamily="34" charset="0"/>
                <a:ea typeface="Arial" pitchFamily="34" charset="-122"/>
                <a:cs typeface="Arial" pitchFamily="34" charset="-120"/>
              </a:rPr>
              <a:t>Chỉ thị 06 (2006) → Chỉ thị 03 (2011) → Chỉ thị 05 (2016) về tư tưởng, đạo đức, phong cách Hồ Chí Minh → Kết luận 01-KL/TW (2021).</a:t>
            </a:r>
            <a:endParaRPr lang="en-US" sz="1130" dirty="0"/>
          </a:p>
        </p:txBody>
      </p:sp>
      <p:sp>
        <p:nvSpPr>
          <p:cNvPr id="20" name="Shape 17"/>
          <p:cNvSpPr/>
          <p:nvPr/>
        </p:nvSpPr>
        <p:spPr>
          <a:xfrm>
            <a:off x="9057132" y="1810512"/>
            <a:ext cx="2574036" cy="2121408"/>
          </a:xfrm>
          <a:prstGeom prst="roundRect">
            <a:avLst>
              <a:gd name="adj" fmla="val 4310"/>
            </a:avLst>
          </a:prstGeom>
          <a:solidFill>
            <a:srgbClr val="FFFFFF"/>
          </a:solidFill>
          <a:ln w="15875">
            <a:solidFill>
              <a:srgbClr val="E4DAD0"/>
            </a:solidFill>
            <a:prstDash val="solid"/>
          </a:ln>
          <a:effectLst>
            <a:outerShdw sx="100000" sy="100000" kx="0" ky="0" algn="bl" rotWithShape="0" blurRad="101600" dist="25400" dir="5400000">
              <a:srgbClr val="9A8C80">
                <a:alpha val="18000"/>
              </a:srgbClr>
            </a:outerShdw>
          </a:effectLst>
        </p:spPr>
      </p:sp>
      <p:sp>
        <p:nvSpPr>
          <p:cNvPr id="21" name="Text 18"/>
          <p:cNvSpPr txBox="1"/>
          <p:nvPr/>
        </p:nvSpPr>
        <p:spPr>
          <a:xfrm>
            <a:off x="9276588" y="1975104"/>
            <a:ext cx="2135124" cy="310896"/>
          </a:xfrm>
          <a:prstGeom prst="rect">
            <a:avLst/>
          </a:prstGeom>
          <a:noFill/>
          <a:ln/>
        </p:spPr>
        <p:txBody>
          <a:bodyPr wrap="square" lIns="0" tIns="0" rIns="0" bIns="0" rtlCol="0" anchor="ctr"/>
          <a:lstStyle/>
          <a:p>
            <a:pPr indent="0" marL="0">
              <a:buNone/>
            </a:pPr>
            <a:r>
              <a:rPr lang="en-US" sz="1350" b="1" dirty="0">
                <a:solidFill>
                  <a:srgbClr val="8C0D14"/>
                </a:solidFill>
                <a:latin typeface="Arial" pitchFamily="34" charset="0"/>
                <a:ea typeface="Arial" pitchFamily="34" charset="-122"/>
                <a:cs typeface="Arial" pitchFamily="34" charset="-120"/>
              </a:rPr>
              <a:t>2021</a:t>
            </a:r>
            <a:endParaRPr lang="en-US" sz="1350" dirty="0"/>
          </a:p>
        </p:txBody>
      </p:sp>
      <p:sp>
        <p:nvSpPr>
          <p:cNvPr id="22" name="Text 19"/>
          <p:cNvSpPr txBox="1"/>
          <p:nvPr/>
        </p:nvSpPr>
        <p:spPr>
          <a:xfrm>
            <a:off x="9276588" y="2286000"/>
            <a:ext cx="2135124" cy="475488"/>
          </a:xfrm>
          <a:prstGeom prst="rect">
            <a:avLst/>
          </a:prstGeom>
          <a:noFill/>
          <a:ln/>
        </p:spPr>
        <p:txBody>
          <a:bodyPr wrap="square" lIns="0" tIns="0" rIns="0" bIns="0" rtlCol="0" anchor="ctr"/>
          <a:lstStyle/>
          <a:p>
            <a:pPr indent="0" marL="0">
              <a:lnSpc>
                <a:spcPts val="1600"/>
              </a:lnSpc>
              <a:buNone/>
            </a:pPr>
            <a:r>
              <a:rPr lang="en-US" sz="1200" b="1" dirty="0">
                <a:solidFill>
                  <a:srgbClr val="241A16"/>
                </a:solidFill>
                <a:latin typeface="Arial" pitchFamily="34" charset="0"/>
                <a:ea typeface="Arial" pitchFamily="34" charset="-122"/>
                <a:cs typeface="Arial" pitchFamily="34" charset="-120"/>
              </a:rPr>
              <a:t>Đại hội XIII</a:t>
            </a:r>
            <a:endParaRPr lang="en-US" sz="1200" dirty="0"/>
          </a:p>
        </p:txBody>
      </p:sp>
      <p:sp>
        <p:nvSpPr>
          <p:cNvPr id="23" name="Text 20"/>
          <p:cNvSpPr txBox="1"/>
          <p:nvPr/>
        </p:nvSpPr>
        <p:spPr>
          <a:xfrm>
            <a:off x="9276588" y="2761488"/>
            <a:ext cx="2135124" cy="1078992"/>
          </a:xfrm>
          <a:prstGeom prst="rect">
            <a:avLst/>
          </a:prstGeom>
          <a:noFill/>
          <a:ln/>
        </p:spPr>
        <p:txBody>
          <a:bodyPr wrap="square" lIns="0" tIns="0" rIns="0" bIns="0" rtlCol="0" anchor="ctr"/>
          <a:lstStyle/>
          <a:p>
            <a:pPr indent="0" marL="0">
              <a:lnSpc>
                <a:spcPts val="1550"/>
              </a:lnSpc>
              <a:buNone/>
            </a:pPr>
            <a:r>
              <a:rPr lang="en-US" sz="1130" dirty="0">
                <a:solidFill>
                  <a:srgbClr val="6E6257"/>
                </a:solidFill>
                <a:latin typeface="Arial" pitchFamily="34" charset="0"/>
                <a:ea typeface="Arial" pitchFamily="34" charset="-122"/>
                <a:cs typeface="Arial" pitchFamily="34" charset="-120"/>
              </a:rPr>
              <a:t>Xác định kiên định và vận dụng, phát triển sáng tạo chủ nghĩa Mác – Lênin, tư tưởng Hồ Chí Minh; đẩy mạnh bảo vệ nền tảng tư tưởng của Đảng.</a:t>
            </a:r>
            <a:endParaRPr lang="en-US" sz="1130" dirty="0"/>
          </a:p>
        </p:txBody>
      </p:sp>
      <p:sp>
        <p:nvSpPr>
          <p:cNvPr id="24" name="Shape 21"/>
          <p:cNvSpPr/>
          <p:nvPr/>
        </p:nvSpPr>
        <p:spPr>
          <a:xfrm>
            <a:off x="566928" y="4096512"/>
            <a:ext cx="6675120" cy="1188720"/>
          </a:xfrm>
          <a:prstGeom prst="roundRect">
            <a:avLst>
              <a:gd name="adj" fmla="val 7692"/>
            </a:avLst>
          </a:prstGeom>
          <a:solidFill>
            <a:srgbClr val="FBF1D8"/>
          </a:solidFill>
          <a:ln w="15875">
            <a:solidFill>
              <a:srgbClr val="E8B02B"/>
            </a:solidFill>
            <a:prstDash val="solid"/>
          </a:ln>
          <a:effectLst>
            <a:outerShdw sx="100000" sy="100000" kx="0" ky="0" algn="bl" rotWithShape="0" blurRad="101600" dist="25400" dir="5400000">
              <a:srgbClr val="9A8C80">
                <a:alpha val="18000"/>
              </a:srgbClr>
            </a:outerShdw>
          </a:effectLst>
        </p:spPr>
      </p:sp>
      <p:sp>
        <p:nvSpPr>
          <p:cNvPr id="25" name="Text 22"/>
          <p:cNvSpPr txBox="1"/>
          <p:nvPr/>
        </p:nvSpPr>
        <p:spPr>
          <a:xfrm>
            <a:off x="841248" y="4242816"/>
            <a:ext cx="6126480" cy="530352"/>
          </a:xfrm>
          <a:prstGeom prst="rect">
            <a:avLst/>
          </a:prstGeom>
          <a:noFill/>
          <a:ln/>
        </p:spPr>
        <p:txBody>
          <a:bodyPr wrap="square" lIns="0" tIns="0" rIns="0" bIns="0" rtlCol="0" anchor="ctr"/>
          <a:lstStyle/>
          <a:p>
            <a:pPr indent="0" marL="0">
              <a:lnSpc>
                <a:spcPts val="1900"/>
              </a:lnSpc>
              <a:buNone/>
            </a:pPr>
            <a:r>
              <a:rPr lang="en-US" sz="1320" i="1" dirty="0">
                <a:solidFill>
                  <a:srgbClr val="241A16"/>
                </a:solidFill>
                <a:latin typeface="Times New Roman" pitchFamily="34" charset="0"/>
                <a:ea typeface="Times New Roman" pitchFamily="34" charset="-122"/>
                <a:cs typeface="Times New Roman" pitchFamily="34" charset="-120"/>
              </a:rPr>
              <a:t>“Kiên định và vận dụng, phát triển sáng tạo chủ nghĩa Mác – Lênin, tư tưởng Hồ Chí Minh.”</a:t>
            </a:r>
            <a:endParaRPr lang="en-US" sz="1320" dirty="0"/>
          </a:p>
        </p:txBody>
      </p:sp>
      <p:sp>
        <p:nvSpPr>
          <p:cNvPr id="26" name="Text 23"/>
          <p:cNvSpPr txBox="1"/>
          <p:nvPr/>
        </p:nvSpPr>
        <p:spPr>
          <a:xfrm>
            <a:off x="841248" y="4791456"/>
            <a:ext cx="6126480" cy="310896"/>
          </a:xfrm>
          <a:prstGeom prst="rect">
            <a:avLst/>
          </a:prstGeom>
          <a:noFill/>
          <a:ln/>
        </p:spPr>
        <p:txBody>
          <a:bodyPr wrap="square" lIns="0" tIns="0" rIns="0" bIns="0" rtlCol="0" anchor="ctr"/>
          <a:lstStyle/>
          <a:p>
            <a:pPr algn="r" indent="0" marL="0">
              <a:buNone/>
            </a:pPr>
            <a:r>
              <a:rPr lang="en-US" sz="1050" b="1" dirty="0">
                <a:solidFill>
                  <a:srgbClr val="8C0D14"/>
                </a:solidFill>
                <a:latin typeface="Arial" pitchFamily="34" charset="0"/>
                <a:ea typeface="Arial" pitchFamily="34" charset="-122"/>
                <a:cs typeface="Arial" pitchFamily="34" charset="-120"/>
              </a:rPr>
              <a:t>— Văn kiện Đại hội XIII của Đảng, 2021</a:t>
            </a:r>
            <a:endParaRPr lang="en-US" sz="1050" dirty="0"/>
          </a:p>
        </p:txBody>
      </p:sp>
      <p:sp>
        <p:nvSpPr>
          <p:cNvPr id="27" name="Text 24"/>
          <p:cNvSpPr txBox="1"/>
          <p:nvPr/>
        </p:nvSpPr>
        <p:spPr>
          <a:xfrm>
            <a:off x="7498080" y="4096512"/>
            <a:ext cx="4133088" cy="274320"/>
          </a:xfrm>
          <a:prstGeom prst="rect">
            <a:avLst/>
          </a:prstGeom>
          <a:noFill/>
          <a:ln/>
        </p:spPr>
        <p:txBody>
          <a:bodyPr wrap="square" lIns="0" tIns="0" rIns="0" bIns="0" rtlCol="0" anchor="ctr"/>
          <a:lstStyle/>
          <a:p>
            <a:pPr indent="0" marL="0">
              <a:buNone/>
            </a:pPr>
            <a:r>
              <a:rPr lang="en-US" sz="1250" b="1" dirty="0">
                <a:solidFill>
                  <a:srgbClr val="8C0D14"/>
                </a:solidFill>
                <a:latin typeface="Arial" pitchFamily="34" charset="0"/>
                <a:ea typeface="Arial" pitchFamily="34" charset="-122"/>
                <a:cs typeface="Arial" pitchFamily="34" charset="-120"/>
              </a:rPr>
              <a:t>Đặc điểm giai đoạn 4</a:t>
            </a:r>
            <a:endParaRPr lang="en-US" sz="1250" dirty="0"/>
          </a:p>
        </p:txBody>
      </p:sp>
      <p:sp>
        <p:nvSpPr>
          <p:cNvPr id="28" name="Text 25"/>
          <p:cNvSpPr txBox="1"/>
          <p:nvPr/>
        </p:nvSpPr>
        <p:spPr>
          <a:xfrm>
            <a:off x="7498080" y="4389120"/>
            <a:ext cx="4133088" cy="914400"/>
          </a:xfrm>
          <a:prstGeom prst="rect">
            <a:avLst/>
          </a:prstGeom>
          <a:noFill/>
          <a:ln/>
        </p:spPr>
        <p:txBody>
          <a:bodyPr wrap="square" lIns="0" tIns="0" rIns="0" bIns="0" rtlCol="0" anchor="ctr"/>
          <a:lstStyle/>
          <a:p>
            <a:pPr indent="0" marL="0">
              <a:lnSpc>
                <a:spcPts val="1600"/>
              </a:lnSpc>
              <a:buNone/>
            </a:pPr>
            <a:r>
              <a:rPr lang="en-US" sz="1150" dirty="0">
                <a:solidFill>
                  <a:srgbClr val="241A16"/>
                </a:solidFill>
                <a:latin typeface="Arial" pitchFamily="34" charset="0"/>
                <a:ea typeface="Arial" pitchFamily="34" charset="-122"/>
                <a:cs typeface="Arial" pitchFamily="34" charset="-120"/>
              </a:rPr>
              <a:t>Nhận thức đi vào chiều sâu: từ khẳng định vị trí → xây dựng định nghĩa → đưa vào giảng dạy, tổ chức học tập và đấu tranh bảo vệ nền tảng tư tưởng.</a:t>
            </a:r>
            <a:endParaRPr lang="en-US" sz="1150" dirty="0"/>
          </a:p>
        </p:txBody>
      </p:sp>
      <p:pic>
        <p:nvPicPr>
          <p:cNvPr id="29" name="Image 1" descr="img/fig_tl4.png">    </p:cNvPr>
          <p:cNvPicPr>
            <a:picLocks noChangeAspect="1"/>
          </p:cNvPicPr>
          <p:nvPr/>
        </p:nvPicPr>
        <p:blipFill>
          <a:blip r:embed="rId2"/>
          <a:stretch>
            <a:fillRect/>
          </a:stretch>
        </p:blipFill>
        <p:spPr>
          <a:xfrm>
            <a:off x="1700784" y="5358384"/>
            <a:ext cx="8778240" cy="969264"/>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566928" y="310896"/>
            <a:ext cx="8686800" cy="274320"/>
          </a:xfrm>
          <a:prstGeom prst="rect">
            <a:avLst/>
          </a:prstGeom>
          <a:noFill/>
          <a:ln/>
        </p:spPr>
        <p:txBody>
          <a:bodyPr wrap="square" lIns="0" tIns="0" rIns="0" bIns="0" rtlCol="0" anchor="ctr"/>
          <a:lstStyle/>
          <a:p>
            <a:pPr indent="0" marL="0">
              <a:buNone/>
            </a:pPr>
            <a:r>
              <a:rPr lang="en-US" sz="1100" b="1" spc="200" kern="0" dirty="0">
                <a:solidFill>
                  <a:srgbClr val="E8B02B"/>
                </a:solidFill>
                <a:latin typeface="Arial" pitchFamily="34" charset="0"/>
                <a:ea typeface="Arial" pitchFamily="34" charset="-122"/>
                <a:cs typeface="Arial" pitchFamily="34" charset="-120"/>
              </a:rPr>
              <a:t>PHẦN IV · NHẬN XÉT &amp; KẾT LUẬN</a:t>
            </a:r>
            <a:endParaRPr lang="en-US" sz="1100" dirty="0"/>
          </a:p>
        </p:txBody>
      </p:sp>
      <p:sp>
        <p:nvSpPr>
          <p:cNvPr id="3" name="Text 1"/>
          <p:cNvSpPr txBox="1"/>
          <p:nvPr/>
        </p:nvSpPr>
        <p:spPr>
          <a:xfrm>
            <a:off x="566928" y="6355080"/>
            <a:ext cx="5486400" cy="274320"/>
          </a:xfrm>
          <a:prstGeom prst="rect">
            <a:avLst/>
          </a:prstGeom>
          <a:noFill/>
          <a:ln/>
        </p:spPr>
        <p:txBody>
          <a:bodyPr wrap="square" lIns="0" tIns="0" rIns="0" bIns="0" rtlCol="0" anchor="ctr"/>
          <a:lstStyle/>
          <a:p>
            <a:pPr indent="0" marL="0">
              <a:buNone/>
            </a:pPr>
            <a:r>
              <a:rPr lang="en-US" sz="950" dirty="0">
                <a:solidFill>
                  <a:srgbClr val="A99C90"/>
                </a:solidFill>
                <a:latin typeface="Arial" pitchFamily="34" charset="0"/>
                <a:ea typeface="Arial" pitchFamily="34" charset="-122"/>
                <a:cs typeface="Arial" pitchFamily="34" charset="-120"/>
              </a:rPr>
              <a:t>NHÓM 1  ·  TƯ TƯỞNG HỒ CHÍ MINH</a:t>
            </a:r>
            <a:endParaRPr lang="en-US" sz="950" dirty="0"/>
          </a:p>
        </p:txBody>
      </p:sp>
      <p:sp>
        <p:nvSpPr>
          <p:cNvPr id="4" name="Text 2"/>
          <p:cNvSpPr txBox="1"/>
          <p:nvPr/>
        </p:nvSpPr>
        <p:spPr>
          <a:xfrm>
            <a:off x="11064240" y="6355080"/>
            <a:ext cx="566928" cy="274320"/>
          </a:xfrm>
          <a:prstGeom prst="rect">
            <a:avLst/>
          </a:prstGeom>
          <a:noFill/>
          <a:ln/>
        </p:spPr>
        <p:txBody>
          <a:bodyPr wrap="square" lIns="0" tIns="0" rIns="0" bIns="0" rtlCol="0" anchor="ctr"/>
          <a:lstStyle/>
          <a:p>
            <a:pPr algn="r" indent="0" marL="0">
              <a:buNone/>
            </a:pPr>
            <a:r>
              <a:rPr lang="en-US" sz="1100" b="1" dirty="0">
                <a:solidFill>
                  <a:srgbClr val="8C0D14"/>
                </a:solidFill>
                <a:latin typeface="Arial" pitchFamily="34" charset="0"/>
                <a:ea typeface="Arial" pitchFamily="34" charset="-122"/>
                <a:cs typeface="Arial" pitchFamily="34" charset="-120"/>
              </a:rPr>
              <a:t>12</a:t>
            </a:r>
            <a:endParaRPr lang="en-US" sz="1100" dirty="0"/>
          </a:p>
        </p:txBody>
      </p:sp>
      <p:pic>
        <p:nvPicPr>
          <p:cNvPr id="5" name="Image 0" descr="img/star_gold.png">    </p:cNvPr>
          <p:cNvPicPr>
            <a:picLocks noChangeAspect="1"/>
          </p:cNvPicPr>
          <p:nvPr/>
        </p:nvPicPr>
        <p:blipFill>
          <a:blip r:embed="rId1"/>
          <a:stretch>
            <a:fillRect/>
          </a:stretch>
        </p:blipFill>
        <p:spPr>
          <a:xfrm>
            <a:off x="566928" y="749808"/>
            <a:ext cx="310896" cy="310896"/>
          </a:xfrm>
          <a:prstGeom prst="rect">
            <a:avLst/>
          </a:prstGeom>
        </p:spPr>
      </p:pic>
      <p:sp>
        <p:nvSpPr>
          <p:cNvPr id="6" name="Text 3"/>
          <p:cNvSpPr txBox="1"/>
          <p:nvPr/>
        </p:nvSpPr>
        <p:spPr>
          <a:xfrm>
            <a:off x="1005840" y="658368"/>
            <a:ext cx="10607040" cy="512064"/>
          </a:xfrm>
          <a:prstGeom prst="rect">
            <a:avLst/>
          </a:prstGeom>
          <a:noFill/>
          <a:ln/>
        </p:spPr>
        <p:txBody>
          <a:bodyPr wrap="square" lIns="0" tIns="0" rIns="0" bIns="0" rtlCol="0" anchor="ctr"/>
          <a:lstStyle/>
          <a:p>
            <a:pPr indent="0" marL="0">
              <a:buNone/>
            </a:pPr>
            <a:r>
              <a:rPr lang="en-US" sz="2650" b="1" dirty="0">
                <a:solidFill>
                  <a:srgbClr val="8C0D14"/>
                </a:solidFill>
                <a:latin typeface="Times New Roman" pitchFamily="34" charset="0"/>
                <a:ea typeface="Times New Roman" pitchFamily="34" charset="-122"/>
                <a:cs typeface="Times New Roman" pitchFamily="34" charset="-120"/>
              </a:rPr>
              <a:t>NHẬN XÉT VỀ QUÁ TRÌNH NHẬN THỨC CỦA ĐẢNG</a:t>
            </a:r>
            <a:endParaRPr lang="en-US" sz="2650" dirty="0"/>
          </a:p>
        </p:txBody>
      </p:sp>
      <p:pic>
        <p:nvPicPr>
          <p:cNvPr id="7" name="Image 1" descr="img/fig_nhanxet.png">    </p:cNvPr>
          <p:cNvPicPr>
            <a:picLocks noChangeAspect="1"/>
          </p:cNvPicPr>
          <p:nvPr/>
        </p:nvPicPr>
        <p:blipFill>
          <a:blip r:embed="rId2"/>
          <a:stretch>
            <a:fillRect/>
          </a:stretch>
        </p:blipFill>
        <p:spPr>
          <a:xfrm>
            <a:off x="6537960" y="1389888"/>
            <a:ext cx="5120640" cy="3090672"/>
          </a:xfrm>
          <a:prstGeom prst="rect">
            <a:avLst/>
          </a:prstGeom>
        </p:spPr>
      </p:pic>
      <p:sp>
        <p:nvSpPr>
          <p:cNvPr id="8" name="Shape 4"/>
          <p:cNvSpPr/>
          <p:nvPr/>
        </p:nvSpPr>
        <p:spPr>
          <a:xfrm>
            <a:off x="566928" y="1389888"/>
            <a:ext cx="420624" cy="420624"/>
          </a:xfrm>
          <a:prstGeom prst="ellipse">
            <a:avLst/>
          </a:prstGeom>
          <a:solidFill>
            <a:srgbClr val="8C0D14"/>
          </a:solidFill>
          <a:ln w="12700">
            <a:solidFill>
              <a:srgbClr val="8C0D14"/>
            </a:solidFill>
            <a:prstDash val="solid"/>
          </a:ln>
        </p:spPr>
      </p:sp>
      <p:sp>
        <p:nvSpPr>
          <p:cNvPr id="9" name="Text 5"/>
          <p:cNvSpPr txBox="1"/>
          <p:nvPr/>
        </p:nvSpPr>
        <p:spPr>
          <a:xfrm>
            <a:off x="566928" y="1389888"/>
            <a:ext cx="420624" cy="420624"/>
          </a:xfrm>
          <a:prstGeom prst="rect">
            <a:avLst/>
          </a:prstGeom>
          <a:noFill/>
          <a:ln/>
        </p:spPr>
        <p:txBody>
          <a:bodyPr wrap="square" lIns="0" tIns="0" rIns="0" bIns="0" rtlCol="0" anchor="ctr"/>
          <a:lstStyle/>
          <a:p>
            <a:pPr algn="ctr" indent="0" marL="0">
              <a:buNone/>
            </a:pPr>
            <a:r>
              <a:rPr lang="en-US" sz="1400" b="1" dirty="0">
                <a:solidFill>
                  <a:srgbClr val="E8B02B"/>
                </a:solidFill>
                <a:latin typeface="Arial" pitchFamily="34" charset="0"/>
                <a:ea typeface="Arial" pitchFamily="34" charset="-122"/>
                <a:cs typeface="Arial" pitchFamily="34" charset="-120"/>
              </a:rPr>
              <a:t>1</a:t>
            </a:r>
            <a:endParaRPr lang="en-US" sz="1400" dirty="0"/>
          </a:p>
        </p:txBody>
      </p:sp>
      <p:sp>
        <p:nvSpPr>
          <p:cNvPr id="10" name="Text 6"/>
          <p:cNvSpPr txBox="1"/>
          <p:nvPr/>
        </p:nvSpPr>
        <p:spPr>
          <a:xfrm>
            <a:off x="1115568" y="1371600"/>
            <a:ext cx="5074920" cy="274320"/>
          </a:xfrm>
          <a:prstGeom prst="rect">
            <a:avLst/>
          </a:prstGeom>
          <a:noFill/>
          <a:ln/>
        </p:spPr>
        <p:txBody>
          <a:bodyPr wrap="square" lIns="0" tIns="0" rIns="0" bIns="0" rtlCol="0" anchor="ctr"/>
          <a:lstStyle/>
          <a:p>
            <a:pPr indent="0" marL="0">
              <a:buNone/>
            </a:pPr>
            <a:r>
              <a:rPr lang="en-US" sz="1350" b="1" dirty="0">
                <a:solidFill>
                  <a:srgbClr val="8C0D14"/>
                </a:solidFill>
                <a:latin typeface="Arial" pitchFamily="34" charset="0"/>
                <a:ea typeface="Arial" pitchFamily="34" charset="-122"/>
                <a:cs typeface="Arial" pitchFamily="34" charset="-120"/>
              </a:rPr>
              <a:t>Là một quá trình lâu dài, liên tục</a:t>
            </a:r>
            <a:endParaRPr lang="en-US" sz="1350" dirty="0"/>
          </a:p>
        </p:txBody>
      </p:sp>
      <p:sp>
        <p:nvSpPr>
          <p:cNvPr id="11" name="Text 7"/>
          <p:cNvSpPr txBox="1"/>
          <p:nvPr/>
        </p:nvSpPr>
        <p:spPr>
          <a:xfrm>
            <a:off x="1115568" y="1664208"/>
            <a:ext cx="5074920" cy="694944"/>
          </a:xfrm>
          <a:prstGeom prst="rect">
            <a:avLst/>
          </a:prstGeom>
          <a:noFill/>
          <a:ln/>
        </p:spPr>
        <p:txBody>
          <a:bodyPr wrap="square" lIns="0" tIns="0" rIns="0" bIns="0" rtlCol="0" anchor="ctr"/>
          <a:lstStyle/>
          <a:p>
            <a:pPr indent="0" marL="0">
              <a:lnSpc>
                <a:spcPts val="1550"/>
              </a:lnSpc>
              <a:buNone/>
            </a:pPr>
            <a:r>
              <a:rPr lang="en-US" sz="1160" dirty="0">
                <a:solidFill>
                  <a:srgbClr val="241A16"/>
                </a:solidFill>
                <a:latin typeface="Arial" pitchFamily="34" charset="0"/>
                <a:ea typeface="Arial" pitchFamily="34" charset="-122"/>
                <a:cs typeface="Arial" pitchFamily="34" charset="-120"/>
              </a:rPr>
              <a:t>Đi từ thấp đến cao, từ chưa đầy đủ đến ngày càng đầy đủ, toàn diện và sâu sắc — đúng quy luật của nhận thức.</a:t>
            </a:r>
            <a:endParaRPr lang="en-US" sz="1160" dirty="0"/>
          </a:p>
        </p:txBody>
      </p:sp>
      <p:sp>
        <p:nvSpPr>
          <p:cNvPr id="12" name="Shape 8"/>
          <p:cNvSpPr/>
          <p:nvPr/>
        </p:nvSpPr>
        <p:spPr>
          <a:xfrm>
            <a:off x="566928" y="2450592"/>
            <a:ext cx="420624" cy="420624"/>
          </a:xfrm>
          <a:prstGeom prst="ellipse">
            <a:avLst/>
          </a:prstGeom>
          <a:solidFill>
            <a:srgbClr val="A8761A"/>
          </a:solidFill>
          <a:ln w="12700">
            <a:solidFill>
              <a:srgbClr val="A8761A"/>
            </a:solidFill>
            <a:prstDash val="solid"/>
          </a:ln>
        </p:spPr>
      </p:sp>
      <p:sp>
        <p:nvSpPr>
          <p:cNvPr id="13" name="Text 9"/>
          <p:cNvSpPr txBox="1"/>
          <p:nvPr/>
        </p:nvSpPr>
        <p:spPr>
          <a:xfrm>
            <a:off x="566928" y="2450592"/>
            <a:ext cx="420624" cy="420624"/>
          </a:xfrm>
          <a:prstGeom prst="rect">
            <a:avLst/>
          </a:prstGeom>
          <a:noFill/>
          <a:ln/>
        </p:spPr>
        <p:txBody>
          <a:bodyPr wrap="square" lIns="0" tIns="0" rIns="0" bIns="0" rtlCol="0" anchor="ctr"/>
          <a:lstStyle/>
          <a:p>
            <a:pPr algn="ctr" indent="0" marL="0">
              <a:buNone/>
            </a:pPr>
            <a:r>
              <a:rPr lang="en-US" sz="1400" b="1" dirty="0">
                <a:solidFill>
                  <a:srgbClr val="E8B02B"/>
                </a:solidFill>
                <a:latin typeface="Arial" pitchFamily="34" charset="0"/>
                <a:ea typeface="Arial" pitchFamily="34" charset="-122"/>
                <a:cs typeface="Arial" pitchFamily="34" charset="-120"/>
              </a:rPr>
              <a:t>2</a:t>
            </a:r>
            <a:endParaRPr lang="en-US" sz="1400" dirty="0"/>
          </a:p>
        </p:txBody>
      </p:sp>
      <p:sp>
        <p:nvSpPr>
          <p:cNvPr id="14" name="Text 10"/>
          <p:cNvSpPr txBox="1"/>
          <p:nvPr/>
        </p:nvSpPr>
        <p:spPr>
          <a:xfrm>
            <a:off x="1115568" y="2432304"/>
            <a:ext cx="5074920" cy="274320"/>
          </a:xfrm>
          <a:prstGeom prst="rect">
            <a:avLst/>
          </a:prstGeom>
          <a:noFill/>
          <a:ln/>
        </p:spPr>
        <p:txBody>
          <a:bodyPr wrap="square" lIns="0" tIns="0" rIns="0" bIns="0" rtlCol="0" anchor="ctr"/>
          <a:lstStyle/>
          <a:p>
            <a:pPr indent="0" marL="0">
              <a:buNone/>
            </a:pPr>
            <a:r>
              <a:rPr lang="en-US" sz="1350" b="1" dirty="0">
                <a:solidFill>
                  <a:srgbClr val="8C0D14"/>
                </a:solidFill>
                <a:latin typeface="Arial" pitchFamily="34" charset="0"/>
                <a:ea typeface="Arial" pitchFamily="34" charset="-122"/>
                <a:cs typeface="Arial" pitchFamily="34" charset="-120"/>
              </a:rPr>
              <a:t>Luôn gắn với thực tiễn cách mạng</a:t>
            </a:r>
            <a:endParaRPr lang="en-US" sz="1350" dirty="0"/>
          </a:p>
        </p:txBody>
      </p:sp>
      <p:sp>
        <p:nvSpPr>
          <p:cNvPr id="15" name="Text 11"/>
          <p:cNvSpPr txBox="1"/>
          <p:nvPr/>
        </p:nvSpPr>
        <p:spPr>
          <a:xfrm>
            <a:off x="1115568" y="2724912"/>
            <a:ext cx="5074920" cy="694944"/>
          </a:xfrm>
          <a:prstGeom prst="rect">
            <a:avLst/>
          </a:prstGeom>
          <a:noFill/>
          <a:ln/>
        </p:spPr>
        <p:txBody>
          <a:bodyPr wrap="square" lIns="0" tIns="0" rIns="0" bIns="0" rtlCol="0" anchor="ctr"/>
          <a:lstStyle/>
          <a:p>
            <a:pPr indent="0" marL="0">
              <a:lnSpc>
                <a:spcPts val="1550"/>
              </a:lnSpc>
              <a:buNone/>
            </a:pPr>
            <a:r>
              <a:rPr lang="en-US" sz="1160" dirty="0">
                <a:solidFill>
                  <a:srgbClr val="241A16"/>
                </a:solidFill>
                <a:latin typeface="Arial" pitchFamily="34" charset="0"/>
                <a:ea typeface="Arial" pitchFamily="34" charset="-122"/>
                <a:cs typeface="Arial" pitchFamily="34" charset="-120"/>
              </a:rPr>
              <a:t>Mỗi bước phát triển về nhận thức đều gắn với một bước ngoặt của thực tiễn: 1930, 1945, 1951, 1986, 1991.</a:t>
            </a:r>
            <a:endParaRPr lang="en-US" sz="1160" dirty="0"/>
          </a:p>
        </p:txBody>
      </p:sp>
      <p:sp>
        <p:nvSpPr>
          <p:cNvPr id="16" name="Shape 12"/>
          <p:cNvSpPr/>
          <p:nvPr/>
        </p:nvSpPr>
        <p:spPr>
          <a:xfrm>
            <a:off x="566928" y="3511296"/>
            <a:ext cx="420624" cy="420624"/>
          </a:xfrm>
          <a:prstGeom prst="ellipse">
            <a:avLst/>
          </a:prstGeom>
          <a:solidFill>
            <a:srgbClr val="8C0D14"/>
          </a:solidFill>
          <a:ln w="12700">
            <a:solidFill>
              <a:srgbClr val="8C0D14"/>
            </a:solidFill>
            <a:prstDash val="solid"/>
          </a:ln>
        </p:spPr>
      </p:sp>
      <p:sp>
        <p:nvSpPr>
          <p:cNvPr id="17" name="Text 13"/>
          <p:cNvSpPr txBox="1"/>
          <p:nvPr/>
        </p:nvSpPr>
        <p:spPr>
          <a:xfrm>
            <a:off x="566928" y="3511296"/>
            <a:ext cx="420624" cy="420624"/>
          </a:xfrm>
          <a:prstGeom prst="rect">
            <a:avLst/>
          </a:prstGeom>
          <a:noFill/>
          <a:ln/>
        </p:spPr>
        <p:txBody>
          <a:bodyPr wrap="square" lIns="0" tIns="0" rIns="0" bIns="0" rtlCol="0" anchor="ctr"/>
          <a:lstStyle/>
          <a:p>
            <a:pPr algn="ctr" indent="0" marL="0">
              <a:buNone/>
            </a:pPr>
            <a:r>
              <a:rPr lang="en-US" sz="1400" b="1" dirty="0">
                <a:solidFill>
                  <a:srgbClr val="E8B02B"/>
                </a:solidFill>
                <a:latin typeface="Arial" pitchFamily="34" charset="0"/>
                <a:ea typeface="Arial" pitchFamily="34" charset="-122"/>
                <a:cs typeface="Arial" pitchFamily="34" charset="-120"/>
              </a:rPr>
              <a:t>3</a:t>
            </a:r>
            <a:endParaRPr lang="en-US" sz="1400" dirty="0"/>
          </a:p>
        </p:txBody>
      </p:sp>
      <p:sp>
        <p:nvSpPr>
          <p:cNvPr id="18" name="Text 14"/>
          <p:cNvSpPr txBox="1"/>
          <p:nvPr/>
        </p:nvSpPr>
        <p:spPr>
          <a:xfrm>
            <a:off x="1115568" y="3493008"/>
            <a:ext cx="5074920" cy="274320"/>
          </a:xfrm>
          <a:prstGeom prst="rect">
            <a:avLst/>
          </a:prstGeom>
          <a:noFill/>
          <a:ln/>
        </p:spPr>
        <p:txBody>
          <a:bodyPr wrap="square" lIns="0" tIns="0" rIns="0" bIns="0" rtlCol="0" anchor="ctr"/>
          <a:lstStyle/>
          <a:p>
            <a:pPr indent="0" marL="0">
              <a:buNone/>
            </a:pPr>
            <a:r>
              <a:rPr lang="en-US" sz="1350" b="1" dirty="0">
                <a:solidFill>
                  <a:srgbClr val="8C0D14"/>
                </a:solidFill>
                <a:latin typeface="Arial" pitchFamily="34" charset="0"/>
                <a:ea typeface="Arial" pitchFamily="34" charset="-122"/>
                <a:cs typeface="Arial" pitchFamily="34" charset="-120"/>
              </a:rPr>
              <a:t>Không diễn ra một chiều, thẳng tắp</a:t>
            </a:r>
            <a:endParaRPr lang="en-US" sz="1350" dirty="0"/>
          </a:p>
        </p:txBody>
      </p:sp>
      <p:sp>
        <p:nvSpPr>
          <p:cNvPr id="19" name="Text 15"/>
          <p:cNvSpPr txBox="1"/>
          <p:nvPr/>
        </p:nvSpPr>
        <p:spPr>
          <a:xfrm>
            <a:off x="1115568" y="3785616"/>
            <a:ext cx="5074920" cy="694944"/>
          </a:xfrm>
          <a:prstGeom prst="rect">
            <a:avLst/>
          </a:prstGeom>
          <a:noFill/>
          <a:ln/>
        </p:spPr>
        <p:txBody>
          <a:bodyPr wrap="square" lIns="0" tIns="0" rIns="0" bIns="0" rtlCol="0" anchor="ctr"/>
          <a:lstStyle/>
          <a:p>
            <a:pPr indent="0" marL="0">
              <a:lnSpc>
                <a:spcPts val="1550"/>
              </a:lnSpc>
              <a:buNone/>
            </a:pPr>
            <a:r>
              <a:rPr lang="en-US" sz="1160" dirty="0">
                <a:solidFill>
                  <a:srgbClr val="241A16"/>
                </a:solidFill>
                <a:latin typeface="Arial" pitchFamily="34" charset="0"/>
                <a:ea typeface="Arial" pitchFamily="34" charset="-122"/>
                <a:cs typeface="Arial" pitchFamily="34" charset="-120"/>
              </a:rPr>
              <a:t>Có lúc nhận thức chưa đúng, chưa đầy đủ; Đảng đã tự phê bình, nhận thức lại và khắc phục — thể hiện bản lĩnh khoa học.</a:t>
            </a:r>
            <a:endParaRPr lang="en-US" sz="1160" dirty="0"/>
          </a:p>
        </p:txBody>
      </p:sp>
      <p:sp>
        <p:nvSpPr>
          <p:cNvPr id="20" name="Shape 16"/>
          <p:cNvSpPr/>
          <p:nvPr/>
        </p:nvSpPr>
        <p:spPr>
          <a:xfrm>
            <a:off x="566928" y="4572000"/>
            <a:ext cx="420624" cy="420624"/>
          </a:xfrm>
          <a:prstGeom prst="ellipse">
            <a:avLst/>
          </a:prstGeom>
          <a:solidFill>
            <a:srgbClr val="A8761A"/>
          </a:solidFill>
          <a:ln w="12700">
            <a:solidFill>
              <a:srgbClr val="A8761A"/>
            </a:solidFill>
            <a:prstDash val="solid"/>
          </a:ln>
        </p:spPr>
      </p:sp>
      <p:sp>
        <p:nvSpPr>
          <p:cNvPr id="21" name="Text 17"/>
          <p:cNvSpPr txBox="1"/>
          <p:nvPr/>
        </p:nvSpPr>
        <p:spPr>
          <a:xfrm>
            <a:off x="566928" y="4572000"/>
            <a:ext cx="420624" cy="420624"/>
          </a:xfrm>
          <a:prstGeom prst="rect">
            <a:avLst/>
          </a:prstGeom>
          <a:noFill/>
          <a:ln/>
        </p:spPr>
        <p:txBody>
          <a:bodyPr wrap="square" lIns="0" tIns="0" rIns="0" bIns="0" rtlCol="0" anchor="ctr"/>
          <a:lstStyle/>
          <a:p>
            <a:pPr algn="ctr" indent="0" marL="0">
              <a:buNone/>
            </a:pPr>
            <a:r>
              <a:rPr lang="en-US" sz="1400" b="1" dirty="0">
                <a:solidFill>
                  <a:srgbClr val="E8B02B"/>
                </a:solidFill>
                <a:latin typeface="Arial" pitchFamily="34" charset="0"/>
                <a:ea typeface="Arial" pitchFamily="34" charset="-122"/>
                <a:cs typeface="Arial" pitchFamily="34" charset="-120"/>
              </a:rPr>
              <a:t>4</a:t>
            </a:r>
            <a:endParaRPr lang="en-US" sz="1400" dirty="0"/>
          </a:p>
        </p:txBody>
      </p:sp>
      <p:sp>
        <p:nvSpPr>
          <p:cNvPr id="22" name="Text 18"/>
          <p:cNvSpPr txBox="1"/>
          <p:nvPr/>
        </p:nvSpPr>
        <p:spPr>
          <a:xfrm>
            <a:off x="1115568" y="4553712"/>
            <a:ext cx="5074920" cy="274320"/>
          </a:xfrm>
          <a:prstGeom prst="rect">
            <a:avLst/>
          </a:prstGeom>
          <a:noFill/>
          <a:ln/>
        </p:spPr>
        <p:txBody>
          <a:bodyPr wrap="square" lIns="0" tIns="0" rIns="0" bIns="0" rtlCol="0" anchor="ctr"/>
          <a:lstStyle/>
          <a:p>
            <a:pPr indent="0" marL="0">
              <a:buNone/>
            </a:pPr>
            <a:r>
              <a:rPr lang="en-US" sz="1350" b="1" dirty="0">
                <a:solidFill>
                  <a:srgbClr val="8C0D14"/>
                </a:solidFill>
                <a:latin typeface="Arial" pitchFamily="34" charset="0"/>
                <a:ea typeface="Arial" pitchFamily="34" charset="-122"/>
                <a:cs typeface="Arial" pitchFamily="34" charset="-120"/>
              </a:rPr>
              <a:t>Ngày nay tiếp tục được bổ sung, bảo vệ</a:t>
            </a:r>
            <a:endParaRPr lang="en-US" sz="1350" dirty="0"/>
          </a:p>
        </p:txBody>
      </p:sp>
      <p:sp>
        <p:nvSpPr>
          <p:cNvPr id="23" name="Text 19"/>
          <p:cNvSpPr txBox="1"/>
          <p:nvPr/>
        </p:nvSpPr>
        <p:spPr>
          <a:xfrm>
            <a:off x="1115568" y="4846320"/>
            <a:ext cx="5074920" cy="694944"/>
          </a:xfrm>
          <a:prstGeom prst="rect">
            <a:avLst/>
          </a:prstGeom>
          <a:noFill/>
          <a:ln/>
        </p:spPr>
        <p:txBody>
          <a:bodyPr wrap="square" lIns="0" tIns="0" rIns="0" bIns="0" rtlCol="0" anchor="ctr"/>
          <a:lstStyle/>
          <a:p>
            <a:pPr indent="0" marL="0">
              <a:lnSpc>
                <a:spcPts val="1550"/>
              </a:lnSpc>
              <a:buNone/>
            </a:pPr>
            <a:r>
              <a:rPr lang="en-US" sz="1160" dirty="0">
                <a:solidFill>
                  <a:srgbClr val="241A16"/>
                </a:solidFill>
                <a:latin typeface="Arial" pitchFamily="34" charset="0"/>
                <a:ea typeface="Arial" pitchFamily="34" charset="-122"/>
                <a:cs typeface="Arial" pitchFamily="34" charset="-120"/>
              </a:rPr>
              <a:t>Vừa vận dụng, phát triển sáng tạo, vừa kiên quyết đấu tranh phản bác các quan điểm sai trái, xuyên tạc.</a:t>
            </a:r>
            <a:endParaRPr lang="en-US" sz="1160" dirty="0"/>
          </a:p>
        </p:txBody>
      </p:sp>
      <p:sp>
        <p:nvSpPr>
          <p:cNvPr id="24" name="Shape 20"/>
          <p:cNvSpPr/>
          <p:nvPr/>
        </p:nvSpPr>
        <p:spPr>
          <a:xfrm>
            <a:off x="6537960" y="4645152"/>
            <a:ext cx="5120640" cy="1499616"/>
          </a:xfrm>
          <a:prstGeom prst="roundRect">
            <a:avLst>
              <a:gd name="adj" fmla="val 6098"/>
            </a:avLst>
          </a:prstGeom>
          <a:solidFill>
            <a:srgbClr val="8C0D14"/>
          </a:solidFill>
          <a:ln w="15875">
            <a:solidFill>
              <a:srgbClr val="8C0D14"/>
            </a:solidFill>
            <a:prstDash val="solid"/>
          </a:ln>
          <a:effectLst>
            <a:outerShdw sx="100000" sy="100000" kx="0" ky="0" algn="bl" rotWithShape="0" blurRad="101600" dist="25400" dir="5400000">
              <a:srgbClr val="9A8C80">
                <a:alpha val="18000"/>
              </a:srgbClr>
            </a:outerShdw>
          </a:effectLst>
        </p:spPr>
      </p:sp>
      <p:sp>
        <p:nvSpPr>
          <p:cNvPr id="25" name="Text 21"/>
          <p:cNvSpPr txBox="1"/>
          <p:nvPr/>
        </p:nvSpPr>
        <p:spPr>
          <a:xfrm>
            <a:off x="6784848" y="4791456"/>
            <a:ext cx="4626864" cy="274320"/>
          </a:xfrm>
          <a:prstGeom prst="rect">
            <a:avLst/>
          </a:prstGeom>
          <a:noFill/>
          <a:ln/>
        </p:spPr>
        <p:txBody>
          <a:bodyPr wrap="square" lIns="0" tIns="0" rIns="0" bIns="0" rtlCol="0" anchor="ctr"/>
          <a:lstStyle/>
          <a:p>
            <a:pPr indent="0" marL="0">
              <a:buNone/>
            </a:pPr>
            <a:r>
              <a:rPr lang="en-US" sz="1250" b="1" dirty="0">
                <a:solidFill>
                  <a:srgbClr val="E8B02B"/>
                </a:solidFill>
                <a:latin typeface="Arial" pitchFamily="34" charset="0"/>
                <a:ea typeface="Arial" pitchFamily="34" charset="-122"/>
                <a:cs typeface="Arial" pitchFamily="34" charset="-120"/>
              </a:rPr>
              <a:t>LIÊN HỆ SINH VIÊN</a:t>
            </a:r>
            <a:endParaRPr lang="en-US" sz="1250" dirty="0"/>
          </a:p>
        </p:txBody>
      </p:sp>
      <p:sp>
        <p:nvSpPr>
          <p:cNvPr id="26" name="Text 22"/>
          <p:cNvSpPr txBox="1"/>
          <p:nvPr/>
        </p:nvSpPr>
        <p:spPr>
          <a:xfrm>
            <a:off x="6784848" y="5084064"/>
            <a:ext cx="4626864" cy="932688"/>
          </a:xfrm>
          <a:prstGeom prst="rect">
            <a:avLst/>
          </a:prstGeom>
          <a:noFill/>
          <a:ln/>
        </p:spPr>
        <p:txBody>
          <a:bodyPr wrap="square" lIns="0" tIns="0" rIns="0" bIns="0" rtlCol="0" anchor="ctr"/>
          <a:lstStyle/>
          <a:p>
            <a:pPr indent="0" marL="0">
              <a:lnSpc>
                <a:spcPts val="1600"/>
              </a:lnSpc>
              <a:buNone/>
            </a:pPr>
            <a:r>
              <a:rPr lang="en-US" sz="1150" dirty="0">
                <a:solidFill>
                  <a:srgbClr val="FBE9E4"/>
                </a:solidFill>
                <a:latin typeface="Arial" pitchFamily="34" charset="0"/>
                <a:ea typeface="Arial" pitchFamily="34" charset="-122"/>
                <a:cs typeface="Arial" pitchFamily="34" charset="-120"/>
              </a:rPr>
              <a:t>Học đúng bản chất khoa học của tư tưởng Hồ Chí Minh, tránh học thuộc lòng hình thức; vận dụng vào học tập, rèn luyện đạo đức và tỉnh táo trước thông tin xuyên tạc trên mạng xã hội.</a:t>
            </a:r>
            <a:endParaRPr lang="en-US" sz="1150" dirty="0"/>
          </a:p>
        </p:txBody>
      </p:sp>
      <p:sp>
        <p:nvSpPr>
          <p:cNvPr id="27" name="Text 23"/>
          <p:cNvSpPr txBox="1"/>
          <p:nvPr/>
        </p:nvSpPr>
        <p:spPr>
          <a:xfrm>
            <a:off x="566928" y="5687568"/>
            <a:ext cx="5760720" cy="566928"/>
          </a:xfrm>
          <a:prstGeom prst="rect">
            <a:avLst/>
          </a:prstGeom>
          <a:noFill/>
          <a:ln/>
        </p:spPr>
        <p:txBody>
          <a:bodyPr wrap="square" lIns="0" tIns="0" rIns="0" bIns="0" rtlCol="0" anchor="ctr"/>
          <a:lstStyle/>
          <a:p>
            <a:pPr indent="0" marL="0">
              <a:lnSpc>
                <a:spcPts val="1600"/>
              </a:lnSpc>
              <a:buNone/>
            </a:pPr>
            <a:r>
              <a:rPr lang="en-US" sz="1150" b="1" i="1" dirty="0">
                <a:solidFill>
                  <a:srgbClr val="8C0D14"/>
                </a:solidFill>
                <a:latin typeface="Arial" pitchFamily="34" charset="0"/>
                <a:ea typeface="Arial" pitchFamily="34" charset="-122"/>
                <a:cs typeface="Arial" pitchFamily="34" charset="-120"/>
              </a:rPr>
              <a:t>KẾT LUẬN: Nội hàm khái niệm càng sáng tỏ thì nhận thức của Đảng càng đầy đủ — đó là kết quả của gần một thế kỷ tổng kết thực tiễn và đổi mới tư duy lý luận.</a:t>
            </a:r>
            <a:endParaRPr lang="en-US" sz="11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77240" y="566928"/>
            <a:ext cx="7315200" cy="292608"/>
          </a:xfrm>
          <a:prstGeom prst="rect">
            <a:avLst/>
          </a:prstGeom>
          <a:noFill/>
          <a:ln/>
        </p:spPr>
        <p:txBody>
          <a:bodyPr wrap="square" lIns="0" tIns="0" rIns="0" bIns="0" rtlCol="0" anchor="ctr"/>
          <a:lstStyle/>
          <a:p>
            <a:pPr indent="0" marL="0">
              <a:buNone/>
            </a:pPr>
            <a:r>
              <a:rPr lang="en-US" sz="1200" b="1" spc="300" kern="0" dirty="0">
                <a:solidFill>
                  <a:srgbClr val="E8B02B"/>
                </a:solidFill>
                <a:latin typeface="Arial" pitchFamily="34" charset="0"/>
                <a:ea typeface="Arial" pitchFamily="34" charset="-122"/>
                <a:cs typeface="Arial" pitchFamily="34" charset="-120"/>
              </a:rPr>
              <a:t>PHẦN IV · THẢO LUẬN</a:t>
            </a:r>
            <a:endParaRPr lang="en-US" sz="1200" dirty="0"/>
          </a:p>
        </p:txBody>
      </p:sp>
      <p:sp>
        <p:nvSpPr>
          <p:cNvPr id="3" name="Text 1"/>
          <p:cNvSpPr txBox="1"/>
          <p:nvPr/>
        </p:nvSpPr>
        <p:spPr>
          <a:xfrm>
            <a:off x="777240" y="932688"/>
            <a:ext cx="8686800" cy="658368"/>
          </a:xfrm>
          <a:prstGeom prst="rect">
            <a:avLst/>
          </a:prstGeom>
          <a:noFill/>
          <a:ln/>
        </p:spPr>
        <p:txBody>
          <a:bodyPr wrap="square" lIns="0" tIns="0" rIns="0" bIns="0" rtlCol="0" anchor="ctr"/>
          <a:lstStyle/>
          <a:p>
            <a:pPr indent="0" marL="0">
              <a:buNone/>
            </a:pPr>
            <a:r>
              <a:rPr lang="en-US" sz="3400" b="1" dirty="0">
                <a:solidFill>
                  <a:srgbClr val="FFFFFF"/>
                </a:solidFill>
                <a:latin typeface="Times New Roman" pitchFamily="34" charset="0"/>
                <a:ea typeface="Times New Roman" pitchFamily="34" charset="-122"/>
                <a:cs typeface="Times New Roman" pitchFamily="34" charset="-120"/>
              </a:rPr>
              <a:t>HAI CÂU HỎI THẢO LUẬN</a:t>
            </a:r>
            <a:endParaRPr lang="en-US" sz="3400" dirty="0"/>
          </a:p>
        </p:txBody>
      </p:sp>
      <p:sp>
        <p:nvSpPr>
          <p:cNvPr id="4" name="Shape 2"/>
          <p:cNvSpPr/>
          <p:nvPr/>
        </p:nvSpPr>
        <p:spPr>
          <a:xfrm>
            <a:off x="777240" y="1938528"/>
            <a:ext cx="7818120" cy="1700784"/>
          </a:xfrm>
          <a:prstGeom prst="roundRect">
            <a:avLst>
              <a:gd name="adj" fmla="val 5376"/>
            </a:avLst>
          </a:prstGeom>
          <a:solidFill>
            <a:srgbClr val="6E080F"/>
          </a:solidFill>
          <a:ln w="15875">
            <a:solidFill>
              <a:srgbClr val="A8571C"/>
            </a:solidFill>
            <a:prstDash val="solid"/>
          </a:ln>
        </p:spPr>
      </p:sp>
      <p:sp>
        <p:nvSpPr>
          <p:cNvPr id="5" name="Shape 3"/>
          <p:cNvSpPr/>
          <p:nvPr/>
        </p:nvSpPr>
        <p:spPr>
          <a:xfrm>
            <a:off x="1024128" y="2212848"/>
            <a:ext cx="566928" cy="566928"/>
          </a:xfrm>
          <a:prstGeom prst="ellipse">
            <a:avLst/>
          </a:prstGeom>
          <a:solidFill>
            <a:srgbClr val="E8B02B"/>
          </a:solidFill>
          <a:ln w="12700">
            <a:solidFill>
              <a:srgbClr val="E8B02B"/>
            </a:solidFill>
            <a:prstDash val="solid"/>
          </a:ln>
        </p:spPr>
      </p:sp>
      <p:sp>
        <p:nvSpPr>
          <p:cNvPr id="6" name="Text 4"/>
          <p:cNvSpPr txBox="1"/>
          <p:nvPr/>
        </p:nvSpPr>
        <p:spPr>
          <a:xfrm>
            <a:off x="1024128" y="2212848"/>
            <a:ext cx="566928" cy="566928"/>
          </a:xfrm>
          <a:prstGeom prst="rect">
            <a:avLst/>
          </a:prstGeom>
          <a:noFill/>
          <a:ln/>
        </p:spPr>
        <p:txBody>
          <a:bodyPr wrap="square" lIns="0" tIns="0" rIns="0" bIns="0" rtlCol="0" anchor="ctr"/>
          <a:lstStyle/>
          <a:p>
            <a:pPr algn="ctr" indent="0" marL="0">
              <a:buNone/>
            </a:pPr>
            <a:r>
              <a:rPr lang="en-US" sz="2400" b="1" dirty="0">
                <a:solidFill>
                  <a:srgbClr val="8C0D14"/>
                </a:solidFill>
                <a:latin typeface="Arial" pitchFamily="34" charset="0"/>
                <a:ea typeface="Arial" pitchFamily="34" charset="-122"/>
                <a:cs typeface="Arial" pitchFamily="34" charset="-120"/>
              </a:rPr>
              <a:t>1</a:t>
            </a:r>
            <a:endParaRPr lang="en-US" sz="2400" dirty="0"/>
          </a:p>
        </p:txBody>
      </p:sp>
      <p:sp>
        <p:nvSpPr>
          <p:cNvPr id="7" name="Text 5"/>
          <p:cNvSpPr txBox="1"/>
          <p:nvPr/>
        </p:nvSpPr>
        <p:spPr>
          <a:xfrm>
            <a:off x="1783080" y="2139696"/>
            <a:ext cx="6583680" cy="274320"/>
          </a:xfrm>
          <a:prstGeom prst="rect">
            <a:avLst/>
          </a:prstGeom>
          <a:noFill/>
          <a:ln/>
        </p:spPr>
        <p:txBody>
          <a:bodyPr wrap="square" lIns="0" tIns="0" rIns="0" bIns="0" rtlCol="0" anchor="ctr"/>
          <a:lstStyle/>
          <a:p>
            <a:pPr indent="0" marL="0">
              <a:buNone/>
            </a:pPr>
            <a:r>
              <a:rPr lang="en-US" sz="1200" b="1" spc="150" kern="0" dirty="0">
                <a:solidFill>
                  <a:srgbClr val="E8B02B"/>
                </a:solidFill>
                <a:latin typeface="Arial" pitchFamily="34" charset="0"/>
                <a:ea typeface="Arial" pitchFamily="34" charset="-122"/>
                <a:cs typeface="Arial" pitchFamily="34" charset="-120"/>
              </a:rPr>
              <a:t>CÂU HỎI 1</a:t>
            </a:r>
            <a:endParaRPr lang="en-US" sz="1200" dirty="0"/>
          </a:p>
        </p:txBody>
      </p:sp>
      <p:sp>
        <p:nvSpPr>
          <p:cNvPr id="8" name="Text 6"/>
          <p:cNvSpPr txBox="1"/>
          <p:nvPr/>
        </p:nvSpPr>
        <p:spPr>
          <a:xfrm>
            <a:off x="1783080" y="2432304"/>
            <a:ext cx="6629400" cy="1042416"/>
          </a:xfrm>
          <a:prstGeom prst="rect">
            <a:avLst/>
          </a:prstGeom>
          <a:noFill/>
          <a:ln/>
        </p:spPr>
        <p:txBody>
          <a:bodyPr wrap="square" lIns="0" tIns="0" rIns="0" bIns="0" rtlCol="0" anchor="ctr"/>
          <a:lstStyle/>
          <a:p>
            <a:pPr indent="0" marL="0">
              <a:lnSpc>
                <a:spcPts val="1900"/>
              </a:lnSpc>
              <a:buNone/>
            </a:pPr>
            <a:r>
              <a:rPr lang="en-US" sz="1300" dirty="0">
                <a:solidFill>
                  <a:srgbClr val="FBE9E4"/>
                </a:solidFill>
                <a:latin typeface="Arial" pitchFamily="34" charset="0"/>
                <a:ea typeface="Arial" pitchFamily="34" charset="-122"/>
                <a:cs typeface="Arial" pitchFamily="34" charset="-120"/>
              </a:rPr>
              <a:t>Vì sao phải đến Đại hội VII (6/1991) Đảng ta mới chính thức khẳng định tư tưởng Hồ Chí Minh là nền tảng tư tưởng, kim chỉ nam cho hành động, trong khi tư tưởng ấy đã dẫn dắt cách mạng Việt Nam từ năm 1930? Điều đó nói lên đặc điểm gì của quá trình nhận thức lý luận?</a:t>
            </a:r>
            <a:endParaRPr lang="en-US" sz="1300" dirty="0"/>
          </a:p>
        </p:txBody>
      </p:sp>
      <p:sp>
        <p:nvSpPr>
          <p:cNvPr id="9" name="Shape 7"/>
          <p:cNvSpPr/>
          <p:nvPr/>
        </p:nvSpPr>
        <p:spPr>
          <a:xfrm>
            <a:off x="777240" y="3822192"/>
            <a:ext cx="7818120" cy="1700784"/>
          </a:xfrm>
          <a:prstGeom prst="roundRect">
            <a:avLst>
              <a:gd name="adj" fmla="val 5376"/>
            </a:avLst>
          </a:prstGeom>
          <a:solidFill>
            <a:srgbClr val="6E080F"/>
          </a:solidFill>
          <a:ln w="15875">
            <a:solidFill>
              <a:srgbClr val="A8571C"/>
            </a:solidFill>
            <a:prstDash val="solid"/>
          </a:ln>
        </p:spPr>
      </p:sp>
      <p:sp>
        <p:nvSpPr>
          <p:cNvPr id="10" name="Shape 8"/>
          <p:cNvSpPr/>
          <p:nvPr/>
        </p:nvSpPr>
        <p:spPr>
          <a:xfrm>
            <a:off x="1024128" y="4096512"/>
            <a:ext cx="566928" cy="566928"/>
          </a:xfrm>
          <a:prstGeom prst="ellipse">
            <a:avLst/>
          </a:prstGeom>
          <a:solidFill>
            <a:srgbClr val="E8B02B"/>
          </a:solidFill>
          <a:ln w="12700">
            <a:solidFill>
              <a:srgbClr val="E8B02B"/>
            </a:solidFill>
            <a:prstDash val="solid"/>
          </a:ln>
        </p:spPr>
      </p:sp>
      <p:sp>
        <p:nvSpPr>
          <p:cNvPr id="11" name="Text 9"/>
          <p:cNvSpPr txBox="1"/>
          <p:nvPr/>
        </p:nvSpPr>
        <p:spPr>
          <a:xfrm>
            <a:off x="1024128" y="4096512"/>
            <a:ext cx="566928" cy="566928"/>
          </a:xfrm>
          <a:prstGeom prst="rect">
            <a:avLst/>
          </a:prstGeom>
          <a:noFill/>
          <a:ln/>
        </p:spPr>
        <p:txBody>
          <a:bodyPr wrap="square" lIns="0" tIns="0" rIns="0" bIns="0" rtlCol="0" anchor="ctr"/>
          <a:lstStyle/>
          <a:p>
            <a:pPr algn="ctr" indent="0" marL="0">
              <a:buNone/>
            </a:pPr>
            <a:r>
              <a:rPr lang="en-US" sz="2400" b="1" dirty="0">
                <a:solidFill>
                  <a:srgbClr val="8C0D14"/>
                </a:solidFill>
                <a:latin typeface="Arial" pitchFamily="34" charset="0"/>
                <a:ea typeface="Arial" pitchFamily="34" charset="-122"/>
                <a:cs typeface="Arial" pitchFamily="34" charset="-120"/>
              </a:rPr>
              <a:t>2</a:t>
            </a:r>
            <a:endParaRPr lang="en-US" sz="2400" dirty="0"/>
          </a:p>
        </p:txBody>
      </p:sp>
      <p:sp>
        <p:nvSpPr>
          <p:cNvPr id="12" name="Text 10"/>
          <p:cNvSpPr txBox="1"/>
          <p:nvPr/>
        </p:nvSpPr>
        <p:spPr>
          <a:xfrm>
            <a:off x="1783080" y="4023360"/>
            <a:ext cx="6583680" cy="274320"/>
          </a:xfrm>
          <a:prstGeom prst="rect">
            <a:avLst/>
          </a:prstGeom>
          <a:noFill/>
          <a:ln/>
        </p:spPr>
        <p:txBody>
          <a:bodyPr wrap="square" lIns="0" tIns="0" rIns="0" bIns="0" rtlCol="0" anchor="ctr"/>
          <a:lstStyle/>
          <a:p>
            <a:pPr indent="0" marL="0">
              <a:buNone/>
            </a:pPr>
            <a:r>
              <a:rPr lang="en-US" sz="1200" b="1" spc="150" kern="0" dirty="0">
                <a:solidFill>
                  <a:srgbClr val="E8B02B"/>
                </a:solidFill>
                <a:latin typeface="Arial" pitchFamily="34" charset="0"/>
                <a:ea typeface="Arial" pitchFamily="34" charset="-122"/>
                <a:cs typeface="Arial" pitchFamily="34" charset="-120"/>
              </a:rPr>
              <a:t>CÂU HỎI 2</a:t>
            </a:r>
            <a:endParaRPr lang="en-US" sz="1200" dirty="0"/>
          </a:p>
        </p:txBody>
      </p:sp>
      <p:sp>
        <p:nvSpPr>
          <p:cNvPr id="13" name="Text 11"/>
          <p:cNvSpPr txBox="1"/>
          <p:nvPr/>
        </p:nvSpPr>
        <p:spPr>
          <a:xfrm>
            <a:off x="1783080" y="4315968"/>
            <a:ext cx="6629400" cy="1042416"/>
          </a:xfrm>
          <a:prstGeom prst="rect">
            <a:avLst/>
          </a:prstGeom>
          <a:noFill/>
          <a:ln/>
        </p:spPr>
        <p:txBody>
          <a:bodyPr wrap="square" lIns="0" tIns="0" rIns="0" bIns="0" rtlCol="0" anchor="ctr"/>
          <a:lstStyle/>
          <a:p>
            <a:pPr indent="0" marL="0">
              <a:lnSpc>
                <a:spcPts val="1900"/>
              </a:lnSpc>
              <a:buNone/>
            </a:pPr>
            <a:r>
              <a:rPr lang="en-US" sz="1300" dirty="0">
                <a:solidFill>
                  <a:srgbClr val="FBE9E4"/>
                </a:solidFill>
                <a:latin typeface="Arial" pitchFamily="34" charset="0"/>
                <a:ea typeface="Arial" pitchFamily="34" charset="-122"/>
                <a:cs typeface="Arial" pitchFamily="34" charset="-120"/>
              </a:rPr>
              <a:t>Trong bối cảnh chuyển đổi số và mạng xã hội phát triển mạnh hiện nay, sinh viên cần làm gì để việc học tập tư tưởng Hồ Chí Minh không dừng lại ở nhận thức mà trở thành hành động cụ thể, đồng thời góp phần đấu tranh phản bác các quan điểm sai trái, xuyên tạc?</a:t>
            </a:r>
            <a:endParaRPr lang="en-US" sz="1300" dirty="0"/>
          </a:p>
        </p:txBody>
      </p:sp>
      <p:pic>
        <p:nvPicPr>
          <p:cNvPr id="14" name="Image 0" descr="img/fig_thaoluan.png">    </p:cNvPr>
          <p:cNvPicPr>
            <a:picLocks noChangeAspect="1"/>
          </p:cNvPicPr>
          <p:nvPr/>
        </p:nvPicPr>
        <p:blipFill>
          <a:blip r:embed="rId2"/>
          <a:stretch>
            <a:fillRect/>
          </a:stretch>
        </p:blipFill>
        <p:spPr>
          <a:xfrm>
            <a:off x="8915400" y="2331720"/>
            <a:ext cx="2880360" cy="1325880"/>
          </a:xfrm>
          <a:prstGeom prst="rect">
            <a:avLst/>
          </a:prstGeom>
        </p:spPr>
      </p:pic>
      <p:sp>
        <p:nvSpPr>
          <p:cNvPr id="15" name="Text 12"/>
          <p:cNvSpPr txBox="1"/>
          <p:nvPr/>
        </p:nvSpPr>
        <p:spPr>
          <a:xfrm>
            <a:off x="8641080" y="4224528"/>
            <a:ext cx="3383280" cy="914400"/>
          </a:xfrm>
          <a:prstGeom prst="rect">
            <a:avLst/>
          </a:prstGeom>
          <a:noFill/>
          <a:ln/>
        </p:spPr>
        <p:txBody>
          <a:bodyPr wrap="square" lIns="0" tIns="0" rIns="0" bIns="0" rtlCol="0" anchor="ctr"/>
          <a:lstStyle/>
          <a:p>
            <a:pPr algn="ctr" indent="0" marL="0">
              <a:lnSpc>
                <a:spcPts val="2500"/>
              </a:lnSpc>
              <a:buNone/>
            </a:pPr>
            <a:r>
              <a:rPr lang="en-US" sz="1700" b="1" dirty="0">
                <a:solidFill>
                  <a:srgbClr val="E8B02B"/>
                </a:solidFill>
                <a:latin typeface="Times New Roman" pitchFamily="34" charset="0"/>
                <a:ea typeface="Times New Roman" pitchFamily="34" charset="-122"/>
                <a:cs typeface="Times New Roman" pitchFamily="34" charset="-120"/>
              </a:rPr>
              <a:t>CẢM ƠN THẦY/CÔ VÀ CÁC BẠN</a:t>
            </a:r>
            <a:endParaRPr lang="en-US" sz="1700" dirty="0"/>
          </a:p>
          <a:p>
            <a:pPr algn="ctr" indent="0" marL="0">
              <a:lnSpc>
                <a:spcPts val="2500"/>
              </a:lnSpc>
              <a:buNone/>
            </a:pPr>
            <a:r>
              <a:rPr lang="en-US" sz="1700" b="1" dirty="0">
                <a:solidFill>
                  <a:srgbClr val="E8B02B"/>
                </a:solidFill>
                <a:latin typeface="Times New Roman" pitchFamily="34" charset="0"/>
                <a:ea typeface="Times New Roman" pitchFamily="34" charset="-122"/>
                <a:cs typeface="Times New Roman" pitchFamily="34" charset="-120"/>
              </a:rPr>
              <a:t>ĐÃ LẮNG NGHE!</a:t>
            </a:r>
            <a:endParaRPr lang="en-US" sz="1700" dirty="0"/>
          </a:p>
        </p:txBody>
      </p:sp>
      <p:sp>
        <p:nvSpPr>
          <p:cNvPr id="16" name="Text 13"/>
          <p:cNvSpPr txBox="1"/>
          <p:nvPr/>
        </p:nvSpPr>
        <p:spPr>
          <a:xfrm>
            <a:off x="777240" y="6035040"/>
            <a:ext cx="7818120" cy="292608"/>
          </a:xfrm>
          <a:prstGeom prst="rect">
            <a:avLst/>
          </a:prstGeom>
          <a:noFill/>
          <a:ln/>
        </p:spPr>
        <p:txBody>
          <a:bodyPr wrap="square" lIns="0" tIns="0" rIns="0" bIns="0" rtlCol="0" anchor="ctr"/>
          <a:lstStyle/>
          <a:p>
            <a:pPr indent="0" marL="0">
              <a:buNone/>
            </a:pPr>
            <a:r>
              <a:rPr lang="en-US" sz="1150" dirty="0">
                <a:solidFill>
                  <a:srgbClr val="E8C9C4"/>
                </a:solidFill>
                <a:latin typeface="Arial" pitchFamily="34" charset="0"/>
                <a:ea typeface="Arial" pitchFamily="34" charset="-122"/>
                <a:cs typeface="Arial" pitchFamily="34" charset="-120"/>
              </a:rPr>
              <a:t>Nhóm 1 · Trưởng nhóm: Nguyễn Thành Đạt</a:t>
            </a:r>
            <a:endParaRPr lang="en-US" sz="11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Tư tưởng Hồ Chí Minh - Nhóm 1</dc:title>
  <dc:subject>PptxGenJS Presentation</dc:subject>
  <dc:creator>Nhóm 1</dc:creator>
  <cp:lastModifiedBy>Nhóm 1</cp:lastModifiedBy>
  <cp:revision>1</cp:revision>
  <dcterms:created xsi:type="dcterms:W3CDTF">2026-09-21T03:41:21Z</dcterms:created>
  <dcterms:modified xsi:type="dcterms:W3CDTF">2026-09-21T03:41:21Z</dcterms:modified>
</cp:coreProperties>
</file>